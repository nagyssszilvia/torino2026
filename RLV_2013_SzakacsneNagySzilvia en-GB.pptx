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emf" ContentType="image/x-emf"/>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heme/themeOverride3.xml" ContentType="application/vnd.openxmlformats-officedocument.themeOverride+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theme/themeOverride4.xml" ContentType="application/vnd.openxmlformats-officedocument.themeOverride+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2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 id="2147483712" r:id="rId2"/>
  </p:sldMasterIdLst>
  <p:notesMasterIdLst>
    <p:notesMasterId r:id="rId29"/>
  </p:notesMasterIdLst>
  <p:sldIdLst>
    <p:sldId xmlns:deepml="http://www.deepl.com/document-translation/deepml" id="389" r:id="R6b78c5310a554000" deepml:banner=""/>
    <p:sldId id="256" r:id="rId3"/>
    <p:sldId id="335" r:id="rId4"/>
    <p:sldId id="388" r:id="rId5"/>
    <p:sldId id="374" r:id="rId6"/>
    <p:sldId id="370" r:id="rId7"/>
    <p:sldId id="375" r:id="rId8"/>
    <p:sldId id="368" r:id="rId9"/>
    <p:sldId id="371" r:id="rId10"/>
    <p:sldId id="373" r:id="rId11"/>
    <p:sldId id="378" r:id="rId12"/>
    <p:sldId id="379" r:id="rId13"/>
    <p:sldId id="380" r:id="rId14"/>
    <p:sldId id="381" r:id="rId15"/>
    <p:sldId id="382" r:id="rId16"/>
    <p:sldId id="383" r:id="rId17"/>
    <p:sldId id="384" r:id="rId18"/>
    <p:sldId id="385" r:id="rId19"/>
    <p:sldId id="386" r:id="rId20"/>
    <p:sldId id="387" r:id="rId21"/>
    <p:sldId id="350" r:id="rId22"/>
    <p:sldId id="377" r:id="rId23"/>
    <p:sldId id="351" r:id="rId24"/>
    <p:sldId id="363" r:id="rId25"/>
    <p:sldId id="364" r:id="rId26"/>
    <p:sldId id="277" r:id="rId27"/>
    <p:sldId id="298" r:id="rId28"/>
  </p:sldIdLst>
  <p:sldSz cx="9144000" cy="6858000" type="screen4x3"/>
  <p:notesSz cx="6858000" cy="9144000"/>
  <p:defaultTextStyle>
    <a:defPPr>
      <a:defRPr lang="hu-H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modifyVerifier cryptProviderType="rsaAES" cryptAlgorithmClass="hash" cryptAlgorithmType="typeAny" cryptAlgorithmSid="14" spinCount="100000" saltData="rLc289m98e2nu1rZwxn8RQ==" hashData="jl31I+FZfeL3Da0RWjDsWJ2KAcjcNQYNNNRC5PJm8VIGc75Z01xRsS7AMK0y6Q/BGsMylPB72fPI5Y8B5FFi7w=="/>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5A5E5"/>
    <a:srgbClr val="FEF8A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13" autoAdjust="0"/>
    <p:restoredTop sz="91799" autoAdjust="0"/>
  </p:normalViewPr>
  <p:slideViewPr>
    <p:cSldViewPr>
      <p:cViewPr>
        <p:scale>
          <a:sx n="87" d="100"/>
          <a:sy n="87" d="100"/>
        </p:scale>
        <p:origin x="-2292" y="-63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&#65279;<?xml version="1.0" encoding="utf-8"?><Relationships xmlns="http://schemas.openxmlformats.org/package/2006/relationships"><Relationship Type="http://schemas.openxmlformats.org/officeDocument/2006/relationships/slide" Target="slides/slide6.xml" Id="rId8" /><Relationship Type="http://schemas.openxmlformats.org/officeDocument/2006/relationships/slide" Target="slides/slide11.xml" Id="rId13" /><Relationship Type="http://schemas.openxmlformats.org/officeDocument/2006/relationships/slide" Target="slides/slide16.xml" Id="rId18" /><Relationship Type="http://schemas.openxmlformats.org/officeDocument/2006/relationships/slide" Target="slides/slide24.xml" Id="rId26" /><Relationship Type="http://schemas.openxmlformats.org/officeDocument/2006/relationships/slide" Target="slides/slide1.xml" Id="rId3" /><Relationship Type="http://schemas.openxmlformats.org/officeDocument/2006/relationships/slide" Target="slides/slide19.xml" Id="rId21" /><Relationship Type="http://schemas.openxmlformats.org/officeDocument/2006/relationships/slide" Target="slides/slide5.xml" Id="rId7" /><Relationship Type="http://schemas.openxmlformats.org/officeDocument/2006/relationships/slide" Target="slides/slide10.xml" Id="rId12" /><Relationship Type="http://schemas.openxmlformats.org/officeDocument/2006/relationships/slide" Target="slides/slide15.xml" Id="rId17" /><Relationship Type="http://schemas.openxmlformats.org/officeDocument/2006/relationships/slide" Target="slides/slide23.xml" Id="rId25" /><Relationship Type="http://schemas.openxmlformats.org/officeDocument/2006/relationships/tableStyles" Target="tableStyles.xml" Id="rId33" /><Relationship Type="http://schemas.openxmlformats.org/officeDocument/2006/relationships/slideMaster" Target="slideMasters/slideMaster2.xml" Id="rId2" /><Relationship Type="http://schemas.openxmlformats.org/officeDocument/2006/relationships/slide" Target="slides/slide14.xml" Id="rId16" /><Relationship Type="http://schemas.openxmlformats.org/officeDocument/2006/relationships/slide" Target="slides/slide18.xml" Id="rId20" /><Relationship Type="http://schemas.openxmlformats.org/officeDocument/2006/relationships/notesMaster" Target="notesMasters/notesMaster1.xml" Id="rId29" /><Relationship Type="http://schemas.openxmlformats.org/officeDocument/2006/relationships/slideMaster" Target="slideMasters/slideMaster1.xml" Id="rId1" /><Relationship Type="http://schemas.openxmlformats.org/officeDocument/2006/relationships/slide" Target="slides/slide4.xml" Id="rId6" /><Relationship Type="http://schemas.openxmlformats.org/officeDocument/2006/relationships/slide" Target="slides/slide9.xml" Id="rId11" /><Relationship Type="http://schemas.openxmlformats.org/officeDocument/2006/relationships/slide" Target="slides/slide22.xml" Id="rId24" /><Relationship Type="http://schemas.openxmlformats.org/officeDocument/2006/relationships/theme" Target="theme/theme1.xml" Id="rId32" /><Relationship Type="http://schemas.openxmlformats.org/officeDocument/2006/relationships/slide" Target="slides/slide3.xml" Id="rId5" /><Relationship Type="http://schemas.openxmlformats.org/officeDocument/2006/relationships/slide" Target="slides/slide13.xml" Id="rId15" /><Relationship Type="http://schemas.openxmlformats.org/officeDocument/2006/relationships/slide" Target="slides/slide21.xml" Id="rId23" /><Relationship Type="http://schemas.openxmlformats.org/officeDocument/2006/relationships/slide" Target="slides/slide26.xml" Id="rId28" /><Relationship Type="http://schemas.openxmlformats.org/officeDocument/2006/relationships/slide" Target="slides/slide8.xml" Id="rId10" /><Relationship Type="http://schemas.openxmlformats.org/officeDocument/2006/relationships/slide" Target="slides/slide17.xml" Id="rId19" /><Relationship Type="http://schemas.openxmlformats.org/officeDocument/2006/relationships/viewProps" Target="viewProps.xml" Id="rId31" /><Relationship Type="http://schemas.openxmlformats.org/officeDocument/2006/relationships/slide" Target="slides/slide2.xml" Id="rId4" /><Relationship Type="http://schemas.openxmlformats.org/officeDocument/2006/relationships/slide" Target="slides/slide7.xml" Id="rId9" /><Relationship Type="http://schemas.openxmlformats.org/officeDocument/2006/relationships/slide" Target="slides/slide12.xml" Id="rId14" /><Relationship Type="http://schemas.openxmlformats.org/officeDocument/2006/relationships/slide" Target="slides/slide20.xml" Id="rId22" /><Relationship Type="http://schemas.openxmlformats.org/officeDocument/2006/relationships/slide" Target="slides/slide25.xml" Id="rId27" /><Relationship Type="http://schemas.openxmlformats.org/officeDocument/2006/relationships/presProps" Target="presProps.xml" Id="rId30" /><Relationship Type="http://schemas.openxmlformats.org/officeDocument/2006/relationships/slide" Target="/ppt/slides/slide27.xml" Id="R6b78c5310a554000" /></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sp="http://schemas.microsoft.com/office/drawing/2008/diagram" xmlns:dgm="http://schemas.openxmlformats.org/drawingml/2006/diagram" xmlns:a="http://schemas.openxmlformats.org/drawingml/2006/main">
  <dgm:ptLst>
    <dgm:pt modelId="{CADBA1E3-4F10-465A-87AD-242996583451}" type="doc">
      <dgm:prSet loTypeId="urn:microsoft.com/office/officeart/2005/8/layout/pyramid2" loCatId="pyramid" qsTypeId="urn:microsoft.com/office/officeart/2005/8/quickstyle/3d3" qsCatId="3D" csTypeId="urn:microsoft.com/office/officeart/2005/8/colors/accent1_2#1" csCatId="accent1" phldr="1"/>
      <dgm:spPr/>
      <dgm:t>
        <a:bodyPr/>
        <a:lstStyle/>
        <a:p>
          <a:endParaRPr lang="hu-HU"/>
        </a:p>
      </dgm:t>
    </dgm:pt>
    <dgm:pt modelId="{BE62538E-BCCF-43D4-9DAB-4FBC86E64E02}">
      <dgm:prSet custT="1"/>
      <dgm:spPr/>
      <dgm:t>
        <a:bodyPr/>
        <a:lstStyle/>
        <a:p>
          <a:pPr algn="l" rtl="0"/>
          <a:r>
            <a:rPr lang="hu-HU" sz="2400" dirty="0" smtClean="0">
              <a:latin typeface="+mj-lt"/>
            </a:rPr>
            <a:t>Level 4: Mathematical analysis</a:t>
          </a:r>
          <a:endParaRPr lang="hu-HU" sz="2400" dirty="0">
            <a:latin typeface="+mj-lt"/>
          </a:endParaRPr>
        </a:p>
      </dgm:t>
    </dgm:pt>
    <dgm:pt modelId="{18095EA9-BF45-43B5-8847-2E94B8A9FE71}" type="parTrans" cxnId="{E45F33ED-3EB8-453A-9722-630DA34649FD}">
      <dgm:prSet/>
      <dgm:spPr/>
      <dgm:t>
        <a:bodyPr/>
        <a:lstStyle/>
        <a:p>
          <a:endParaRPr lang="hu-HU"/>
        </a:p>
      </dgm:t>
    </dgm:pt>
    <dgm:pt modelId="{1A6882DA-D14E-4A93-8FCB-DAB018A75327}" type="sibTrans" cxnId="{E45F33ED-3EB8-453A-9722-630DA34649FD}">
      <dgm:prSet/>
      <dgm:spPr/>
      <dgm:t>
        <a:bodyPr/>
        <a:lstStyle/>
        <a:p>
          <a:endParaRPr lang="hu-HU"/>
        </a:p>
      </dgm:t>
    </dgm:pt>
    <dgm:pt modelId="{56735450-22B9-4E2C-A905-0C673D3355B0}">
      <dgm:prSet custT="1"/>
      <dgm:spPr/>
      <dgm:t>
        <a:bodyPr/>
        <a:lstStyle/>
        <a:p>
          <a:pPr algn="l" rtl="0"/>
          <a:r>
            <a:rPr lang="hu-HU" sz="2400" dirty="0" smtClean="0">
              <a:latin typeface="+mj-lt"/>
            </a:rPr>
            <a:t>Level 3: </a:t>
          </a:r>
          <a:r>
            <a:rPr lang="hu-HU" sz="2400" i="1" dirty="0" smtClean="0">
              <a:latin typeface="+mj-lt"/>
            </a:rPr>
            <a:t> Elementary study </a:t>
          </a:r>
          <a:r>
            <a:rPr lang="hu-HU" sz="2400" dirty="0" smtClean="0">
              <a:latin typeface="+mj-lt"/>
            </a:rPr>
            <a:t>of functions</a:t>
          </a:r>
          <a:endParaRPr lang="hu-HU" sz="2400" dirty="0">
            <a:latin typeface="+mj-lt"/>
          </a:endParaRPr>
        </a:p>
      </dgm:t>
    </dgm:pt>
    <dgm:pt modelId="{97FB2CBC-EFAA-4BA2-B7C2-17796171C169}" type="parTrans" cxnId="{9DEDD645-1D03-4A15-AADE-8881F15E2F46}">
      <dgm:prSet/>
      <dgm:spPr/>
      <dgm:t>
        <a:bodyPr/>
        <a:lstStyle/>
        <a:p>
          <a:endParaRPr lang="hu-HU"/>
        </a:p>
      </dgm:t>
    </dgm:pt>
    <dgm:pt modelId="{021D93AA-09F1-4218-B9C5-8793174ADEFF}" type="sibTrans" cxnId="{9DEDD645-1D03-4A15-AADE-8881F15E2F46}">
      <dgm:prSet/>
      <dgm:spPr/>
      <dgm:t>
        <a:bodyPr/>
        <a:lstStyle/>
        <a:p>
          <a:endParaRPr lang="hu-HU"/>
        </a:p>
      </dgm:t>
    </dgm:pt>
    <dgm:pt modelId="{7F287883-B15D-4BB0-AEA2-BDF043950F98}">
      <dgm:prSet custT="1"/>
      <dgm:spPr/>
      <dgm:t>
        <a:bodyPr/>
        <a:lstStyle/>
        <a:p>
          <a:pPr marL="890588" indent="-890588" algn="l" rtl="0"/>
          <a:r>
            <a:rPr lang="hu-HU" sz="2400" dirty="0" smtClean="0">
              <a:latin typeface="+mj-lt"/>
            </a:rPr>
            <a:t>Level 2: </a:t>
          </a:r>
          <a:r>
            <a:rPr lang="hu-HU" sz="2400" i="1" dirty="0" smtClean="0">
              <a:latin typeface="+mj-lt"/>
            </a:rPr>
            <a:t> Mathematical description </a:t>
          </a:r>
          <a:r>
            <a:rPr lang="hu-HU" sz="2400" dirty="0" smtClean="0">
              <a:latin typeface="+mj-lt"/>
            </a:rPr>
            <a:t>of motion and quantitative relationships</a:t>
          </a:r>
          <a:endParaRPr lang="hu-HU" sz="2400" dirty="0">
            <a:latin typeface="+mj-lt"/>
          </a:endParaRPr>
        </a:p>
      </dgm:t>
    </dgm:pt>
    <dgm:pt modelId="{3C24EE6C-60E8-4F94-9E80-9D9ACED7053A}" type="parTrans" cxnId="{71EACD84-997C-410C-8B9A-6741C7AD336C}">
      <dgm:prSet/>
      <dgm:spPr/>
      <dgm:t>
        <a:bodyPr/>
        <a:lstStyle/>
        <a:p>
          <a:endParaRPr lang="hu-HU"/>
        </a:p>
      </dgm:t>
    </dgm:pt>
    <dgm:pt modelId="{58A1113F-E940-48CB-A626-9724154E8CB6}" type="sibTrans" cxnId="{71EACD84-997C-410C-8B9A-6741C7AD336C}">
      <dgm:prSet/>
      <dgm:spPr/>
      <dgm:t>
        <a:bodyPr/>
        <a:lstStyle/>
        <a:p>
          <a:endParaRPr lang="hu-HU"/>
        </a:p>
      </dgm:t>
    </dgm:pt>
    <dgm:pt modelId="{9D0C735C-6895-446A-863A-7F981688DA0D}">
      <dgm:prSet custT="1"/>
      <dgm:spPr/>
      <dgm:t>
        <a:bodyPr/>
        <a:lstStyle/>
        <a:p>
          <a:pPr marL="809625" indent="-809625" algn="l" rtl="0"/>
          <a:r>
            <a:rPr lang="hu-HU" sz="2400" dirty="0" smtClean="0">
              <a:latin typeface="+mj-lt"/>
            </a:rPr>
            <a:t>Level 1: </a:t>
          </a:r>
          <a:r>
            <a:rPr lang="hu-HU" sz="2400" i="1" dirty="0" smtClean="0">
              <a:latin typeface="+mj-lt"/>
            </a:rPr>
            <a:t> Direct </a:t>
          </a:r>
          <a:r>
            <a:rPr lang="hu-HU" sz="2400" i="1" dirty="0" smtClean="0">
              <a:latin typeface="+mj-lt"/>
            </a:rPr>
            <a:t>investigation </a:t>
          </a:r>
          <a:r>
            <a:rPr lang="hu-HU" sz="2400" dirty="0" smtClean="0">
              <a:latin typeface="+mj-lt"/>
            </a:rPr>
            <a:t>of motion and quantitative relationships</a:t>
          </a:r>
          <a:endParaRPr lang="hu-HU" sz="2400" dirty="0">
            <a:latin typeface="+mj-lt"/>
          </a:endParaRPr>
        </a:p>
      </dgm:t>
    </dgm:pt>
    <dgm:pt modelId="{43010E44-2E08-483E-B853-31806C86526F}" type="parTrans" cxnId="{E4B8F8DA-2C97-416E-BDAC-4E1E29D8F055}">
      <dgm:prSet/>
      <dgm:spPr/>
      <dgm:t>
        <a:bodyPr/>
        <a:lstStyle/>
        <a:p>
          <a:endParaRPr lang="hu-HU"/>
        </a:p>
      </dgm:t>
    </dgm:pt>
    <dgm:pt modelId="{FDB997FF-D20C-4DAB-A5D3-D290B95A33CB}" type="sibTrans" cxnId="{E4B8F8DA-2C97-416E-BDAC-4E1E29D8F055}">
      <dgm:prSet/>
      <dgm:spPr/>
      <dgm:t>
        <a:bodyPr/>
        <a:lstStyle/>
        <a:p>
          <a:endParaRPr lang="hu-HU"/>
        </a:p>
      </dgm:t>
    </dgm:pt>
    <dgm:pt modelId="{55B9F85D-2FA2-49AD-A413-FAA10EDF93E6}" type="pres">
      <dgm:prSet presAssocID="{CADBA1E3-4F10-465A-87AD-242996583451}" presName="compositeShape" presStyleCnt="0">
        <dgm:presLayoutVars>
          <dgm:dir/>
          <dgm:resizeHandles/>
        </dgm:presLayoutVars>
      </dgm:prSet>
      <dgm:spPr/>
      <dgm:t>
        <a:bodyPr/>
        <a:lstStyle/>
        <a:p>
          <a:endParaRPr lang="hu-HU"/>
        </a:p>
      </dgm:t>
    </dgm:pt>
    <dgm:pt modelId="{A8BF20EB-3AFC-4774-963E-3D02EB8C0DD2}" type="pres">
      <dgm:prSet presAssocID="{CADBA1E3-4F10-465A-87AD-242996583451}" presName="pyramid" presStyleLbl="node1" presStyleIdx="0" presStyleCnt="1" custLinFactNeighborX="-18305"/>
      <dgm:spPr/>
      <dgm:t>
        <a:bodyPr/>
        <a:lstStyle/>
        <a:p>
          <a:endParaRPr lang="hu-HU"/>
        </a:p>
      </dgm:t>
    </dgm:pt>
    <dgm:pt modelId="{5CA74B0E-4823-4D09-9431-1924FF25C41C}" type="pres">
      <dgm:prSet presAssocID="{CADBA1E3-4F10-465A-87AD-242996583451}" presName="theList" presStyleCnt="0"/>
      <dgm:spPr/>
      <dgm:t>
        <a:bodyPr/>
        <a:lstStyle/>
        <a:p>
          <a:endParaRPr lang="hu-HU"/>
        </a:p>
      </dgm:t>
    </dgm:pt>
    <dgm:pt modelId="{FC99CAFB-C5FA-4F3C-9451-81EE8A08D143}" type="pres">
      <dgm:prSet presAssocID="{BE62538E-BCCF-43D4-9DAB-4FBC86E64E02}" presName="aNode" presStyleLbl="fgAcc1" presStyleIdx="0" presStyleCnt="4" custScaleX="186782" custScaleY="1044296" custLinFactY="-113676" custLinFactNeighborX="20723" custLinFactNeighborY="-200000">
        <dgm:presLayoutVars>
          <dgm:bulletEnabled val="1"/>
        </dgm:presLayoutVars>
      </dgm:prSet>
      <dgm:spPr/>
      <dgm:t>
        <a:bodyPr/>
        <a:lstStyle/>
        <a:p>
          <a:endParaRPr lang="hu-HU"/>
        </a:p>
      </dgm:t>
    </dgm:pt>
    <dgm:pt modelId="{DC661B77-92D6-4B4B-89C4-71DAD40E4A42}" type="pres">
      <dgm:prSet presAssocID="{BE62538E-BCCF-43D4-9DAB-4FBC86E64E02}" presName="aSpace" presStyleCnt="0"/>
      <dgm:spPr/>
      <dgm:t>
        <a:bodyPr/>
        <a:lstStyle/>
        <a:p>
          <a:endParaRPr lang="hu-HU"/>
        </a:p>
      </dgm:t>
    </dgm:pt>
    <dgm:pt modelId="{2BBEB999-A343-4B7D-9851-1E4D07CB80C3}" type="pres">
      <dgm:prSet presAssocID="{56735450-22B9-4E2C-A905-0C673D3355B0}" presName="aNode" presStyleLbl="fgAcc1" presStyleIdx="1" presStyleCnt="4" custScaleX="186782" custScaleY="1140631" custLinFactY="-70613" custLinFactNeighborX="20723" custLinFactNeighborY="-100000">
        <dgm:presLayoutVars>
          <dgm:bulletEnabled val="1"/>
        </dgm:presLayoutVars>
      </dgm:prSet>
      <dgm:spPr/>
      <dgm:t>
        <a:bodyPr/>
        <a:lstStyle/>
        <a:p>
          <a:endParaRPr lang="hu-HU"/>
        </a:p>
      </dgm:t>
    </dgm:pt>
    <dgm:pt modelId="{F859213F-93B6-48E2-82B8-D278C0F2E075}" type="pres">
      <dgm:prSet presAssocID="{56735450-22B9-4E2C-A905-0C673D3355B0}" presName="aSpace" presStyleCnt="0"/>
      <dgm:spPr/>
      <dgm:t>
        <a:bodyPr/>
        <a:lstStyle/>
        <a:p>
          <a:endParaRPr lang="hu-HU"/>
        </a:p>
      </dgm:t>
    </dgm:pt>
    <dgm:pt modelId="{6CE4989C-F99D-46EA-87D5-65EC9251B7F0}" type="pres">
      <dgm:prSet presAssocID="{7F287883-B15D-4BB0-AEA2-BDF043950F98}" presName="aNode" presStyleLbl="fgAcc1" presStyleIdx="2" presStyleCnt="4" custScaleX="186782" custScaleY="1140631" custLinFactY="465" custLinFactNeighborX="20723" custLinFactNeighborY="100000">
        <dgm:presLayoutVars>
          <dgm:bulletEnabled val="1"/>
        </dgm:presLayoutVars>
      </dgm:prSet>
      <dgm:spPr/>
      <dgm:t>
        <a:bodyPr/>
        <a:lstStyle/>
        <a:p>
          <a:endParaRPr lang="hu-HU"/>
        </a:p>
      </dgm:t>
    </dgm:pt>
    <dgm:pt modelId="{FE30C51A-1DA0-4AF6-A16A-7D0B59286020}" type="pres">
      <dgm:prSet presAssocID="{7F287883-B15D-4BB0-AEA2-BDF043950F98}" presName="aSpace" presStyleCnt="0"/>
      <dgm:spPr/>
      <dgm:t>
        <a:bodyPr/>
        <a:lstStyle/>
        <a:p>
          <a:endParaRPr lang="hu-HU"/>
        </a:p>
      </dgm:t>
    </dgm:pt>
    <dgm:pt modelId="{7F0252C4-C5D7-4A94-A31C-89D05AE94F92}" type="pres">
      <dgm:prSet presAssocID="{9D0C735C-6895-446A-863A-7F981688DA0D}" presName="aNode" presStyleLbl="fgAcc1" presStyleIdx="3" presStyleCnt="4" custScaleX="186782" custScaleY="1140631" custLinFactY="98162" custLinFactNeighborX="20723" custLinFactNeighborY="100000">
        <dgm:presLayoutVars>
          <dgm:bulletEnabled val="1"/>
        </dgm:presLayoutVars>
      </dgm:prSet>
      <dgm:spPr/>
      <dgm:t>
        <a:bodyPr/>
        <a:lstStyle/>
        <a:p>
          <a:endParaRPr lang="hu-HU"/>
        </a:p>
      </dgm:t>
    </dgm:pt>
    <dgm:pt modelId="{5FA5D65C-4B46-46BA-B046-78ECD6F2FE85}" type="pres">
      <dgm:prSet presAssocID="{9D0C735C-6895-446A-863A-7F981688DA0D}" presName="aSpace" presStyleCnt="0"/>
      <dgm:spPr/>
      <dgm:t>
        <a:bodyPr/>
        <a:lstStyle/>
        <a:p>
          <a:endParaRPr lang="hu-HU"/>
        </a:p>
      </dgm:t>
    </dgm:pt>
  </dgm:ptLst>
  <dgm:cxnLst>
    <dgm:cxn modelId="{DDF6BA1C-D2E5-4349-AD66-31C648F6274C}" type="presOf" srcId="{7F287883-B15D-4BB0-AEA2-BDF043950F98}" destId="{6CE4989C-F99D-46EA-87D5-65EC9251B7F0}" srcOrd="0" destOrd="0" presId="urn:microsoft.com/office/officeart/2005/8/layout/pyramid2"/>
    <dgm:cxn modelId="{91FE8003-025D-4CE5-BCA4-3BF57747B290}" type="presOf" srcId="{9D0C735C-6895-446A-863A-7F981688DA0D}" destId="{7F0252C4-C5D7-4A94-A31C-89D05AE94F92}" srcOrd="0" destOrd="0" presId="urn:microsoft.com/office/officeart/2005/8/layout/pyramid2"/>
    <dgm:cxn modelId="{E4B8F8DA-2C97-416E-BDAC-4E1E29D8F055}" srcId="{CADBA1E3-4F10-465A-87AD-242996583451}" destId="{9D0C735C-6895-446A-863A-7F981688DA0D}" srcOrd="3" destOrd="0" parTransId="{43010E44-2E08-483E-B853-31806C86526F}" sibTransId="{FDB997FF-D20C-4DAB-A5D3-D290B95A33CB}"/>
    <dgm:cxn modelId="{4CAD6242-DF03-42DE-9E6C-1114DB12FB6E}" type="presOf" srcId="{BE62538E-BCCF-43D4-9DAB-4FBC86E64E02}" destId="{FC99CAFB-C5FA-4F3C-9451-81EE8A08D143}" srcOrd="0" destOrd="0" presId="urn:microsoft.com/office/officeart/2005/8/layout/pyramid2"/>
    <dgm:cxn modelId="{71EACD84-997C-410C-8B9A-6741C7AD336C}" srcId="{CADBA1E3-4F10-465A-87AD-242996583451}" destId="{7F287883-B15D-4BB0-AEA2-BDF043950F98}" srcOrd="2" destOrd="0" parTransId="{3C24EE6C-60E8-4F94-9E80-9D9ACED7053A}" sibTransId="{58A1113F-E940-48CB-A626-9724154E8CB6}"/>
    <dgm:cxn modelId="{C7DFFF80-CD2C-4006-A123-1A8FE448A160}" type="presOf" srcId="{56735450-22B9-4E2C-A905-0C673D3355B0}" destId="{2BBEB999-A343-4B7D-9851-1E4D07CB80C3}" srcOrd="0" destOrd="0" presId="urn:microsoft.com/office/officeart/2005/8/layout/pyramid2"/>
    <dgm:cxn modelId="{370D7417-7DDB-4A15-BFFD-E1DBA4D0689F}" type="presOf" srcId="{CADBA1E3-4F10-465A-87AD-242996583451}" destId="{55B9F85D-2FA2-49AD-A413-FAA10EDF93E6}" srcOrd="0" destOrd="0" presId="urn:microsoft.com/office/officeart/2005/8/layout/pyramid2"/>
    <dgm:cxn modelId="{E45F33ED-3EB8-453A-9722-630DA34649FD}" srcId="{CADBA1E3-4F10-465A-87AD-242996583451}" destId="{BE62538E-BCCF-43D4-9DAB-4FBC86E64E02}" srcOrd="0" destOrd="0" parTransId="{18095EA9-BF45-43B5-8847-2E94B8A9FE71}" sibTransId="{1A6882DA-D14E-4A93-8FCB-DAB018A75327}"/>
    <dgm:cxn modelId="{9DEDD645-1D03-4A15-AADE-8881F15E2F46}" srcId="{CADBA1E3-4F10-465A-87AD-242996583451}" destId="{56735450-22B9-4E2C-A905-0C673D3355B0}" srcOrd="1" destOrd="0" parTransId="{97FB2CBC-EFAA-4BA2-B7C2-17796171C169}" sibTransId="{021D93AA-09F1-4218-B9C5-8793174ADEFF}"/>
    <dgm:cxn modelId="{0F531FDB-2B1F-4AFA-8788-7473CC526D97}" type="presParOf" srcId="{55B9F85D-2FA2-49AD-A413-FAA10EDF93E6}" destId="{A8BF20EB-3AFC-4774-963E-3D02EB8C0DD2}" srcOrd="0" destOrd="0" presId="urn:microsoft.com/office/officeart/2005/8/layout/pyramid2"/>
    <dgm:cxn modelId="{626221DF-AB24-4697-8958-E85AFB274547}" type="presParOf" srcId="{55B9F85D-2FA2-49AD-A413-FAA10EDF93E6}" destId="{5CA74B0E-4823-4D09-9431-1924FF25C41C}" srcOrd="1" destOrd="0" presId="urn:microsoft.com/office/officeart/2005/8/layout/pyramid2"/>
    <dgm:cxn modelId="{E775C955-EBFA-4C40-8D04-25566F0C7B33}" type="presParOf" srcId="{5CA74B0E-4823-4D09-9431-1924FF25C41C}" destId="{FC99CAFB-C5FA-4F3C-9451-81EE8A08D143}" srcOrd="0" destOrd="0" presId="urn:microsoft.com/office/officeart/2005/8/layout/pyramid2"/>
    <dgm:cxn modelId="{029C0F60-C97E-4C13-BE10-4CD9734917EB}" type="presParOf" srcId="{5CA74B0E-4823-4D09-9431-1924FF25C41C}" destId="{DC661B77-92D6-4B4B-89C4-71DAD40E4A42}" srcOrd="1" destOrd="0" presId="urn:microsoft.com/office/officeart/2005/8/layout/pyramid2"/>
    <dgm:cxn modelId="{A4D549B8-0F5F-4A5E-9F3F-7FB6421D3C27}" type="presParOf" srcId="{5CA74B0E-4823-4D09-9431-1924FF25C41C}" destId="{2BBEB999-A343-4B7D-9851-1E4D07CB80C3}" srcOrd="2" destOrd="0" presId="urn:microsoft.com/office/officeart/2005/8/layout/pyramid2"/>
    <dgm:cxn modelId="{E152CEF6-A303-4E48-AF35-3358F1286C3B}" type="presParOf" srcId="{5CA74B0E-4823-4D09-9431-1924FF25C41C}" destId="{F859213F-93B6-48E2-82B8-D278C0F2E075}" srcOrd="3" destOrd="0" presId="urn:microsoft.com/office/officeart/2005/8/layout/pyramid2"/>
    <dgm:cxn modelId="{C758E5EB-9901-42BF-A00E-F96DB832C62A}" type="presParOf" srcId="{5CA74B0E-4823-4D09-9431-1924FF25C41C}" destId="{6CE4989C-F99D-46EA-87D5-65EC9251B7F0}" srcOrd="4" destOrd="0" presId="urn:microsoft.com/office/officeart/2005/8/layout/pyramid2"/>
    <dgm:cxn modelId="{AC9BB7D5-7F8B-4310-BAFE-068BB904D293}" type="presParOf" srcId="{5CA74B0E-4823-4D09-9431-1924FF25C41C}" destId="{FE30C51A-1DA0-4AF6-A16A-7D0B59286020}" srcOrd="5" destOrd="0" presId="urn:microsoft.com/office/officeart/2005/8/layout/pyramid2"/>
    <dgm:cxn modelId="{FEC5173D-82C7-4E9E-9CA2-D35D7B4562FA}" type="presParOf" srcId="{5CA74B0E-4823-4D09-9431-1924FF25C41C}" destId="{7F0252C4-C5D7-4A94-A31C-89D05AE94F92}" srcOrd="6" destOrd="0" presId="urn:microsoft.com/office/officeart/2005/8/layout/pyramid2"/>
    <dgm:cxn modelId="{962A7BA0-6D8D-490C-8331-596A71298D59}" type="presParOf" srcId="{5CA74B0E-4823-4D09-9431-1924FF25C41C}" destId="{5FA5D65C-4B46-46BA-B046-78ECD6F2FE85}"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hu-HU"/>
          </a:p>
        </p:txBody>
      </p:sp>
      <p:sp>
        <p:nvSpPr>
          <p:cNvPr id="3" name="Dátum hely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0E9590D-E299-407C-BA93-EDF991E0319D}" type="datetimeFigureOut">
              <a:rPr lang="hu-HU"/>
              <a:t>26 September 2017</a:t>
            </a:fld>
            <a:endParaRPr lang="hu-HU"/>
          </a:p>
        </p:txBody>
      </p:sp>
      <p:sp>
        <p:nvSpPr>
          <p:cNvPr id="4" name="Diakép hely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hu-HU" noProof="0"/>
          </a:p>
        </p:txBody>
      </p:sp>
      <p:sp>
        <p:nvSpPr>
          <p:cNvPr id="5" name="Jegyzetek hely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hu-HU" noProof="0" smtClean="0"/>
              <a:t>Edit sample text</a:t>
            </a:r>
          </a:p>
          <a:p>
            <a:pPr lvl="1"/>
            <a:r>
              <a:rPr lang="hu-HU" noProof="0" smtClean="0"/>
              <a:t>Second level</a:t>
            </a:r>
          </a:p>
          <a:p>
            <a:pPr lvl="2"/>
            <a:r>
              <a:rPr lang="hu-HU" noProof="0" smtClean="0"/>
              <a:t>Third level</a:t>
            </a:r>
          </a:p>
          <a:p>
            <a:pPr lvl="3"/>
            <a:r>
              <a:rPr lang="hu-HU" noProof="0" smtClean="0"/>
              <a:t>Fourth level</a:t>
            </a:r>
          </a:p>
          <a:p>
            <a:pPr lvl="4"/>
            <a:r>
              <a:rPr lang="hu-HU" noProof="0" smtClean="0"/>
              <a:t>Fifth level</a:t>
            </a:r>
            <a:endParaRPr lang="hu-HU" noProof="0"/>
          </a:p>
        </p:txBody>
      </p:sp>
      <p:sp>
        <p:nvSpPr>
          <p:cNvPr id="6" name="Élőláb hely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hu-HU"/>
          </a:p>
        </p:txBody>
      </p:sp>
      <p:sp>
        <p:nvSpPr>
          <p:cNvPr id="7" name="Dia számának hely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5A56DCF-6F2F-4DDE-9262-5208240B9A98}" type="slidenum">
              <a:rPr lang="hu-HU"/>
              <a:t>‹#›</a:t>
            </a:fld>
            <a:endParaRPr lang="hu-H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viewplus.eu/products/software/math/"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www.viewplus.eu/products/software/hands-on-learning/"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viewplus.eu/products/software/math/"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www.viewplus.eu/products/software/hands-on-learnin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Diakép helye 1"/>
          <p:cNvSpPr>
            <a:spLocks noGrp="1" noRot="1" noChangeAspect="1" noTextEdit="1"/>
          </p:cNvSpPr>
          <p:nvPr>
            <p:ph type="sldImg"/>
          </p:nvPr>
        </p:nvSpPr>
        <p:spPr bwMode="auto">
          <a:noFill/>
          <a:ln>
            <a:solidFill>
              <a:srgbClr val="000000"/>
            </a:solidFill>
            <a:miter lim="800000"/>
            <a:headEnd/>
            <a:tailEnd/>
          </a:ln>
        </p:spPr>
      </p:sp>
      <p:sp>
        <p:nvSpPr>
          <p:cNvPr id="45059" name="Jegyzetek hely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u-HU" smtClean="0"/>
              <a:t>Skemp drew a clear distinction between physical observation and mathematical modelling, and clarified the question of which takes precedence. Let’s not make children memorise rules.</a:t>
            </a:r>
          </a:p>
        </p:txBody>
      </p:sp>
      <p:sp>
        <p:nvSpPr>
          <p:cNvPr id="45060" name="Dia számának hely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037D7B-DA9C-4CB3-B3BE-8AF40509E7BA}" type="slidenum">
              <a:rPr lang="hu-HU" smtClean="0"/>
              <a:t>4</a:t>
            </a:fld>
            <a:endParaRPr lang="hu-HU"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Diakép helye 1"/>
          <p:cNvSpPr>
            <a:spLocks noGrp="1" noRot="1" noChangeAspect="1" noTextEdit="1"/>
          </p:cNvSpPr>
          <p:nvPr>
            <p:ph type="sldImg"/>
          </p:nvPr>
        </p:nvSpPr>
        <p:spPr bwMode="auto">
          <a:noFill/>
          <a:ln>
            <a:solidFill>
              <a:srgbClr val="000000"/>
            </a:solidFill>
            <a:miter lim="800000"/>
            <a:headEnd/>
            <a:tailEnd/>
          </a:ln>
        </p:spPr>
      </p:sp>
      <p:sp>
        <p:nvSpPr>
          <p:cNvPr id="46083" name="Jegyzetek hely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u-HU" smtClean="0"/>
              <a:t>Movement is a continuous process; it creates continuous changes—patterns of motion—in the optical structure visible to the eye, allowing us to perceive the actual configuration of our surroundings. Through movement, and based on the visual information we receive, we are able to perceive our own position, our own movement, and the configuration of our surroundings. </a:t>
            </a:r>
          </a:p>
        </p:txBody>
      </p:sp>
      <p:sp>
        <p:nvSpPr>
          <p:cNvPr id="46084" name="Dia számának hely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9AAA704-1D46-4372-AB0A-69401B8AEB14}" type="slidenum">
              <a:rPr lang="hu-HU" smtClean="0"/>
              <a:t>6</a:t>
            </a:fld>
            <a:endParaRPr lang="hu-H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Diakép helye 1"/>
          <p:cNvSpPr>
            <a:spLocks noGrp="1" noRot="1" noChangeAspect="1" noTextEdit="1"/>
          </p:cNvSpPr>
          <p:nvPr>
            <p:ph type="sldImg"/>
          </p:nvPr>
        </p:nvSpPr>
        <p:spPr bwMode="auto">
          <a:noFill/>
          <a:ln>
            <a:solidFill>
              <a:srgbClr val="000000"/>
            </a:solidFill>
            <a:miter lim="800000"/>
            <a:headEnd/>
            <a:tailEnd/>
          </a:ln>
        </p:spPr>
      </p:sp>
      <p:sp>
        <p:nvSpPr>
          <p:cNvPr id="47107" name="Jegyzetek hely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u-HU" smtClean="0"/>
              <a:t>Objective level: learning takes place through specific practical activities, actions and manipulations aimed at achieving a goal.</a:t>
            </a:r>
          </a:p>
          <a:p>
            <a:pPr eaLnBrk="1" hangingPunct="1">
              <a:spcBef>
                <a:spcPct val="0"/>
              </a:spcBef>
            </a:pPr>
            <a:r>
              <a:rPr lang="hu-HU" smtClean="0"/>
              <a:t>Visual level: knowledge acquisition takes place with the help of visual images or imagined situations.</a:t>
            </a:r>
          </a:p>
          <a:p>
            <a:pPr eaLnBrk="1" hangingPunct="1">
              <a:spcBef>
                <a:spcPct val="0"/>
              </a:spcBef>
            </a:pPr>
            <a:r>
              <a:rPr lang="hu-HU" smtClean="0"/>
              <a:t>Symbolic level: Knowledge acquisition takes place with the help of mathematical symbols and language.</a:t>
            </a:r>
          </a:p>
          <a:p>
            <a:pPr eaLnBrk="1" hangingPunct="1">
              <a:spcBef>
                <a:spcPct val="0"/>
              </a:spcBef>
            </a:pPr>
            <a:r>
              <a:rPr lang="hu-HU" smtClean="0"/>
              <a:t>Images contain a certain degree of structural or visual similarity to the thing depicted. Symbols do not have this role; symbols have meaning. </a:t>
            </a:r>
          </a:p>
          <a:p>
            <a:pPr eaLnBrk="1" hangingPunct="1">
              <a:spcBef>
                <a:spcPct val="0"/>
              </a:spcBef>
            </a:pPr>
            <a:r>
              <a:rPr lang="hu-HU" smtClean="0"/>
              <a:t>The three modes of representation play a role in every phase of the educational process</a:t>
            </a:r>
          </a:p>
          <a:p>
            <a:pPr eaLnBrk="1" hangingPunct="1">
              <a:spcBef>
                <a:spcPct val="0"/>
              </a:spcBef>
            </a:pPr>
            <a:endParaRPr lang="hu-HU" smtClean="0"/>
          </a:p>
        </p:txBody>
      </p:sp>
      <p:sp>
        <p:nvSpPr>
          <p:cNvPr id="47108" name="Dia számának hely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FA681E8-82DD-4B73-A4B7-0F9C7EA0C6F7}" type="slidenum">
              <a:rPr lang="hu-HU" smtClean="0"/>
              <a:t>8</a:t>
            </a:fld>
            <a:endParaRPr lang="hu-HU"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p:spPr>
      </p:sp>
      <p:sp>
        <p:nvSpPr>
          <p:cNvPr id="3" name="Jegyzetek helye 2"/>
          <p:cNvSpPr>
            <a:spLocks noGrp="1"/>
          </p:cNvSpPr>
          <p:nvPr>
            <p:ph type="body" idx="1"/>
          </p:nvPr>
        </p:nvSpPr>
        <p:spPr/>
        <p:txBody>
          <a:bodyPr>
            <a:normAutofit fontScale="92500" lnSpcReduction="10000"/>
          </a:bodyPr>
          <a:lstStyle/>
          <a:p>
            <a:pPr eaLnBrk="1" fontAlgn="auto" hangingPunct="1">
              <a:spcBef>
                <a:spcPts val="0"/>
              </a:spcBef>
              <a:spcAft>
                <a:spcPts val="0"/>
              </a:spcAft>
              <a:defRPr/>
            </a:pPr>
            <a:r>
              <a:rPr lang="en-US" dirty="0" smtClean="0"/>
              <a:t>The </a:t>
            </a:r>
            <a:r>
              <a:rPr lang="en-US" dirty="0" smtClean="0"/>
              <a:t>ViewPlus® Technologies story begins with Dr John A. Gardner, a world-renowned solid-state physicist who lost his sight at the age of 48 due to complications from eye surgery. Gardner faced enormous barriers when he returned to his role as a physics professor and researcher at Oregon State University. </a:t>
            </a:r>
          </a:p>
          <a:p>
            <a:pPr eaLnBrk="1" fontAlgn="auto" hangingPunct="1">
              <a:spcBef>
                <a:spcPts val="0"/>
              </a:spcBef>
              <a:spcAft>
                <a:spcPts val="0"/>
              </a:spcAft>
              <a:defRPr/>
            </a:pPr>
            <a:r>
              <a:rPr lang="en-US" dirty="0" smtClean="0"/>
              <a:t>Gardner found that certain information required to communicate in the field of solid-state physics was difficult, if not impossible, to access, even with assistance from sighted helpers. In particular, he found there were very few tools available for blind people to convert visually-oriented information, such as diagrams and structured mathematics, into a medium that could be fully understood through touch and sound. </a:t>
            </a:r>
          </a:p>
          <a:p>
            <a:pPr eaLnBrk="1" fontAlgn="auto" hangingPunct="1">
              <a:spcBef>
                <a:spcPts val="0"/>
              </a:spcBef>
              <a:spcAft>
                <a:spcPts val="0"/>
              </a:spcAft>
              <a:defRPr/>
            </a:pPr>
            <a:r>
              <a:rPr lang="en-US" dirty="0" smtClean="0"/>
              <a:t>Drawing on his extensive expertise in securing grant funding at Oregon State University, Gardner dedicated himself to researching and developing innovative technologies that could minimise the communication gap between himself and his sighted colleagues. Under the umbrella of the acclaimed Science Access Project (SAP) at Oregon State University, Gardner and his team initiated the first work on Tiger® embossing technology, the </a:t>
            </a:r>
            <a:r>
              <a:rPr lang="en-US" dirty="0" smtClean="0">
                <a:hlinkClick r:id="rId3"/>
              </a:rPr>
              <a:t>Audio Graphing Calculator (AGC)</a:t>
            </a:r>
            <a:r>
              <a:rPr lang="en-US" dirty="0" smtClean="0"/>
              <a:t>, as well as other important developments. </a:t>
            </a:r>
          </a:p>
          <a:p>
            <a:pPr eaLnBrk="1" fontAlgn="auto" hangingPunct="1">
              <a:spcBef>
                <a:spcPts val="0"/>
              </a:spcBef>
              <a:spcAft>
                <a:spcPts val="0"/>
              </a:spcAft>
              <a:defRPr/>
            </a:pPr>
            <a:r>
              <a:rPr lang="en-US" dirty="0" smtClean="0"/>
              <a:t>As SAP received international acclaim for its work, Gardner began to seek commercial applications for their inventions. In 1996 he founded </a:t>
            </a:r>
            <a:r>
              <a:rPr lang="en-US" dirty="0" smtClean="0"/>
              <a:t>ViewPlus® Technologies to bring SAP innovations into the commercial realm and further advance his mission to make science and maths more accessible to people with sensory and learning disabilities. </a:t>
            </a:r>
          </a:p>
          <a:p>
            <a:pPr eaLnBrk="1" fontAlgn="auto" hangingPunct="1">
              <a:spcBef>
                <a:spcPts val="0"/>
              </a:spcBef>
              <a:spcAft>
                <a:spcPts val="0"/>
              </a:spcAft>
              <a:defRPr/>
            </a:pPr>
            <a:r>
              <a:rPr lang="en-US" dirty="0" err="1" smtClean="0"/>
              <a:t>ViewPlus </a:t>
            </a:r>
            <a:r>
              <a:rPr lang="en-US" dirty="0" smtClean="0"/>
              <a:t>is now recognised worldwide as a leading innovator in assistive technology. The company’s research and development work is driven largely by sales revenue from its popular range of Tiger® Braille printers. Generous Small Business Innovative Research (SBIR) grant funding is also provided through the National Science Foundation (NSF) and the National Institutes of Health (NIH), forming the basis for innovative new products such as the </a:t>
            </a:r>
            <a:r>
              <a:rPr lang="en-US" dirty="0" smtClean="0">
                <a:hlinkClick r:id="rId4"/>
              </a:rPr>
              <a:t>IVEO® Tactile-Audio system</a:t>
            </a:r>
            <a:r>
              <a:rPr lang="en-US" dirty="0" smtClean="0"/>
              <a:t>. </a:t>
            </a:r>
          </a:p>
          <a:p>
            <a:pPr eaLnBrk="1" fontAlgn="auto" hangingPunct="1">
              <a:spcBef>
                <a:spcPts val="0"/>
              </a:spcBef>
              <a:spcAft>
                <a:spcPts val="0"/>
              </a:spcAft>
              <a:defRPr/>
            </a:pPr>
            <a:endParaRPr lang="hu-HU" dirty="0"/>
          </a:p>
        </p:txBody>
      </p:sp>
      <p:sp>
        <p:nvSpPr>
          <p:cNvPr id="48132" name="Dia számának hely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5EF1137-9925-45DF-82D2-8C05EE8769B4}" type="slidenum">
              <a:rPr lang="hu-HU" smtClean="0"/>
              <a:t>9</a:t>
            </a:fld>
            <a:endParaRPr lang="hu-HU"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D4FF823-62C3-4813-A8DF-D9FE2233CEAF}" type="slidenum">
              <a:rPr lang="hu-HU" smtClean="0"/>
              <a:t>11</a:t>
            </a:fld>
            <a:endParaRPr lang="hu-HU" smtClean="0"/>
          </a:p>
        </p:txBody>
      </p:sp>
      <p:sp>
        <p:nvSpPr>
          <p:cNvPr id="491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91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hu-HU"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EBD95DE-E96C-450F-9328-2E9C540E28BE}" type="slidenum">
              <a:rPr lang="hu-HU" smtClean="0"/>
              <a:t>13</a:t>
            </a:fld>
            <a:endParaRPr lang="hu-HU" smtClean="0"/>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01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u-HU" smtClean="0"/>
              <a:t>Convex increasing = accelerating</a:t>
            </a:r>
          </a:p>
          <a:p>
            <a:pPr eaLnBrk="1" hangingPunct="1">
              <a:spcBef>
                <a:spcPct val="0"/>
              </a:spcBef>
            </a:pPr>
            <a:r>
              <a:rPr lang="hu-HU" smtClean="0"/>
              <a:t>Concave increasing = decelerating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378500D-EADE-439C-8897-8C7A3CDA0DA3}" type="slidenum">
              <a:rPr lang="hu-HU" smtClean="0"/>
              <a:t>14</a:t>
            </a:fld>
            <a:endParaRPr lang="hu-HU" smtClean="0"/>
          </a:p>
        </p:txBody>
      </p:sp>
      <p:sp>
        <p:nvSpPr>
          <p:cNvPr id="512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2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u-HU" smtClean="0"/>
              <a:t>Convex decreasing = decreasing at a slowing rate</a:t>
            </a:r>
          </a:p>
          <a:p>
            <a:pPr eaLnBrk="1" hangingPunct="1">
              <a:spcBef>
                <a:spcPct val="0"/>
              </a:spcBef>
            </a:pPr>
            <a:r>
              <a:rPr lang="hu-HU" smtClean="0"/>
              <a:t>Concave decreasing = decreasing at an accelerating rate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4A52DC9-228B-42AC-97EA-43F7E0461A38}" type="slidenum">
              <a:rPr lang="hu-HU" smtClean="0"/>
              <a:t>15</a:t>
            </a:fld>
            <a:endParaRPr lang="hu-HU" smtClean="0"/>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22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hu-HU"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51809C0-83EA-4B7B-9E7D-83C20CF8D7CB}" type="slidenum">
              <a:rPr lang="hu-HU" smtClean="0"/>
              <a:t>16</a:t>
            </a:fld>
            <a:endParaRPr lang="hu-HU" smtClean="0"/>
          </a:p>
        </p:txBody>
      </p:sp>
      <p:sp>
        <p:nvSpPr>
          <p:cNvPr id="532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32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hu-HU"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9A24434-E445-48D4-917E-67490FD45F08}" type="slidenum">
              <a:rPr lang="hu-HU" smtClean="0"/>
              <a:t>17</a:t>
            </a:fld>
            <a:endParaRPr lang="hu-HU" smtClean="0"/>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42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hu-HU"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D943924-1E85-4B7E-BDBA-C9C7890FA0BF}" type="slidenum">
              <a:rPr lang="hu-HU" smtClean="0"/>
              <a:t>19</a:t>
            </a:fld>
            <a:endParaRPr lang="hu-HU" smtClean="0"/>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3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hu-HU"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Diakép helye 1"/>
          <p:cNvSpPr>
            <a:spLocks noGrp="1" noRot="1" noChangeAspect="1" noTextEdit="1"/>
          </p:cNvSpPr>
          <p:nvPr>
            <p:ph type="sldImg"/>
          </p:nvPr>
        </p:nvSpPr>
        <p:spPr bwMode="auto">
          <a:noFill/>
          <a:ln>
            <a:solidFill>
              <a:srgbClr val="000000"/>
            </a:solidFill>
            <a:miter lim="800000"/>
            <a:headEnd/>
            <a:tailEnd/>
          </a:ln>
        </p:spPr>
      </p:sp>
      <p:sp>
        <p:nvSpPr>
          <p:cNvPr id="3" name="Jegyzetek helye 2"/>
          <p:cNvSpPr>
            <a:spLocks noGrp="1"/>
          </p:cNvSpPr>
          <p:nvPr>
            <p:ph type="body" idx="1"/>
          </p:nvPr>
        </p:nvSpPr>
        <p:spPr/>
        <p:txBody>
          <a:bodyPr>
            <a:normAutofit fontScale="92500" lnSpcReduction="10000"/>
          </a:bodyPr>
          <a:lstStyle/>
          <a:p>
            <a:pPr eaLnBrk="1" fontAlgn="auto" hangingPunct="1">
              <a:spcBef>
                <a:spcPts val="0"/>
              </a:spcBef>
              <a:spcAft>
                <a:spcPts val="0"/>
              </a:spcAft>
              <a:defRPr/>
            </a:pPr>
            <a:r>
              <a:rPr lang="en-US" dirty="0" smtClean="0"/>
              <a:t>The </a:t>
            </a:r>
            <a:r>
              <a:rPr lang="en-US" dirty="0" smtClean="0"/>
              <a:t>ViewPlus® Technologies story begins with Dr John A. Gardner, a world-renowned solid-state physicist who lost his sight at the age of 48 due to complications from eye surgery. Gardner faced enormous barriers when he returned to his role as a physics professor and researcher at Oregon State University. </a:t>
            </a:r>
          </a:p>
          <a:p>
            <a:pPr eaLnBrk="1" fontAlgn="auto" hangingPunct="1">
              <a:spcBef>
                <a:spcPts val="0"/>
              </a:spcBef>
              <a:spcAft>
                <a:spcPts val="0"/>
              </a:spcAft>
              <a:defRPr/>
            </a:pPr>
            <a:r>
              <a:rPr lang="en-US" dirty="0" smtClean="0"/>
              <a:t>Gardner found that certain information required to communicate in the field of solid-state physics was difficult, if not impossible, to access, even with assistance from sighted helpers. In particular, he found there were very few tools available for blind people to convert visually-oriented information, such as diagrams and structured mathematics, into a medium that could be fully understood through touch and sound. </a:t>
            </a:r>
          </a:p>
          <a:p>
            <a:pPr eaLnBrk="1" fontAlgn="auto" hangingPunct="1">
              <a:spcBef>
                <a:spcPts val="0"/>
              </a:spcBef>
              <a:spcAft>
                <a:spcPts val="0"/>
              </a:spcAft>
              <a:defRPr/>
            </a:pPr>
            <a:r>
              <a:rPr lang="en-US" dirty="0" smtClean="0"/>
              <a:t>Drawing on his extensive expertise in securing grant funding at Oregon State University, Gardner dedicated himself to researching and developing innovative technologies that could minimise the communication gap between himself and his sighted colleagues. Under the umbrella of the acclaimed Science Access Project (SAP) at Oregon State University, Gardner and his team initiated the first work on Tiger® embossing technology, the </a:t>
            </a:r>
            <a:r>
              <a:rPr lang="en-US" dirty="0" smtClean="0">
                <a:hlinkClick r:id="rId3"/>
              </a:rPr>
              <a:t>Audio Graphing Calculator (AGC)</a:t>
            </a:r>
            <a:r>
              <a:rPr lang="en-US" dirty="0" smtClean="0"/>
              <a:t>, as well as other important developments. </a:t>
            </a:r>
          </a:p>
          <a:p>
            <a:pPr eaLnBrk="1" fontAlgn="auto" hangingPunct="1">
              <a:spcBef>
                <a:spcPts val="0"/>
              </a:spcBef>
              <a:spcAft>
                <a:spcPts val="0"/>
              </a:spcAft>
              <a:defRPr/>
            </a:pPr>
            <a:r>
              <a:rPr lang="en-US" dirty="0" smtClean="0"/>
              <a:t>As SAP received international acclaim for its work, Gardner began to seek commercial applications for their inventions. In 1996 he founded </a:t>
            </a:r>
            <a:r>
              <a:rPr lang="en-US" dirty="0" smtClean="0"/>
              <a:t>ViewPlus® Technologies to bring SAP innovations into the commercial realm and further advance his mission to make science and maths more accessible to people with sensory and learning disabilities. </a:t>
            </a:r>
          </a:p>
          <a:p>
            <a:pPr eaLnBrk="1" fontAlgn="auto" hangingPunct="1">
              <a:spcBef>
                <a:spcPts val="0"/>
              </a:spcBef>
              <a:spcAft>
                <a:spcPts val="0"/>
              </a:spcAft>
              <a:defRPr/>
            </a:pPr>
            <a:r>
              <a:rPr lang="en-US" dirty="0" err="1" smtClean="0"/>
              <a:t>ViewPlus </a:t>
            </a:r>
            <a:r>
              <a:rPr lang="en-US" dirty="0" smtClean="0"/>
              <a:t>is now recognised worldwide as a leading innovator in assistive technology. The company’s research and development work is driven largely by sales revenue from its popular range of Tiger® Braille printers. Generous Small Business Innovative Research (SBIR) grant funding is also provided through the National Science Foundation (NSF) and the National Institutes of Health (NIH), forming the basis for innovative new products such as the </a:t>
            </a:r>
            <a:r>
              <a:rPr lang="en-US" dirty="0" smtClean="0">
                <a:hlinkClick r:id="rId4"/>
              </a:rPr>
              <a:t>IVEO® Tactile-Audio system</a:t>
            </a:r>
            <a:r>
              <a:rPr lang="en-US" dirty="0" smtClean="0"/>
              <a:t>. </a:t>
            </a:r>
          </a:p>
          <a:p>
            <a:pPr eaLnBrk="1" fontAlgn="auto" hangingPunct="1">
              <a:spcBef>
                <a:spcPts val="0"/>
              </a:spcBef>
              <a:spcAft>
                <a:spcPts val="0"/>
              </a:spcAft>
              <a:defRPr/>
            </a:pPr>
            <a:endParaRPr lang="hu-HU" dirty="0"/>
          </a:p>
        </p:txBody>
      </p:sp>
      <p:sp>
        <p:nvSpPr>
          <p:cNvPr id="56324" name="Dia számának hely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7BE1D0F-9B35-4B3F-93A9-A7DB135A5D13}" type="slidenum">
              <a:rPr lang="hu-HU" smtClean="0"/>
              <a:t>25</a:t>
            </a:fld>
            <a:endParaRPr lang="hu-H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sp>
        <p:nvSpPr>
          <p:cNvPr id="8" name="Cím 7"/>
          <p:cNvSpPr>
            <a:spLocks noGrp="1"/>
          </p:cNvSpPr>
          <p:nvPr>
            <p:ph type="ctrTitle"/>
          </p:nvPr>
        </p:nvSpPr>
        <p:spPr>
          <a:xfrm>
            <a:off x="1219200" y="3523110"/>
            <a:ext cx="6858000" cy="1487016"/>
          </a:xfrm>
        </p:spPr>
        <p:txBody>
          <a:bodyPr anchor="t"/>
          <a:lstStyle>
            <a:lvl1pPr algn="r">
              <a:defRPr sz="3200">
                <a:solidFill>
                  <a:schemeClr val="tx1"/>
                </a:solidFill>
              </a:defRPr>
            </a:lvl1pPr>
          </a:lstStyle>
          <a:p>
            <a:r>
              <a:rPr lang="hu-HU" smtClean="0"/>
              <a:t>Mintacím szerkesztése</a:t>
            </a:r>
            <a:endParaRPr lang="en-US"/>
          </a:p>
        </p:txBody>
      </p:sp>
      <p:sp>
        <p:nvSpPr>
          <p:cNvPr id="3" name="Dátum helye 27"/>
          <p:cNvSpPr>
            <a:spLocks noGrp="1"/>
          </p:cNvSpPr>
          <p:nvPr>
            <p:ph type="dt" sz="half" idx="10"/>
          </p:nvPr>
        </p:nvSpPr>
        <p:spPr>
          <a:xfrm>
            <a:off x="6400800" y="6354763"/>
            <a:ext cx="2286000" cy="366712"/>
          </a:xfrm>
        </p:spPr>
        <p:txBody>
          <a:bodyPr/>
          <a:lstStyle>
            <a:lvl1pPr>
              <a:defRPr sz="1400"/>
            </a:lvl1pPr>
          </a:lstStyle>
          <a:p>
            <a:pPr>
              <a:defRPr/>
            </a:pPr>
            <a:endParaRPr lang="hu-HU"/>
          </a:p>
        </p:txBody>
      </p:sp>
      <p:sp>
        <p:nvSpPr>
          <p:cNvPr id="4" name="Élőláb helye 16"/>
          <p:cNvSpPr>
            <a:spLocks noGrp="1"/>
          </p:cNvSpPr>
          <p:nvPr>
            <p:ph type="ftr" sz="quarter" idx="11"/>
          </p:nvPr>
        </p:nvSpPr>
        <p:spPr>
          <a:xfrm>
            <a:off x="2898775" y="6354763"/>
            <a:ext cx="3475038" cy="366712"/>
          </a:xfrm>
        </p:spPr>
        <p:txBody>
          <a:bodyPr/>
          <a:lstStyle>
            <a:lvl1pPr>
              <a:defRPr smtClean="0"/>
            </a:lvl1pPr>
          </a:lstStyle>
          <a:p>
            <a:pPr>
              <a:defRPr/>
            </a:pPr>
            <a:r>
              <a:rPr lang="hu-HU"/>
              <a:t>Rátz László Vándorgyülés, 2013</a:t>
            </a:r>
            <a:endParaRPr lang="hu-HU"/>
          </a:p>
        </p:txBody>
      </p:sp>
      <p:sp>
        <p:nvSpPr>
          <p:cNvPr id="5" name="Dia számának helye 28"/>
          <p:cNvSpPr>
            <a:spLocks noGrp="1"/>
          </p:cNvSpPr>
          <p:nvPr>
            <p:ph type="sldNum" sz="quarter" idx="12"/>
          </p:nvPr>
        </p:nvSpPr>
        <p:spPr>
          <a:xfrm>
            <a:off x="1216025" y="6354763"/>
            <a:ext cx="1219200" cy="366712"/>
          </a:xfrm>
        </p:spPr>
        <p:txBody>
          <a:bodyPr/>
          <a:lstStyle>
            <a:lvl1pPr>
              <a:defRPr/>
            </a:lvl1pPr>
          </a:lstStyle>
          <a:p>
            <a:pPr>
              <a:defRPr/>
            </a:pPr>
            <a:fld id="{DC504AEA-AA1C-44FA-8C46-779728382673}" type="slidenum">
              <a:rPr lang="hu-HU"/>
              <a:pPr>
                <a:defRPr/>
              </a:pPr>
              <a:t>‹#›</a:t>
            </a:fld>
            <a:endParaRPr lang="hu-H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Mintacím szerkesztése</a:t>
            </a:r>
            <a:endParaRPr lang="en-US" dirty="0"/>
          </a:p>
        </p:txBody>
      </p:sp>
      <p:sp>
        <p:nvSpPr>
          <p:cNvPr id="8" name="Tartalom helye 7"/>
          <p:cNvSpPr>
            <a:spLocks noGrp="1"/>
          </p:cNvSpPr>
          <p:nvPr>
            <p:ph sz="quarter" idx="1"/>
          </p:nvPr>
        </p:nvSpPr>
        <p:spPr>
          <a:xfrm>
            <a:off x="914400" y="1268760"/>
            <a:ext cx="8229600"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4" name="Dátum helye 3"/>
          <p:cNvSpPr>
            <a:spLocks noGrp="1"/>
          </p:cNvSpPr>
          <p:nvPr>
            <p:ph type="dt" sz="half" idx="10"/>
          </p:nvPr>
        </p:nvSpPr>
        <p:spPr/>
        <p:txBody>
          <a:bodyPr/>
          <a:lstStyle>
            <a:lvl1pPr>
              <a:defRPr/>
            </a:lvl1pPr>
          </a:lstStyle>
          <a:p>
            <a:pPr>
              <a:defRPr/>
            </a:pPr>
            <a:endParaRPr lang="hu-HU"/>
          </a:p>
        </p:txBody>
      </p:sp>
      <p:sp>
        <p:nvSpPr>
          <p:cNvPr id="5" name="Élőláb helye 4"/>
          <p:cNvSpPr>
            <a:spLocks noGrp="1"/>
          </p:cNvSpPr>
          <p:nvPr>
            <p:ph type="ftr" sz="quarter" idx="11"/>
          </p:nvPr>
        </p:nvSpPr>
        <p:spPr/>
        <p:txBody>
          <a:bodyPr/>
          <a:lstStyle>
            <a:lvl1pPr>
              <a:defRPr smtClean="0"/>
            </a:lvl1pPr>
          </a:lstStyle>
          <a:p>
            <a:pPr>
              <a:defRPr/>
            </a:pPr>
            <a:r>
              <a:rPr lang="hu-HU"/>
              <a:t>Rátz László Vándorgyülés, 2013</a:t>
            </a:r>
            <a:endParaRPr lang="hu-HU"/>
          </a:p>
        </p:txBody>
      </p:sp>
      <p:sp>
        <p:nvSpPr>
          <p:cNvPr id="6" name="Dia számának helye 5"/>
          <p:cNvSpPr>
            <a:spLocks noGrp="1"/>
          </p:cNvSpPr>
          <p:nvPr>
            <p:ph type="sldNum" sz="quarter" idx="12"/>
          </p:nvPr>
        </p:nvSpPr>
        <p:spPr>
          <a:xfrm>
            <a:off x="8675688" y="6453188"/>
            <a:ext cx="433387" cy="365125"/>
          </a:xfrm>
        </p:spPr>
        <p:txBody>
          <a:bodyPr/>
          <a:lstStyle>
            <a:lvl1pPr algn="ctr">
              <a:defRPr/>
            </a:lvl1pPr>
          </a:lstStyle>
          <a:p>
            <a:pPr>
              <a:defRPr/>
            </a:pPr>
            <a:fld id="{CBD2CC92-70B4-46CF-83DD-8934E73CACC8}" type="slidenum">
              <a:rPr lang="hu-HU"/>
              <a:pPr>
                <a:defRPr/>
              </a:pPr>
              <a:t>‹#›</a:t>
            </a:fld>
            <a:endParaRPr lang="hu-H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4" name="Téglalap 7"/>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Téglalap 8"/>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Cím 1"/>
          <p:cNvSpPr>
            <a:spLocks noGrp="1"/>
          </p:cNvSpPr>
          <p:nvPr>
            <p:ph type="title"/>
          </p:nvPr>
        </p:nvSpPr>
        <p:spPr>
          <a:xfrm>
            <a:off x="1219200" y="2971800"/>
            <a:ext cx="6858000" cy="1066800"/>
          </a:xfrm>
        </p:spPr>
        <p:txBody>
          <a:bodyPr anchor="t"/>
          <a:lstStyle>
            <a:lvl1pPr algn="r">
              <a:buNone/>
              <a:defRPr sz="3200" b="0" cap="none" baseline="0"/>
            </a:lvl1pPr>
          </a:lstStyle>
          <a:p>
            <a:r>
              <a:rPr lang="hu-HU" smtClean="0"/>
              <a:t>Mintacím szerkesztése</a:t>
            </a:r>
            <a:endParaRPr lang="en-US"/>
          </a:p>
        </p:txBody>
      </p:sp>
      <p:sp>
        <p:nvSpPr>
          <p:cNvPr id="3" name="Szöveg helye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hu-HU" smtClean="0"/>
              <a:t>Mintaszöveg szerkesztése</a:t>
            </a:r>
          </a:p>
        </p:txBody>
      </p:sp>
      <p:sp>
        <p:nvSpPr>
          <p:cNvPr id="6" name="Dátum helye 3"/>
          <p:cNvSpPr>
            <a:spLocks noGrp="1"/>
          </p:cNvSpPr>
          <p:nvPr>
            <p:ph type="dt" sz="half" idx="10"/>
          </p:nvPr>
        </p:nvSpPr>
        <p:spPr>
          <a:xfrm>
            <a:off x="6400800" y="6354763"/>
            <a:ext cx="2286000" cy="366712"/>
          </a:xfrm>
        </p:spPr>
        <p:txBody>
          <a:bodyPr/>
          <a:lstStyle>
            <a:lvl1pPr>
              <a:defRPr/>
            </a:lvl1pPr>
          </a:lstStyle>
          <a:p>
            <a:pPr>
              <a:defRPr/>
            </a:pPr>
            <a:endParaRPr lang="hu-HU"/>
          </a:p>
        </p:txBody>
      </p:sp>
      <p:sp>
        <p:nvSpPr>
          <p:cNvPr id="7" name="Élőláb helye 4"/>
          <p:cNvSpPr>
            <a:spLocks noGrp="1"/>
          </p:cNvSpPr>
          <p:nvPr>
            <p:ph type="ftr" sz="quarter" idx="11"/>
          </p:nvPr>
        </p:nvSpPr>
        <p:spPr>
          <a:xfrm>
            <a:off x="2898775" y="6354763"/>
            <a:ext cx="3475038" cy="366712"/>
          </a:xfrm>
        </p:spPr>
        <p:txBody>
          <a:bodyPr/>
          <a:lstStyle>
            <a:lvl1pPr>
              <a:defRPr smtClean="0"/>
            </a:lvl1pPr>
          </a:lstStyle>
          <a:p>
            <a:pPr>
              <a:defRPr/>
            </a:pPr>
            <a:r>
              <a:rPr lang="hu-HU"/>
              <a:t>Rátz László Vándorgyülés, 2013</a:t>
            </a:r>
            <a:endParaRPr lang="hu-HU"/>
          </a:p>
        </p:txBody>
      </p:sp>
      <p:sp>
        <p:nvSpPr>
          <p:cNvPr id="8" name="Dia számának helye 5"/>
          <p:cNvSpPr>
            <a:spLocks noGrp="1"/>
          </p:cNvSpPr>
          <p:nvPr>
            <p:ph type="sldNum" sz="quarter" idx="12"/>
          </p:nvPr>
        </p:nvSpPr>
        <p:spPr>
          <a:xfrm>
            <a:off x="1069975" y="6354763"/>
            <a:ext cx="1520825" cy="366712"/>
          </a:xfrm>
        </p:spPr>
        <p:txBody>
          <a:bodyPr/>
          <a:lstStyle>
            <a:lvl1pPr>
              <a:defRPr/>
            </a:lvl1pPr>
          </a:lstStyle>
          <a:p>
            <a:pPr>
              <a:defRPr/>
            </a:pPr>
            <a:fld id="{3CF725BC-EB33-4432-89E3-9D83C9182EA5}" type="slidenum">
              <a:rPr lang="hu-HU"/>
              <a:pPr>
                <a:defRPr/>
              </a:pPr>
              <a:t>‹#›</a:t>
            </a:fld>
            <a:endParaRPr lang="hu-H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artalomrész">
    <p:spTree>
      <p:nvGrpSpPr>
        <p:cNvPr id="1" name=""/>
        <p:cNvGrpSpPr/>
        <p:nvPr/>
      </p:nvGrpSpPr>
      <p:grpSpPr>
        <a:xfrm>
          <a:off x="0" y="0"/>
          <a:ext cx="0" cy="0"/>
          <a:chOff x="0" y="0"/>
          <a:chExt cx="0" cy="0"/>
        </a:xfrm>
      </p:grpSpPr>
      <p:sp>
        <p:nvSpPr>
          <p:cNvPr id="9" name="Tartalom helye 8"/>
          <p:cNvSpPr>
            <a:spLocks noGrp="1"/>
          </p:cNvSpPr>
          <p:nvPr>
            <p:ph sz="quarter" idx="1"/>
          </p:nvPr>
        </p:nvSpPr>
        <p:spPr>
          <a:xfrm>
            <a:off x="611560" y="1268760"/>
            <a:ext cx="4041648"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1" name="Tartalom helye 10"/>
          <p:cNvSpPr>
            <a:spLocks noGrp="1"/>
          </p:cNvSpPr>
          <p:nvPr>
            <p:ph sz="quarter" idx="2"/>
          </p:nvPr>
        </p:nvSpPr>
        <p:spPr>
          <a:xfrm>
            <a:off x="4716016" y="1268760"/>
            <a:ext cx="4041648"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8"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5" name="Dátum helye 13"/>
          <p:cNvSpPr>
            <a:spLocks noGrp="1"/>
          </p:cNvSpPr>
          <p:nvPr>
            <p:ph type="dt" sz="half" idx="10"/>
          </p:nvPr>
        </p:nvSpPr>
        <p:spPr/>
        <p:txBody>
          <a:bodyPr/>
          <a:lstStyle>
            <a:lvl1pPr>
              <a:defRPr/>
            </a:lvl1pPr>
          </a:lstStyle>
          <a:p>
            <a:pPr>
              <a:defRPr/>
            </a:pPr>
            <a:endParaRPr lang="hu-HU"/>
          </a:p>
        </p:txBody>
      </p:sp>
      <p:sp>
        <p:nvSpPr>
          <p:cNvPr id="6"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7" name="Dia számának helye 22"/>
          <p:cNvSpPr>
            <a:spLocks noGrp="1"/>
          </p:cNvSpPr>
          <p:nvPr>
            <p:ph type="sldNum" sz="quarter" idx="12"/>
          </p:nvPr>
        </p:nvSpPr>
        <p:spPr/>
        <p:txBody>
          <a:bodyPr/>
          <a:lstStyle>
            <a:lvl1pPr>
              <a:defRPr/>
            </a:lvl1pPr>
          </a:lstStyle>
          <a:p>
            <a:pPr>
              <a:defRPr/>
            </a:pPr>
            <a:fld id="{73016DEE-B070-4C6E-891C-A203BCE0DACF}" type="slidenum">
              <a:rPr lang="hu-HU"/>
              <a:pPr>
                <a:defRPr/>
              </a:pPr>
              <a:t>‹#›</a:t>
            </a:fld>
            <a:endParaRPr lang="hu-H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Összehasonlítás">
    <p:spTree>
      <p:nvGrpSpPr>
        <p:cNvPr id="1" name=""/>
        <p:cNvGrpSpPr/>
        <p:nvPr/>
      </p:nvGrpSpPr>
      <p:grpSpPr>
        <a:xfrm>
          <a:off x="0" y="0"/>
          <a:ext cx="0" cy="0"/>
          <a:chOff x="0" y="0"/>
          <a:chExt cx="0" cy="0"/>
        </a:xfrm>
      </p:grpSpPr>
      <p:sp>
        <p:nvSpPr>
          <p:cNvPr id="3" name="Szöveg helye 2"/>
          <p:cNvSpPr>
            <a:spLocks noGrp="1"/>
          </p:cNvSpPr>
          <p:nvPr>
            <p:ph type="body" idx="1"/>
          </p:nvPr>
        </p:nvSpPr>
        <p:spPr>
          <a:xfrm>
            <a:off x="755576" y="1268760"/>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hu-HU" smtClean="0"/>
              <a:t>Mintaszöveg szerkesztése</a:t>
            </a:r>
          </a:p>
        </p:txBody>
      </p:sp>
      <p:sp>
        <p:nvSpPr>
          <p:cNvPr id="4" name="Szöveg helye 3"/>
          <p:cNvSpPr>
            <a:spLocks noGrp="1"/>
          </p:cNvSpPr>
          <p:nvPr>
            <p:ph type="body" sz="half" idx="3"/>
          </p:nvPr>
        </p:nvSpPr>
        <p:spPr>
          <a:xfrm>
            <a:off x="5102225" y="126876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hu-HU" smtClean="0"/>
              <a:t>Mintaszöveg szerkesztése</a:t>
            </a:r>
          </a:p>
        </p:txBody>
      </p:sp>
      <p:sp>
        <p:nvSpPr>
          <p:cNvPr id="11" name="Tartalom helye 10"/>
          <p:cNvSpPr>
            <a:spLocks noGrp="1"/>
          </p:cNvSpPr>
          <p:nvPr>
            <p:ph sz="quarter" idx="2"/>
          </p:nvPr>
        </p:nvSpPr>
        <p:spPr>
          <a:xfrm>
            <a:off x="755576" y="2132856"/>
            <a:ext cx="4038600" cy="40386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3" name="Tartalom helye 12"/>
          <p:cNvSpPr>
            <a:spLocks noGrp="1"/>
          </p:cNvSpPr>
          <p:nvPr>
            <p:ph sz="quarter" idx="4"/>
          </p:nvPr>
        </p:nvSpPr>
        <p:spPr>
          <a:xfrm>
            <a:off x="5105400" y="2132856"/>
            <a:ext cx="4038600" cy="40386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0"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7" name="Dátum helye 13"/>
          <p:cNvSpPr>
            <a:spLocks noGrp="1"/>
          </p:cNvSpPr>
          <p:nvPr>
            <p:ph type="dt" sz="half" idx="10"/>
          </p:nvPr>
        </p:nvSpPr>
        <p:spPr/>
        <p:txBody>
          <a:bodyPr/>
          <a:lstStyle>
            <a:lvl1pPr>
              <a:defRPr/>
            </a:lvl1pPr>
          </a:lstStyle>
          <a:p>
            <a:pPr>
              <a:defRPr/>
            </a:pPr>
            <a:endParaRPr lang="hu-HU"/>
          </a:p>
        </p:txBody>
      </p:sp>
      <p:sp>
        <p:nvSpPr>
          <p:cNvPr id="8"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9" name="Dia számának helye 22"/>
          <p:cNvSpPr>
            <a:spLocks noGrp="1"/>
          </p:cNvSpPr>
          <p:nvPr>
            <p:ph type="sldNum" sz="quarter" idx="12"/>
          </p:nvPr>
        </p:nvSpPr>
        <p:spPr/>
        <p:txBody>
          <a:bodyPr/>
          <a:lstStyle>
            <a:lvl1pPr>
              <a:defRPr/>
            </a:lvl1pPr>
          </a:lstStyle>
          <a:p>
            <a:pPr>
              <a:defRPr/>
            </a:pPr>
            <a:fld id="{53443452-F151-4146-A01C-2AE2601B2A95}" type="slidenum">
              <a:rPr lang="hu-HU"/>
              <a:pPr>
                <a:defRPr/>
              </a:pPr>
              <a:t>‹#›</a:t>
            </a:fld>
            <a:endParaRPr lang="hu-H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sak cím">
    <p:spTree>
      <p:nvGrpSpPr>
        <p:cNvPr id="1" name=""/>
        <p:cNvGrpSpPr/>
        <p:nvPr/>
      </p:nvGrpSpPr>
      <p:grpSpPr>
        <a:xfrm>
          <a:off x="0" y="0"/>
          <a:ext cx="0" cy="0"/>
          <a:chOff x="0" y="0"/>
          <a:chExt cx="0" cy="0"/>
        </a:xfrm>
      </p:grpSpPr>
      <p:sp>
        <p:nvSpPr>
          <p:cNvPr id="7"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3" name="Dátum helye 13"/>
          <p:cNvSpPr>
            <a:spLocks noGrp="1"/>
          </p:cNvSpPr>
          <p:nvPr>
            <p:ph type="dt" sz="half" idx="10"/>
          </p:nvPr>
        </p:nvSpPr>
        <p:spPr/>
        <p:txBody>
          <a:bodyPr/>
          <a:lstStyle>
            <a:lvl1pPr>
              <a:defRPr/>
            </a:lvl1pPr>
          </a:lstStyle>
          <a:p>
            <a:pPr>
              <a:defRPr/>
            </a:pPr>
            <a:endParaRPr lang="hu-HU"/>
          </a:p>
        </p:txBody>
      </p:sp>
      <p:sp>
        <p:nvSpPr>
          <p:cNvPr id="4"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5" name="Dia számának helye 22"/>
          <p:cNvSpPr>
            <a:spLocks noGrp="1"/>
          </p:cNvSpPr>
          <p:nvPr>
            <p:ph type="sldNum" sz="quarter" idx="12"/>
          </p:nvPr>
        </p:nvSpPr>
        <p:spPr/>
        <p:txBody>
          <a:bodyPr/>
          <a:lstStyle>
            <a:lvl1pPr>
              <a:defRPr/>
            </a:lvl1pPr>
          </a:lstStyle>
          <a:p>
            <a:pPr>
              <a:defRPr/>
            </a:pPr>
            <a:fld id="{49967A1C-87B8-4C23-9F61-7B21F72CA73B}" type="slidenum">
              <a:rPr lang="hu-HU"/>
              <a:pPr>
                <a:defRPr/>
              </a:pPr>
              <a:t>‹#›</a:t>
            </a:fld>
            <a:endParaRPr lang="hu-H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Egyenes összekötő 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3" name="Háromszög 8"/>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átum helye 1"/>
          <p:cNvSpPr>
            <a:spLocks noGrp="1"/>
          </p:cNvSpPr>
          <p:nvPr>
            <p:ph type="dt" sz="half" idx="10"/>
          </p:nvPr>
        </p:nvSpPr>
        <p:spPr/>
        <p:txBody>
          <a:bodyPr/>
          <a:lstStyle>
            <a:lvl1pPr>
              <a:defRPr/>
            </a:lvl1pPr>
          </a:lstStyle>
          <a:p>
            <a:pPr>
              <a:defRPr/>
            </a:pPr>
            <a:endParaRPr lang="hu-HU"/>
          </a:p>
        </p:txBody>
      </p:sp>
      <p:sp>
        <p:nvSpPr>
          <p:cNvPr id="5" name="Élőláb helye 2"/>
          <p:cNvSpPr>
            <a:spLocks noGrp="1"/>
          </p:cNvSpPr>
          <p:nvPr>
            <p:ph type="ftr" sz="quarter" idx="11"/>
          </p:nvPr>
        </p:nvSpPr>
        <p:spPr/>
        <p:txBody>
          <a:bodyPr/>
          <a:lstStyle>
            <a:lvl1pPr>
              <a:defRPr smtClean="0"/>
            </a:lvl1pPr>
          </a:lstStyle>
          <a:p>
            <a:pPr>
              <a:defRPr/>
            </a:pPr>
            <a:r>
              <a:rPr lang="hu-HU"/>
              <a:t>Rátz László Vándorgyülés, 2013</a:t>
            </a:r>
            <a:endParaRPr lang="hu-HU"/>
          </a:p>
        </p:txBody>
      </p:sp>
      <p:sp>
        <p:nvSpPr>
          <p:cNvPr id="6" name="Dia számának helye 3"/>
          <p:cNvSpPr>
            <a:spLocks noGrp="1"/>
          </p:cNvSpPr>
          <p:nvPr>
            <p:ph type="sldNum" sz="quarter" idx="12"/>
          </p:nvPr>
        </p:nvSpPr>
        <p:spPr/>
        <p:txBody>
          <a:bodyPr/>
          <a:lstStyle>
            <a:lvl1pPr>
              <a:defRPr/>
            </a:lvl1pPr>
          </a:lstStyle>
          <a:p>
            <a:pPr>
              <a:defRPr/>
            </a:pPr>
            <a:fld id="{6CF11D67-998D-41D4-955B-CE677DA74ED0}" type="slidenum">
              <a:rPr lang="hu-HU"/>
              <a:pPr>
                <a:defRPr/>
              </a:pPr>
              <a:t>‹#›</a:t>
            </a:fld>
            <a:endParaRPr lang="hu-H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5" name="Egyenes összekötő 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6" name="Egyenes összekötő 8"/>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p:spPr>
        <p:txBody>
          <a:bodyPr/>
          <a:lstStyle/>
          <a:p>
            <a:endParaRPr lang="hu-HU"/>
          </a:p>
        </p:txBody>
      </p:sp>
      <p:sp>
        <p:nvSpPr>
          <p:cNvPr id="7" name="Háromszög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Cím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hu-HU" smtClean="0"/>
              <a:t>Mintacím szerkesztése</a:t>
            </a:r>
            <a:endParaRPr lang="en-US"/>
          </a:p>
        </p:txBody>
      </p:sp>
      <p:sp>
        <p:nvSpPr>
          <p:cNvPr id="3" name="Szöveg hely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hu-HU" smtClean="0"/>
              <a:t>Mintaszöveg szerkesztése</a:t>
            </a:r>
          </a:p>
        </p:txBody>
      </p:sp>
      <p:sp>
        <p:nvSpPr>
          <p:cNvPr id="12" name="Tartalom helye 11"/>
          <p:cNvSpPr>
            <a:spLocks noGrp="1"/>
          </p:cNvSpPr>
          <p:nvPr>
            <p:ph sz="quarter" idx="1"/>
          </p:nvPr>
        </p:nvSpPr>
        <p:spPr>
          <a:xfrm>
            <a:off x="304800" y="304800"/>
            <a:ext cx="5715000" cy="57150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8" name="Dátum helye 4"/>
          <p:cNvSpPr>
            <a:spLocks noGrp="1"/>
          </p:cNvSpPr>
          <p:nvPr>
            <p:ph type="dt" sz="half" idx="10"/>
          </p:nvPr>
        </p:nvSpPr>
        <p:spPr/>
        <p:txBody>
          <a:bodyPr/>
          <a:lstStyle>
            <a:lvl1pPr>
              <a:defRPr/>
            </a:lvl1pPr>
          </a:lstStyle>
          <a:p>
            <a:pPr>
              <a:defRPr/>
            </a:pPr>
            <a:endParaRPr lang="hu-HU"/>
          </a:p>
        </p:txBody>
      </p:sp>
      <p:sp>
        <p:nvSpPr>
          <p:cNvPr id="9" name="Élőláb helye 5"/>
          <p:cNvSpPr>
            <a:spLocks noGrp="1"/>
          </p:cNvSpPr>
          <p:nvPr>
            <p:ph type="ftr" sz="quarter" idx="11"/>
          </p:nvPr>
        </p:nvSpPr>
        <p:spPr/>
        <p:txBody>
          <a:bodyPr/>
          <a:lstStyle>
            <a:lvl1pPr>
              <a:defRPr smtClean="0"/>
            </a:lvl1pPr>
          </a:lstStyle>
          <a:p>
            <a:pPr>
              <a:defRPr/>
            </a:pPr>
            <a:r>
              <a:rPr lang="hu-HU"/>
              <a:t>Rátz László Vándorgyülés, 2013</a:t>
            </a:r>
            <a:endParaRPr lang="hu-HU"/>
          </a:p>
        </p:txBody>
      </p:sp>
      <p:sp>
        <p:nvSpPr>
          <p:cNvPr id="10" name="Dia számának helye 6"/>
          <p:cNvSpPr>
            <a:spLocks noGrp="1"/>
          </p:cNvSpPr>
          <p:nvPr>
            <p:ph type="sldNum" sz="quarter" idx="12"/>
          </p:nvPr>
        </p:nvSpPr>
        <p:spPr/>
        <p:txBody>
          <a:bodyPr/>
          <a:lstStyle>
            <a:lvl1pPr>
              <a:defRPr/>
            </a:lvl1pPr>
          </a:lstStyle>
          <a:p>
            <a:pPr>
              <a:defRPr/>
            </a:pPr>
            <a:fld id="{52FA7E09-4EB4-4F8F-A3EB-AF75C89B4E14}" type="slidenum">
              <a:rPr lang="hu-HU"/>
              <a:pPr>
                <a:defRPr/>
              </a:pPr>
              <a:t>‹#›</a:t>
            </a:fld>
            <a:endParaRPr lang="hu-H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ép képaláírással">
    <p:spTree>
      <p:nvGrpSpPr>
        <p:cNvPr id="1" name=""/>
        <p:cNvGrpSpPr/>
        <p:nvPr/>
      </p:nvGrpSpPr>
      <p:grpSpPr>
        <a:xfrm>
          <a:off x="0" y="0"/>
          <a:ext cx="0" cy="0"/>
          <a:chOff x="0" y="0"/>
          <a:chExt cx="0" cy="0"/>
        </a:xfrm>
      </p:grpSpPr>
      <p:sp>
        <p:nvSpPr>
          <p:cNvPr id="5" name="Egyenes összekötő 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6" name="Háromszög 8"/>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Kép helye 2"/>
          <p:cNvSpPr>
            <a:spLocks noGrp="1"/>
          </p:cNvSpPr>
          <p:nvPr>
            <p:ph type="pic" idx="1"/>
          </p:nvPr>
        </p:nvSpPr>
        <p:spPr>
          <a:xfrm>
            <a:off x="899592" y="1916832"/>
            <a:ext cx="7920880" cy="4104456"/>
          </a:xfrm>
          <a:solidFill>
            <a:schemeClr val="tx1">
              <a:shade val="50000"/>
            </a:schemeClr>
          </a:solidFill>
          <a:ln>
            <a:noFill/>
          </a:ln>
          <a:effectLst/>
        </p:spPr>
        <p:txBody>
          <a:bodyPr>
            <a:normAutofit/>
          </a:bodyPr>
          <a:lstStyle>
            <a:lvl1pPr marL="0" indent="0">
              <a:spcBef>
                <a:spcPts val="600"/>
              </a:spcBef>
              <a:buNone/>
              <a:defRPr sz="3200"/>
            </a:lvl1pPr>
          </a:lstStyle>
          <a:p>
            <a:pPr lvl="0"/>
            <a:r>
              <a:rPr lang="hu-HU" noProof="0" dirty="0" smtClean="0"/>
              <a:t>Kép beszúrásához kattintson az ikonra</a:t>
            </a:r>
            <a:endParaRPr lang="en-US" noProof="0" dirty="0"/>
          </a:p>
        </p:txBody>
      </p:sp>
      <p:sp>
        <p:nvSpPr>
          <p:cNvPr id="4" name="Szöveg helye 3"/>
          <p:cNvSpPr>
            <a:spLocks noGrp="1"/>
          </p:cNvSpPr>
          <p:nvPr>
            <p:ph type="body" sz="half" idx="2"/>
          </p:nvPr>
        </p:nvSpPr>
        <p:spPr>
          <a:xfrm>
            <a:off x="1043608" y="1239416"/>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hu-HU" smtClean="0"/>
              <a:t>Mintaszöveg szerkesztése</a:t>
            </a:r>
          </a:p>
        </p:txBody>
      </p:sp>
      <p:sp>
        <p:nvSpPr>
          <p:cNvPr id="11"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7" name="Dátum helye 4"/>
          <p:cNvSpPr>
            <a:spLocks noGrp="1"/>
          </p:cNvSpPr>
          <p:nvPr>
            <p:ph type="dt" sz="half" idx="10"/>
          </p:nvPr>
        </p:nvSpPr>
        <p:spPr/>
        <p:txBody>
          <a:bodyPr/>
          <a:lstStyle>
            <a:lvl1pPr>
              <a:defRPr/>
            </a:lvl1pPr>
          </a:lstStyle>
          <a:p>
            <a:pPr>
              <a:defRPr/>
            </a:pPr>
            <a:endParaRPr lang="hu-HU"/>
          </a:p>
        </p:txBody>
      </p:sp>
      <p:sp>
        <p:nvSpPr>
          <p:cNvPr id="8" name="Élőláb helye 5"/>
          <p:cNvSpPr>
            <a:spLocks noGrp="1"/>
          </p:cNvSpPr>
          <p:nvPr>
            <p:ph type="ftr" sz="quarter" idx="11"/>
          </p:nvPr>
        </p:nvSpPr>
        <p:spPr/>
        <p:txBody>
          <a:bodyPr/>
          <a:lstStyle>
            <a:lvl1pPr>
              <a:defRPr smtClean="0"/>
            </a:lvl1pPr>
          </a:lstStyle>
          <a:p>
            <a:pPr>
              <a:defRPr/>
            </a:pPr>
            <a:r>
              <a:rPr lang="hu-HU"/>
              <a:t>Rátz László Vándorgyülés, 2013</a:t>
            </a:r>
            <a:endParaRPr lang="hu-HU"/>
          </a:p>
        </p:txBody>
      </p:sp>
      <p:sp>
        <p:nvSpPr>
          <p:cNvPr id="9" name="Dia számának helye 6"/>
          <p:cNvSpPr>
            <a:spLocks noGrp="1"/>
          </p:cNvSpPr>
          <p:nvPr>
            <p:ph type="sldNum" sz="quarter" idx="12"/>
          </p:nvPr>
        </p:nvSpPr>
        <p:spPr/>
        <p:txBody>
          <a:bodyPr/>
          <a:lstStyle>
            <a:lvl1pPr>
              <a:defRPr/>
            </a:lvl1pPr>
          </a:lstStyle>
          <a:p>
            <a:pPr>
              <a:defRPr/>
            </a:pPr>
            <a:fld id="{BE7B75DE-D72F-42F1-9AB8-7FE24660D1DF}" type="slidenum">
              <a:rPr lang="hu-HU"/>
              <a:pPr>
                <a:defRPr/>
              </a:pPr>
              <a:t>‹#›</a:t>
            </a:fld>
            <a:endParaRPr lang="hu-HU"/>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US"/>
          </a:p>
        </p:txBody>
      </p:sp>
      <p:sp>
        <p:nvSpPr>
          <p:cNvPr id="3" name="Függőleges szöveg helye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4" name="Dátum helye 13"/>
          <p:cNvSpPr>
            <a:spLocks noGrp="1"/>
          </p:cNvSpPr>
          <p:nvPr>
            <p:ph type="dt" sz="half" idx="10"/>
          </p:nvPr>
        </p:nvSpPr>
        <p:spPr/>
        <p:txBody>
          <a:bodyPr/>
          <a:lstStyle>
            <a:lvl1pPr>
              <a:defRPr/>
            </a:lvl1pPr>
          </a:lstStyle>
          <a:p>
            <a:pPr>
              <a:defRPr/>
            </a:pPr>
            <a:endParaRPr lang="hu-HU"/>
          </a:p>
        </p:txBody>
      </p:sp>
      <p:sp>
        <p:nvSpPr>
          <p:cNvPr id="5"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6" name="Dia számának helye 22"/>
          <p:cNvSpPr>
            <a:spLocks noGrp="1"/>
          </p:cNvSpPr>
          <p:nvPr>
            <p:ph type="sldNum" sz="quarter" idx="12"/>
          </p:nvPr>
        </p:nvSpPr>
        <p:spPr/>
        <p:txBody>
          <a:bodyPr/>
          <a:lstStyle>
            <a:lvl1pPr>
              <a:defRPr/>
            </a:lvl1pPr>
          </a:lstStyle>
          <a:p>
            <a:pPr>
              <a:defRPr/>
            </a:pPr>
            <a:fld id="{19B872CC-8153-4424-8222-2427A333814A}" type="slidenum">
              <a:rPr lang="hu-HU"/>
              <a:pPr>
                <a:defRPr/>
              </a:pPr>
              <a:t>‹#›</a:t>
            </a:fld>
            <a:endParaRPr lang="hu-H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4" name="Egyenes összekötő 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5" name="Háromszög 8"/>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Egyenes összekötő 9"/>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p:spPr>
        <p:txBody>
          <a:bodyPr/>
          <a:lstStyle/>
          <a:p>
            <a:endParaRPr lang="hu-HU"/>
          </a:p>
        </p:txBody>
      </p:sp>
      <p:sp>
        <p:nvSpPr>
          <p:cNvPr id="2" name="Függőleges cím 1"/>
          <p:cNvSpPr>
            <a:spLocks noGrp="1"/>
          </p:cNvSpPr>
          <p:nvPr>
            <p:ph type="title" orient="vert"/>
          </p:nvPr>
        </p:nvSpPr>
        <p:spPr>
          <a:xfrm>
            <a:off x="6629400" y="274638"/>
            <a:ext cx="2057400" cy="5851525"/>
          </a:xfrm>
        </p:spPr>
        <p:txBody>
          <a:bodyPr vert="eaVert"/>
          <a:lstStyle/>
          <a:p>
            <a:r>
              <a:rPr lang="hu-HU" smtClean="0"/>
              <a:t>Mintacím szerkesztése</a:t>
            </a:r>
            <a:endParaRPr lang="en-US"/>
          </a:p>
        </p:txBody>
      </p:sp>
      <p:sp>
        <p:nvSpPr>
          <p:cNvPr id="3" name="Függőleges szöveg helye 2"/>
          <p:cNvSpPr>
            <a:spLocks noGrp="1"/>
          </p:cNvSpPr>
          <p:nvPr>
            <p:ph type="body" orient="vert" idx="1"/>
          </p:nvPr>
        </p:nvSpPr>
        <p:spPr>
          <a:xfrm>
            <a:off x="457200" y="274638"/>
            <a:ext cx="6019800" cy="5851525"/>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7" name="Dátum helye 3"/>
          <p:cNvSpPr>
            <a:spLocks noGrp="1"/>
          </p:cNvSpPr>
          <p:nvPr>
            <p:ph type="dt" sz="half" idx="10"/>
          </p:nvPr>
        </p:nvSpPr>
        <p:spPr/>
        <p:txBody>
          <a:bodyPr/>
          <a:lstStyle>
            <a:lvl1pPr>
              <a:defRPr/>
            </a:lvl1pPr>
          </a:lstStyle>
          <a:p>
            <a:pPr>
              <a:defRPr/>
            </a:pPr>
            <a:endParaRPr lang="hu-HU"/>
          </a:p>
        </p:txBody>
      </p:sp>
      <p:sp>
        <p:nvSpPr>
          <p:cNvPr id="8" name="Élőláb helye 4"/>
          <p:cNvSpPr>
            <a:spLocks noGrp="1"/>
          </p:cNvSpPr>
          <p:nvPr>
            <p:ph type="ftr" sz="quarter" idx="11"/>
          </p:nvPr>
        </p:nvSpPr>
        <p:spPr/>
        <p:txBody>
          <a:bodyPr/>
          <a:lstStyle>
            <a:lvl1pPr>
              <a:defRPr smtClean="0"/>
            </a:lvl1pPr>
          </a:lstStyle>
          <a:p>
            <a:pPr>
              <a:defRPr/>
            </a:pPr>
            <a:r>
              <a:rPr lang="hu-HU"/>
              <a:t>Rátz László Vándorgyülés, 2013</a:t>
            </a:r>
            <a:endParaRPr lang="hu-HU"/>
          </a:p>
        </p:txBody>
      </p:sp>
      <p:sp>
        <p:nvSpPr>
          <p:cNvPr id="9" name="Dia számának helye 5"/>
          <p:cNvSpPr>
            <a:spLocks noGrp="1"/>
          </p:cNvSpPr>
          <p:nvPr>
            <p:ph type="sldNum" sz="quarter" idx="12"/>
          </p:nvPr>
        </p:nvSpPr>
        <p:spPr/>
        <p:txBody>
          <a:bodyPr/>
          <a:lstStyle>
            <a:lvl1pPr>
              <a:defRPr/>
            </a:lvl1pPr>
          </a:lstStyle>
          <a:p>
            <a:pPr>
              <a:defRPr/>
            </a:pPr>
            <a:fld id="{827A3CBF-F3AD-4ABB-8582-8BE2E64C7CD3}" type="slidenum">
              <a:rPr lang="hu-HU"/>
              <a:pPr>
                <a:defRPr/>
              </a:pPr>
              <a:t>‹#›</a:t>
            </a:fld>
            <a:endParaRPr lang="hu-H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sp>
        <p:nvSpPr>
          <p:cNvPr id="8" name="Cím 7"/>
          <p:cNvSpPr>
            <a:spLocks noGrp="1"/>
          </p:cNvSpPr>
          <p:nvPr>
            <p:ph type="ctrTitle"/>
          </p:nvPr>
        </p:nvSpPr>
        <p:spPr>
          <a:xfrm>
            <a:off x="1219200" y="3523110"/>
            <a:ext cx="6858000" cy="1487016"/>
          </a:xfrm>
        </p:spPr>
        <p:txBody>
          <a:bodyPr anchor="t"/>
          <a:lstStyle>
            <a:lvl1pPr algn="r">
              <a:defRPr sz="3200">
                <a:solidFill>
                  <a:schemeClr val="tx1"/>
                </a:solidFill>
              </a:defRPr>
            </a:lvl1pPr>
          </a:lstStyle>
          <a:p>
            <a:r>
              <a:rPr lang="hu-HU" dirty="0" smtClean="0"/>
              <a:t>Mintacím szerkesztése</a:t>
            </a:r>
            <a:endParaRPr lang="en-US" dirty="0"/>
          </a:p>
        </p:txBody>
      </p:sp>
      <p:sp>
        <p:nvSpPr>
          <p:cNvPr id="3" name="Dátum helye 27"/>
          <p:cNvSpPr>
            <a:spLocks noGrp="1"/>
          </p:cNvSpPr>
          <p:nvPr>
            <p:ph type="dt" sz="half" idx="10"/>
          </p:nvPr>
        </p:nvSpPr>
        <p:spPr>
          <a:xfrm>
            <a:off x="6400800" y="6354763"/>
            <a:ext cx="2286000" cy="366712"/>
          </a:xfrm>
        </p:spPr>
        <p:txBody>
          <a:bodyPr/>
          <a:lstStyle>
            <a:lvl1pPr>
              <a:defRPr sz="1400"/>
            </a:lvl1pPr>
          </a:lstStyle>
          <a:p>
            <a:pPr>
              <a:defRPr/>
            </a:pPr>
            <a:endParaRPr lang="hu-HU"/>
          </a:p>
        </p:txBody>
      </p:sp>
      <p:sp>
        <p:nvSpPr>
          <p:cNvPr id="4" name="Élőláb helye 16"/>
          <p:cNvSpPr>
            <a:spLocks noGrp="1"/>
          </p:cNvSpPr>
          <p:nvPr>
            <p:ph type="ftr" sz="quarter" idx="11"/>
          </p:nvPr>
        </p:nvSpPr>
        <p:spPr>
          <a:xfrm>
            <a:off x="2898775" y="6354763"/>
            <a:ext cx="3475038" cy="366712"/>
          </a:xfrm>
        </p:spPr>
        <p:txBody>
          <a:bodyPr/>
          <a:lstStyle>
            <a:lvl1pPr algn="r">
              <a:defRPr smtClean="0"/>
            </a:lvl1pPr>
          </a:lstStyle>
          <a:p>
            <a:pPr>
              <a:defRPr/>
            </a:pPr>
            <a:r>
              <a:rPr lang="hu-HU"/>
              <a:t>Rátz László Vándorgyülés, 2013</a:t>
            </a:r>
            <a:endParaRPr lang="hu-HU" dirty="0"/>
          </a:p>
        </p:txBody>
      </p:sp>
      <p:sp>
        <p:nvSpPr>
          <p:cNvPr id="5" name="Dia számának helye 28"/>
          <p:cNvSpPr>
            <a:spLocks noGrp="1"/>
          </p:cNvSpPr>
          <p:nvPr>
            <p:ph type="sldNum" sz="quarter" idx="12"/>
          </p:nvPr>
        </p:nvSpPr>
        <p:spPr>
          <a:xfrm>
            <a:off x="8748713" y="6453188"/>
            <a:ext cx="1219200" cy="365125"/>
          </a:xfrm>
        </p:spPr>
        <p:txBody>
          <a:bodyPr/>
          <a:lstStyle>
            <a:lvl1pPr>
              <a:defRPr/>
            </a:lvl1pPr>
          </a:lstStyle>
          <a:p>
            <a:pPr>
              <a:defRPr/>
            </a:pPr>
            <a:fld id="{226E11B7-E442-4721-B0F1-815541B2C545}" type="slidenum">
              <a:rPr lang="hu-HU"/>
              <a:pPr>
                <a:defRPr/>
              </a:pPr>
              <a:t>‹#›</a:t>
            </a:fld>
            <a:endParaRPr lang="hu-HU"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Mintacím szerkesztése</a:t>
            </a:r>
            <a:endParaRPr lang="en-US" dirty="0"/>
          </a:p>
        </p:txBody>
      </p:sp>
      <p:sp>
        <p:nvSpPr>
          <p:cNvPr id="8" name="Tartalom helye 7"/>
          <p:cNvSpPr>
            <a:spLocks noGrp="1"/>
          </p:cNvSpPr>
          <p:nvPr>
            <p:ph sz="quarter" idx="1"/>
          </p:nvPr>
        </p:nvSpPr>
        <p:spPr>
          <a:xfrm>
            <a:off x="914400" y="1268760"/>
            <a:ext cx="8229600"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4" name="Dátum helye 13"/>
          <p:cNvSpPr>
            <a:spLocks noGrp="1"/>
          </p:cNvSpPr>
          <p:nvPr>
            <p:ph type="dt" sz="half" idx="10"/>
          </p:nvPr>
        </p:nvSpPr>
        <p:spPr/>
        <p:txBody>
          <a:bodyPr/>
          <a:lstStyle>
            <a:lvl1pPr>
              <a:defRPr/>
            </a:lvl1pPr>
          </a:lstStyle>
          <a:p>
            <a:pPr>
              <a:defRPr/>
            </a:pPr>
            <a:endParaRPr lang="hu-HU"/>
          </a:p>
        </p:txBody>
      </p:sp>
      <p:sp>
        <p:nvSpPr>
          <p:cNvPr id="5"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6" name="Dia számának helye 22"/>
          <p:cNvSpPr>
            <a:spLocks noGrp="1"/>
          </p:cNvSpPr>
          <p:nvPr>
            <p:ph type="sldNum" sz="quarter" idx="12"/>
          </p:nvPr>
        </p:nvSpPr>
        <p:spPr/>
        <p:txBody>
          <a:bodyPr/>
          <a:lstStyle>
            <a:lvl1pPr>
              <a:defRPr/>
            </a:lvl1pPr>
          </a:lstStyle>
          <a:p>
            <a:pPr>
              <a:defRPr/>
            </a:pPr>
            <a:fld id="{32A716E6-1709-4EC0-8473-6B0B3A32EC59}" type="slidenum">
              <a:rPr lang="hu-HU"/>
              <a:pPr>
                <a:defRPr/>
              </a:pPr>
              <a:t>‹#›</a:t>
            </a:fld>
            <a:endParaRPr lang="hu-HU"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4" name="Téglalap 6"/>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Téglalap 7"/>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Cím 1"/>
          <p:cNvSpPr>
            <a:spLocks noGrp="1"/>
          </p:cNvSpPr>
          <p:nvPr>
            <p:ph type="title"/>
          </p:nvPr>
        </p:nvSpPr>
        <p:spPr>
          <a:xfrm>
            <a:off x="1219200" y="2971800"/>
            <a:ext cx="6858000" cy="1066800"/>
          </a:xfrm>
        </p:spPr>
        <p:txBody>
          <a:bodyPr anchor="t"/>
          <a:lstStyle>
            <a:lvl1pPr algn="r">
              <a:buNone/>
              <a:defRPr sz="3200" b="0" cap="none" baseline="0"/>
            </a:lvl1pPr>
          </a:lstStyle>
          <a:p>
            <a:r>
              <a:rPr lang="hu-HU" smtClean="0"/>
              <a:t>Mintacím szerkesztése</a:t>
            </a:r>
            <a:endParaRPr lang="en-US"/>
          </a:p>
        </p:txBody>
      </p:sp>
      <p:sp>
        <p:nvSpPr>
          <p:cNvPr id="3" name="Szöveg helye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hu-HU" smtClean="0"/>
              <a:t>Mintaszöveg szerkesztése</a:t>
            </a:r>
          </a:p>
        </p:txBody>
      </p:sp>
      <p:sp>
        <p:nvSpPr>
          <p:cNvPr id="6" name="Dátum helye 3"/>
          <p:cNvSpPr>
            <a:spLocks noGrp="1"/>
          </p:cNvSpPr>
          <p:nvPr>
            <p:ph type="dt" sz="half" idx="10"/>
          </p:nvPr>
        </p:nvSpPr>
        <p:spPr>
          <a:xfrm>
            <a:off x="6400800" y="6354763"/>
            <a:ext cx="2286000" cy="366712"/>
          </a:xfrm>
        </p:spPr>
        <p:txBody>
          <a:bodyPr/>
          <a:lstStyle>
            <a:lvl1pPr>
              <a:defRPr/>
            </a:lvl1pPr>
          </a:lstStyle>
          <a:p>
            <a:pPr>
              <a:defRPr/>
            </a:pPr>
            <a:endParaRPr lang="hu-HU"/>
          </a:p>
        </p:txBody>
      </p:sp>
      <p:sp>
        <p:nvSpPr>
          <p:cNvPr id="7" name="Élőláb helye 4"/>
          <p:cNvSpPr>
            <a:spLocks noGrp="1"/>
          </p:cNvSpPr>
          <p:nvPr>
            <p:ph type="ftr" sz="quarter" idx="11"/>
          </p:nvPr>
        </p:nvSpPr>
        <p:spPr>
          <a:xfrm>
            <a:off x="2898775" y="6354763"/>
            <a:ext cx="3475038" cy="366712"/>
          </a:xfrm>
        </p:spPr>
        <p:txBody>
          <a:bodyPr/>
          <a:lstStyle>
            <a:lvl1pPr algn="r">
              <a:defRPr smtClean="0"/>
            </a:lvl1pPr>
          </a:lstStyle>
          <a:p>
            <a:pPr>
              <a:defRPr/>
            </a:pPr>
            <a:r>
              <a:rPr lang="hu-HU"/>
              <a:t>Rátz László Vándorgyülés, 2013</a:t>
            </a:r>
            <a:endParaRPr lang="hu-HU"/>
          </a:p>
        </p:txBody>
      </p:sp>
      <p:sp>
        <p:nvSpPr>
          <p:cNvPr id="8" name="Dia számának helye 5"/>
          <p:cNvSpPr>
            <a:spLocks noGrp="1"/>
          </p:cNvSpPr>
          <p:nvPr>
            <p:ph type="sldNum" sz="quarter" idx="12"/>
          </p:nvPr>
        </p:nvSpPr>
        <p:spPr>
          <a:xfrm>
            <a:off x="1069975" y="6354763"/>
            <a:ext cx="1520825" cy="366712"/>
          </a:xfrm>
        </p:spPr>
        <p:txBody>
          <a:bodyPr/>
          <a:lstStyle>
            <a:lvl1pPr>
              <a:defRPr/>
            </a:lvl1pPr>
          </a:lstStyle>
          <a:p>
            <a:pPr>
              <a:defRPr/>
            </a:pPr>
            <a:fld id="{4658249B-DA8A-45C3-ACDE-994BA29154FF}" type="slidenum">
              <a:rPr lang="hu-HU"/>
              <a:pPr>
                <a:defRPr/>
              </a:pPr>
              <a:t>‹#›</a:t>
            </a:fld>
            <a:endParaRPr lang="hu-HU"/>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tartalomrész">
    <p:spTree>
      <p:nvGrpSpPr>
        <p:cNvPr id="1" name=""/>
        <p:cNvGrpSpPr/>
        <p:nvPr/>
      </p:nvGrpSpPr>
      <p:grpSpPr>
        <a:xfrm>
          <a:off x="0" y="0"/>
          <a:ext cx="0" cy="0"/>
          <a:chOff x="0" y="0"/>
          <a:chExt cx="0" cy="0"/>
        </a:xfrm>
      </p:grpSpPr>
      <p:sp>
        <p:nvSpPr>
          <p:cNvPr id="9" name="Tartalom helye 8"/>
          <p:cNvSpPr>
            <a:spLocks noGrp="1"/>
          </p:cNvSpPr>
          <p:nvPr>
            <p:ph sz="quarter" idx="1"/>
          </p:nvPr>
        </p:nvSpPr>
        <p:spPr>
          <a:xfrm>
            <a:off x="611560" y="1268760"/>
            <a:ext cx="4041648"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1" name="Tartalom helye 10"/>
          <p:cNvSpPr>
            <a:spLocks noGrp="1"/>
          </p:cNvSpPr>
          <p:nvPr>
            <p:ph sz="quarter" idx="2"/>
          </p:nvPr>
        </p:nvSpPr>
        <p:spPr>
          <a:xfrm>
            <a:off x="4716016" y="1268760"/>
            <a:ext cx="4041648" cy="49377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8"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5" name="Dátum helye 13"/>
          <p:cNvSpPr>
            <a:spLocks noGrp="1"/>
          </p:cNvSpPr>
          <p:nvPr>
            <p:ph type="dt" sz="half" idx="10"/>
          </p:nvPr>
        </p:nvSpPr>
        <p:spPr/>
        <p:txBody>
          <a:bodyPr/>
          <a:lstStyle>
            <a:lvl1pPr>
              <a:defRPr/>
            </a:lvl1pPr>
          </a:lstStyle>
          <a:p>
            <a:pPr>
              <a:defRPr/>
            </a:pPr>
            <a:endParaRPr lang="hu-HU"/>
          </a:p>
        </p:txBody>
      </p:sp>
      <p:sp>
        <p:nvSpPr>
          <p:cNvPr id="6"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7" name="Dia számának helye 22"/>
          <p:cNvSpPr>
            <a:spLocks noGrp="1"/>
          </p:cNvSpPr>
          <p:nvPr>
            <p:ph type="sldNum" sz="quarter" idx="12"/>
          </p:nvPr>
        </p:nvSpPr>
        <p:spPr/>
        <p:txBody>
          <a:bodyPr/>
          <a:lstStyle>
            <a:lvl1pPr>
              <a:defRPr/>
            </a:lvl1pPr>
          </a:lstStyle>
          <a:p>
            <a:pPr>
              <a:defRPr/>
            </a:pPr>
            <a:fld id="{8446EE8F-C515-4AD2-A36B-6EA4C59F8825}" type="slidenum">
              <a:rPr lang="hu-HU"/>
              <a:pPr>
                <a:defRPr/>
              </a:pPr>
              <a:t>‹#›</a:t>
            </a:fld>
            <a:endParaRPr lang="hu-HU"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Összehasonlítás">
    <p:spTree>
      <p:nvGrpSpPr>
        <p:cNvPr id="1" name=""/>
        <p:cNvGrpSpPr/>
        <p:nvPr/>
      </p:nvGrpSpPr>
      <p:grpSpPr>
        <a:xfrm>
          <a:off x="0" y="0"/>
          <a:ext cx="0" cy="0"/>
          <a:chOff x="0" y="0"/>
          <a:chExt cx="0" cy="0"/>
        </a:xfrm>
      </p:grpSpPr>
      <p:sp>
        <p:nvSpPr>
          <p:cNvPr id="3" name="Szöveg helye 2"/>
          <p:cNvSpPr>
            <a:spLocks noGrp="1"/>
          </p:cNvSpPr>
          <p:nvPr>
            <p:ph type="body" idx="1"/>
          </p:nvPr>
        </p:nvSpPr>
        <p:spPr>
          <a:xfrm>
            <a:off x="755576" y="1268760"/>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hu-HU" smtClean="0"/>
              <a:t>Mintaszöveg szerkesztése</a:t>
            </a:r>
          </a:p>
        </p:txBody>
      </p:sp>
      <p:sp>
        <p:nvSpPr>
          <p:cNvPr id="4" name="Szöveg helye 3"/>
          <p:cNvSpPr>
            <a:spLocks noGrp="1"/>
          </p:cNvSpPr>
          <p:nvPr>
            <p:ph type="body" sz="half" idx="3"/>
          </p:nvPr>
        </p:nvSpPr>
        <p:spPr>
          <a:xfrm>
            <a:off x="5102225" y="126876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hu-HU" smtClean="0"/>
              <a:t>Mintaszöveg szerkesztése</a:t>
            </a:r>
          </a:p>
        </p:txBody>
      </p:sp>
      <p:sp>
        <p:nvSpPr>
          <p:cNvPr id="11" name="Tartalom helye 10"/>
          <p:cNvSpPr>
            <a:spLocks noGrp="1"/>
          </p:cNvSpPr>
          <p:nvPr>
            <p:ph sz="quarter" idx="2"/>
          </p:nvPr>
        </p:nvSpPr>
        <p:spPr>
          <a:xfrm>
            <a:off x="755576" y="2132856"/>
            <a:ext cx="4038600" cy="40386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3" name="Tartalom helye 12"/>
          <p:cNvSpPr>
            <a:spLocks noGrp="1"/>
          </p:cNvSpPr>
          <p:nvPr>
            <p:ph sz="quarter" idx="4"/>
          </p:nvPr>
        </p:nvSpPr>
        <p:spPr>
          <a:xfrm>
            <a:off x="5105400" y="2132856"/>
            <a:ext cx="4038600" cy="40386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10"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7" name="Dátum helye 13"/>
          <p:cNvSpPr>
            <a:spLocks noGrp="1"/>
          </p:cNvSpPr>
          <p:nvPr>
            <p:ph type="dt" sz="half" idx="10"/>
          </p:nvPr>
        </p:nvSpPr>
        <p:spPr/>
        <p:txBody>
          <a:bodyPr/>
          <a:lstStyle>
            <a:lvl1pPr>
              <a:defRPr/>
            </a:lvl1pPr>
          </a:lstStyle>
          <a:p>
            <a:pPr>
              <a:defRPr/>
            </a:pPr>
            <a:endParaRPr lang="hu-HU"/>
          </a:p>
        </p:txBody>
      </p:sp>
      <p:sp>
        <p:nvSpPr>
          <p:cNvPr id="8"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9" name="Dia számának helye 22"/>
          <p:cNvSpPr>
            <a:spLocks noGrp="1"/>
          </p:cNvSpPr>
          <p:nvPr>
            <p:ph type="sldNum" sz="quarter" idx="12"/>
          </p:nvPr>
        </p:nvSpPr>
        <p:spPr/>
        <p:txBody>
          <a:bodyPr/>
          <a:lstStyle>
            <a:lvl1pPr>
              <a:defRPr/>
            </a:lvl1pPr>
          </a:lstStyle>
          <a:p>
            <a:pPr>
              <a:defRPr/>
            </a:pPr>
            <a:fld id="{42E35333-148C-4A46-AD9F-ADDDBDA91B78}" type="slidenum">
              <a:rPr lang="hu-HU"/>
              <a:pPr>
                <a:defRPr/>
              </a:pPr>
              <a:t>‹#›</a:t>
            </a:fld>
            <a:endParaRPr lang="hu-HU"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sak cím">
    <p:spTree>
      <p:nvGrpSpPr>
        <p:cNvPr id="1" name=""/>
        <p:cNvGrpSpPr/>
        <p:nvPr/>
      </p:nvGrpSpPr>
      <p:grpSpPr>
        <a:xfrm>
          <a:off x="0" y="0"/>
          <a:ext cx="0" cy="0"/>
          <a:chOff x="0" y="0"/>
          <a:chExt cx="0" cy="0"/>
        </a:xfrm>
      </p:grpSpPr>
      <p:sp>
        <p:nvSpPr>
          <p:cNvPr id="3" name="Háromszög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4" name="Dátum helye 2"/>
          <p:cNvSpPr>
            <a:spLocks noGrp="1"/>
          </p:cNvSpPr>
          <p:nvPr>
            <p:ph type="dt" sz="half" idx="10"/>
          </p:nvPr>
        </p:nvSpPr>
        <p:spPr/>
        <p:txBody>
          <a:bodyPr/>
          <a:lstStyle>
            <a:lvl1pPr>
              <a:defRPr/>
            </a:lvl1pPr>
          </a:lstStyle>
          <a:p>
            <a:pPr>
              <a:defRPr/>
            </a:pPr>
            <a:endParaRPr lang="hu-HU"/>
          </a:p>
        </p:txBody>
      </p:sp>
      <p:sp>
        <p:nvSpPr>
          <p:cNvPr id="5" name="Élőláb helye 3"/>
          <p:cNvSpPr>
            <a:spLocks noGrp="1"/>
          </p:cNvSpPr>
          <p:nvPr>
            <p:ph type="ftr" sz="quarter" idx="11"/>
          </p:nvPr>
        </p:nvSpPr>
        <p:spPr/>
        <p:txBody>
          <a:bodyPr/>
          <a:lstStyle>
            <a:lvl1pPr>
              <a:defRPr smtClean="0"/>
            </a:lvl1pPr>
          </a:lstStyle>
          <a:p>
            <a:pPr>
              <a:defRPr/>
            </a:pPr>
            <a:r>
              <a:rPr lang="hu-HU"/>
              <a:t>Rátz László Vándorgyülés, 2013</a:t>
            </a:r>
            <a:endParaRPr lang="hu-HU" dirty="0"/>
          </a:p>
        </p:txBody>
      </p:sp>
      <p:sp>
        <p:nvSpPr>
          <p:cNvPr id="6" name="Dia számának helye 4"/>
          <p:cNvSpPr>
            <a:spLocks noGrp="1"/>
          </p:cNvSpPr>
          <p:nvPr>
            <p:ph type="sldNum" sz="quarter" idx="12"/>
          </p:nvPr>
        </p:nvSpPr>
        <p:spPr/>
        <p:txBody>
          <a:bodyPr/>
          <a:lstStyle>
            <a:lvl1pPr>
              <a:defRPr/>
            </a:lvl1pPr>
          </a:lstStyle>
          <a:p>
            <a:pPr>
              <a:defRPr/>
            </a:pPr>
            <a:fld id="{DA7EEE59-A40C-4380-8C8A-11B48F57767C}" type="slidenum">
              <a:rPr lang="hu-HU"/>
              <a:pPr>
                <a:defRPr/>
              </a:pPr>
              <a:t>‹#›</a:t>
            </a:fld>
            <a:endParaRPr lang="hu-HU"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Egyenes összekötő 6"/>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3" name="Háromszög 7"/>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átum helye 1"/>
          <p:cNvSpPr>
            <a:spLocks noGrp="1"/>
          </p:cNvSpPr>
          <p:nvPr>
            <p:ph type="dt" sz="half" idx="10"/>
          </p:nvPr>
        </p:nvSpPr>
        <p:spPr/>
        <p:txBody>
          <a:bodyPr/>
          <a:lstStyle>
            <a:lvl1pPr>
              <a:defRPr/>
            </a:lvl1pPr>
          </a:lstStyle>
          <a:p>
            <a:pPr>
              <a:defRPr/>
            </a:pPr>
            <a:endParaRPr lang="hu-HU"/>
          </a:p>
        </p:txBody>
      </p:sp>
      <p:sp>
        <p:nvSpPr>
          <p:cNvPr id="5" name="Élőláb helye 2"/>
          <p:cNvSpPr>
            <a:spLocks noGrp="1"/>
          </p:cNvSpPr>
          <p:nvPr>
            <p:ph type="ftr" sz="quarter" idx="11"/>
          </p:nvPr>
        </p:nvSpPr>
        <p:spPr/>
        <p:txBody>
          <a:bodyPr/>
          <a:lstStyle>
            <a:lvl1pPr algn="r">
              <a:defRPr smtClean="0"/>
            </a:lvl1pPr>
          </a:lstStyle>
          <a:p>
            <a:pPr>
              <a:defRPr/>
            </a:pPr>
            <a:r>
              <a:rPr lang="hu-HU"/>
              <a:t>Rátz László Vándorgyülés, 2013</a:t>
            </a:r>
            <a:endParaRPr lang="hu-HU"/>
          </a:p>
        </p:txBody>
      </p:sp>
      <p:sp>
        <p:nvSpPr>
          <p:cNvPr id="6" name="Dia számának helye 3"/>
          <p:cNvSpPr>
            <a:spLocks noGrp="1"/>
          </p:cNvSpPr>
          <p:nvPr>
            <p:ph type="sldNum" sz="quarter" idx="12"/>
          </p:nvPr>
        </p:nvSpPr>
        <p:spPr/>
        <p:txBody>
          <a:bodyPr/>
          <a:lstStyle>
            <a:lvl1pPr algn="ctr">
              <a:defRPr/>
            </a:lvl1pPr>
          </a:lstStyle>
          <a:p>
            <a:pPr>
              <a:defRPr/>
            </a:pPr>
            <a:fld id="{83CA7EDC-CC44-4AA8-B263-E6F2C12671F7}" type="slidenum">
              <a:rPr lang="hu-HU"/>
              <a:pPr>
                <a:defRPr/>
              </a:pPr>
              <a:t>‹#›</a:t>
            </a:fld>
            <a:endParaRPr lang="hu-HU"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5" name="Egyenes összekötő 6"/>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6" name="Egyenes összekötő 7"/>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p:spPr>
        <p:txBody>
          <a:bodyPr/>
          <a:lstStyle/>
          <a:p>
            <a:endParaRPr lang="hu-HU"/>
          </a:p>
        </p:txBody>
      </p:sp>
      <p:sp>
        <p:nvSpPr>
          <p:cNvPr id="7" name="Háromszög 8"/>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Cím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hu-HU" smtClean="0"/>
              <a:t>Mintacím szerkesztése</a:t>
            </a:r>
            <a:endParaRPr lang="en-US"/>
          </a:p>
        </p:txBody>
      </p:sp>
      <p:sp>
        <p:nvSpPr>
          <p:cNvPr id="3" name="Szöveg hely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hu-HU" smtClean="0"/>
              <a:t>Mintaszöveg szerkesztése</a:t>
            </a:r>
          </a:p>
        </p:txBody>
      </p:sp>
      <p:sp>
        <p:nvSpPr>
          <p:cNvPr id="12" name="Tartalom helye 11"/>
          <p:cNvSpPr>
            <a:spLocks noGrp="1"/>
          </p:cNvSpPr>
          <p:nvPr>
            <p:ph sz="quarter" idx="1"/>
          </p:nvPr>
        </p:nvSpPr>
        <p:spPr>
          <a:xfrm>
            <a:off x="304800" y="304800"/>
            <a:ext cx="5715000" cy="57150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8" name="Dátum helye 4"/>
          <p:cNvSpPr>
            <a:spLocks noGrp="1"/>
          </p:cNvSpPr>
          <p:nvPr>
            <p:ph type="dt" sz="half" idx="10"/>
          </p:nvPr>
        </p:nvSpPr>
        <p:spPr/>
        <p:txBody>
          <a:bodyPr/>
          <a:lstStyle>
            <a:lvl1pPr>
              <a:defRPr/>
            </a:lvl1pPr>
          </a:lstStyle>
          <a:p>
            <a:pPr>
              <a:defRPr/>
            </a:pPr>
            <a:endParaRPr lang="hu-HU"/>
          </a:p>
        </p:txBody>
      </p:sp>
      <p:sp>
        <p:nvSpPr>
          <p:cNvPr id="9" name="Élőláb helye 5"/>
          <p:cNvSpPr>
            <a:spLocks noGrp="1"/>
          </p:cNvSpPr>
          <p:nvPr>
            <p:ph type="ftr" sz="quarter" idx="11"/>
          </p:nvPr>
        </p:nvSpPr>
        <p:spPr/>
        <p:txBody>
          <a:bodyPr/>
          <a:lstStyle>
            <a:lvl1pPr>
              <a:defRPr smtClean="0"/>
            </a:lvl1pPr>
          </a:lstStyle>
          <a:p>
            <a:pPr>
              <a:defRPr/>
            </a:pPr>
            <a:r>
              <a:rPr lang="hu-HU"/>
              <a:t>Rátz László Vándorgyülés, 2013</a:t>
            </a:r>
            <a:endParaRPr lang="hu-HU" dirty="0"/>
          </a:p>
        </p:txBody>
      </p:sp>
      <p:sp>
        <p:nvSpPr>
          <p:cNvPr id="10" name="Dia számának helye 6"/>
          <p:cNvSpPr>
            <a:spLocks noGrp="1"/>
          </p:cNvSpPr>
          <p:nvPr>
            <p:ph type="sldNum" sz="quarter" idx="12"/>
          </p:nvPr>
        </p:nvSpPr>
        <p:spPr/>
        <p:txBody>
          <a:bodyPr/>
          <a:lstStyle>
            <a:lvl1pPr algn="ctr">
              <a:defRPr/>
            </a:lvl1pPr>
          </a:lstStyle>
          <a:p>
            <a:pPr>
              <a:defRPr/>
            </a:pPr>
            <a:fld id="{BC30E72B-BE7A-48B6-B38B-B9C75B8109B9}" type="slidenum">
              <a:rPr lang="hu-HU"/>
              <a:pPr>
                <a:defRPr/>
              </a:pPr>
              <a:t>‹#›</a:t>
            </a:fld>
            <a:endParaRPr lang="hu-HU"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ép képaláírással">
    <p:spTree>
      <p:nvGrpSpPr>
        <p:cNvPr id="1" name=""/>
        <p:cNvGrpSpPr/>
        <p:nvPr/>
      </p:nvGrpSpPr>
      <p:grpSpPr>
        <a:xfrm>
          <a:off x="0" y="0"/>
          <a:ext cx="0" cy="0"/>
          <a:chOff x="0" y="0"/>
          <a:chExt cx="0" cy="0"/>
        </a:xfrm>
      </p:grpSpPr>
      <p:sp>
        <p:nvSpPr>
          <p:cNvPr id="5" name="Egyenes összekötő 6"/>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6" name="Háromszög 7"/>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Kép helye 2"/>
          <p:cNvSpPr>
            <a:spLocks noGrp="1"/>
          </p:cNvSpPr>
          <p:nvPr>
            <p:ph type="pic" idx="1"/>
          </p:nvPr>
        </p:nvSpPr>
        <p:spPr>
          <a:xfrm>
            <a:off x="899592" y="1916832"/>
            <a:ext cx="7920880" cy="4104456"/>
          </a:xfrm>
          <a:solidFill>
            <a:schemeClr val="tx1">
              <a:shade val="50000"/>
            </a:schemeClr>
          </a:solidFill>
          <a:ln>
            <a:noFill/>
          </a:ln>
          <a:effectLst/>
        </p:spPr>
        <p:txBody>
          <a:bodyPr>
            <a:normAutofit/>
          </a:bodyPr>
          <a:lstStyle>
            <a:lvl1pPr marL="0" indent="0">
              <a:spcBef>
                <a:spcPts val="600"/>
              </a:spcBef>
              <a:buNone/>
              <a:defRPr sz="3200"/>
            </a:lvl1pPr>
          </a:lstStyle>
          <a:p>
            <a:pPr lvl="0"/>
            <a:r>
              <a:rPr lang="hu-HU" noProof="0" dirty="0" smtClean="0"/>
              <a:t>Kép beszúrásához kattintson az ikonra</a:t>
            </a:r>
            <a:endParaRPr lang="en-US" noProof="0" dirty="0"/>
          </a:p>
        </p:txBody>
      </p:sp>
      <p:sp>
        <p:nvSpPr>
          <p:cNvPr id="4" name="Szöveg helye 3"/>
          <p:cNvSpPr>
            <a:spLocks noGrp="1"/>
          </p:cNvSpPr>
          <p:nvPr>
            <p:ph type="body" sz="half" idx="2"/>
          </p:nvPr>
        </p:nvSpPr>
        <p:spPr>
          <a:xfrm>
            <a:off x="1043608" y="1239416"/>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hu-HU" smtClean="0"/>
              <a:t>Mintaszöveg szerkesztése</a:t>
            </a:r>
          </a:p>
        </p:txBody>
      </p:sp>
      <p:sp>
        <p:nvSpPr>
          <p:cNvPr id="11"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7" name="Dátum helye 4"/>
          <p:cNvSpPr>
            <a:spLocks noGrp="1"/>
          </p:cNvSpPr>
          <p:nvPr>
            <p:ph type="dt" sz="half" idx="10"/>
          </p:nvPr>
        </p:nvSpPr>
        <p:spPr/>
        <p:txBody>
          <a:bodyPr/>
          <a:lstStyle>
            <a:lvl1pPr>
              <a:defRPr/>
            </a:lvl1pPr>
          </a:lstStyle>
          <a:p>
            <a:pPr>
              <a:defRPr/>
            </a:pPr>
            <a:endParaRPr lang="hu-HU"/>
          </a:p>
        </p:txBody>
      </p:sp>
      <p:sp>
        <p:nvSpPr>
          <p:cNvPr id="8" name="Élőláb helye 5"/>
          <p:cNvSpPr>
            <a:spLocks noGrp="1"/>
          </p:cNvSpPr>
          <p:nvPr>
            <p:ph type="ftr" sz="quarter" idx="11"/>
          </p:nvPr>
        </p:nvSpPr>
        <p:spPr/>
        <p:txBody>
          <a:bodyPr/>
          <a:lstStyle>
            <a:lvl1pPr>
              <a:defRPr smtClean="0"/>
            </a:lvl1pPr>
          </a:lstStyle>
          <a:p>
            <a:pPr>
              <a:defRPr/>
            </a:pPr>
            <a:r>
              <a:rPr lang="hu-HU"/>
              <a:t>Rátz László Vándorgyülés, 2013</a:t>
            </a:r>
            <a:endParaRPr lang="hu-HU" dirty="0"/>
          </a:p>
        </p:txBody>
      </p:sp>
      <p:sp>
        <p:nvSpPr>
          <p:cNvPr id="9" name="Dia számának helye 6"/>
          <p:cNvSpPr>
            <a:spLocks noGrp="1"/>
          </p:cNvSpPr>
          <p:nvPr>
            <p:ph type="sldNum" sz="quarter" idx="12"/>
          </p:nvPr>
        </p:nvSpPr>
        <p:spPr/>
        <p:txBody>
          <a:bodyPr/>
          <a:lstStyle>
            <a:lvl1pPr>
              <a:defRPr/>
            </a:lvl1pPr>
          </a:lstStyle>
          <a:p>
            <a:pPr>
              <a:defRPr/>
            </a:pPr>
            <a:fld id="{8BCE6DA7-8B2A-49BD-A075-B1AA5FAFD3D8}" type="slidenum">
              <a:rPr lang="hu-HU"/>
              <a:pPr>
                <a:defRPr/>
              </a:pPr>
              <a:t>‹#›</a:t>
            </a:fld>
            <a:endParaRPr lang="hu-HU"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US"/>
          </a:p>
        </p:txBody>
      </p:sp>
      <p:sp>
        <p:nvSpPr>
          <p:cNvPr id="3" name="Függőleges szöveg helye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4" name="Dátum helye 13"/>
          <p:cNvSpPr>
            <a:spLocks noGrp="1"/>
          </p:cNvSpPr>
          <p:nvPr>
            <p:ph type="dt" sz="half" idx="10"/>
          </p:nvPr>
        </p:nvSpPr>
        <p:spPr/>
        <p:txBody>
          <a:bodyPr/>
          <a:lstStyle>
            <a:lvl1pPr>
              <a:defRPr/>
            </a:lvl1pPr>
          </a:lstStyle>
          <a:p>
            <a:pPr>
              <a:defRPr/>
            </a:pPr>
            <a:endParaRPr lang="hu-HU"/>
          </a:p>
        </p:txBody>
      </p:sp>
      <p:sp>
        <p:nvSpPr>
          <p:cNvPr id="5"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6" name="Dia számának helye 22"/>
          <p:cNvSpPr>
            <a:spLocks noGrp="1"/>
          </p:cNvSpPr>
          <p:nvPr>
            <p:ph type="sldNum" sz="quarter" idx="12"/>
          </p:nvPr>
        </p:nvSpPr>
        <p:spPr/>
        <p:txBody>
          <a:bodyPr/>
          <a:lstStyle>
            <a:lvl1pPr>
              <a:defRPr/>
            </a:lvl1pPr>
          </a:lstStyle>
          <a:p>
            <a:pPr>
              <a:defRPr/>
            </a:pPr>
            <a:fld id="{AA558A34-CCF8-440C-9449-A49CD54E118F}" type="slidenum">
              <a:rPr lang="hu-HU"/>
              <a:pPr>
                <a:defRPr/>
              </a:pPr>
              <a:t>‹#›</a:t>
            </a:fld>
            <a:endParaRPr lang="hu-HU"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4" name="Egyenes összekötő 6"/>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hu-HU"/>
          </a:p>
        </p:txBody>
      </p:sp>
      <p:sp>
        <p:nvSpPr>
          <p:cNvPr id="5" name="Háromszög 7"/>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Egyenes összekötő 8"/>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p:spPr>
        <p:txBody>
          <a:bodyPr/>
          <a:lstStyle/>
          <a:p>
            <a:endParaRPr lang="hu-HU"/>
          </a:p>
        </p:txBody>
      </p:sp>
      <p:sp>
        <p:nvSpPr>
          <p:cNvPr id="2" name="Függőleges cím 1"/>
          <p:cNvSpPr>
            <a:spLocks noGrp="1"/>
          </p:cNvSpPr>
          <p:nvPr>
            <p:ph type="title" orient="vert"/>
          </p:nvPr>
        </p:nvSpPr>
        <p:spPr>
          <a:xfrm>
            <a:off x="6629400" y="274638"/>
            <a:ext cx="2057400" cy="5851525"/>
          </a:xfrm>
        </p:spPr>
        <p:txBody>
          <a:bodyPr vert="eaVert"/>
          <a:lstStyle/>
          <a:p>
            <a:r>
              <a:rPr lang="hu-HU" smtClean="0"/>
              <a:t>Mintacím szerkesztése</a:t>
            </a:r>
            <a:endParaRPr lang="en-US"/>
          </a:p>
        </p:txBody>
      </p:sp>
      <p:sp>
        <p:nvSpPr>
          <p:cNvPr id="3" name="Függőleges szöveg helye 2"/>
          <p:cNvSpPr>
            <a:spLocks noGrp="1"/>
          </p:cNvSpPr>
          <p:nvPr>
            <p:ph type="body" orient="vert" idx="1"/>
          </p:nvPr>
        </p:nvSpPr>
        <p:spPr>
          <a:xfrm>
            <a:off x="457200" y="274638"/>
            <a:ext cx="6019800" cy="5851525"/>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a:p>
        </p:txBody>
      </p:sp>
      <p:sp>
        <p:nvSpPr>
          <p:cNvPr id="7" name="Dátum helye 3"/>
          <p:cNvSpPr>
            <a:spLocks noGrp="1"/>
          </p:cNvSpPr>
          <p:nvPr>
            <p:ph type="dt" sz="half" idx="10"/>
          </p:nvPr>
        </p:nvSpPr>
        <p:spPr/>
        <p:txBody>
          <a:bodyPr/>
          <a:lstStyle>
            <a:lvl1pPr>
              <a:defRPr/>
            </a:lvl1pPr>
          </a:lstStyle>
          <a:p>
            <a:pPr>
              <a:defRPr/>
            </a:pPr>
            <a:endParaRPr lang="hu-HU"/>
          </a:p>
        </p:txBody>
      </p:sp>
      <p:sp>
        <p:nvSpPr>
          <p:cNvPr id="8" name="Élőláb helye 4"/>
          <p:cNvSpPr>
            <a:spLocks noGrp="1"/>
          </p:cNvSpPr>
          <p:nvPr>
            <p:ph type="ftr" sz="quarter" idx="11"/>
          </p:nvPr>
        </p:nvSpPr>
        <p:spPr/>
        <p:txBody>
          <a:bodyPr/>
          <a:lstStyle>
            <a:lvl1pPr>
              <a:defRPr smtClean="0"/>
            </a:lvl1pPr>
          </a:lstStyle>
          <a:p>
            <a:pPr>
              <a:defRPr/>
            </a:pPr>
            <a:r>
              <a:rPr lang="hu-HU"/>
              <a:t>Rátz László Vándorgyülés, 2013</a:t>
            </a:r>
            <a:endParaRPr lang="hu-HU" dirty="0"/>
          </a:p>
        </p:txBody>
      </p:sp>
      <p:sp>
        <p:nvSpPr>
          <p:cNvPr id="9" name="Dia számának helye 5"/>
          <p:cNvSpPr>
            <a:spLocks noGrp="1"/>
          </p:cNvSpPr>
          <p:nvPr>
            <p:ph type="sldNum" sz="quarter" idx="12"/>
          </p:nvPr>
        </p:nvSpPr>
        <p:spPr/>
        <p:txBody>
          <a:bodyPr/>
          <a:lstStyle>
            <a:lvl1pPr algn="ctr">
              <a:defRPr/>
            </a:lvl1pPr>
          </a:lstStyle>
          <a:p>
            <a:pPr>
              <a:defRPr/>
            </a:pPr>
            <a:fld id="{713399C9-93AA-4088-8440-9F29F306058C}" type="slidenum">
              <a:rPr lang="hu-HU"/>
              <a:pPr>
                <a:defRPr/>
              </a:pPr>
              <a:t>‹#›</a:t>
            </a:fld>
            <a:endParaRPr lang="hu-HU"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ím, szöveg és tartalom">
    <p:spTree>
      <p:nvGrpSpPr>
        <p:cNvPr id="1" name=""/>
        <p:cNvGrpSpPr/>
        <p:nvPr/>
      </p:nvGrpSpPr>
      <p:grpSpPr>
        <a:xfrm>
          <a:off x="0" y="0"/>
          <a:ext cx="0" cy="0"/>
          <a:chOff x="0" y="0"/>
          <a:chExt cx="0" cy="0"/>
        </a:xfrm>
      </p:grpSpPr>
      <p:sp>
        <p:nvSpPr>
          <p:cNvPr id="3" name="Szöveg helye 2"/>
          <p:cNvSpPr>
            <a:spLocks noGrp="1"/>
          </p:cNvSpPr>
          <p:nvPr>
            <p:ph type="body" sz="half" idx="1"/>
          </p:nvPr>
        </p:nvSpPr>
        <p:spPr>
          <a:xfrm>
            <a:off x="1182688" y="2017713"/>
            <a:ext cx="3810000" cy="41148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Tartalom helye 3"/>
          <p:cNvSpPr>
            <a:spLocks noGrp="1"/>
          </p:cNvSpPr>
          <p:nvPr>
            <p:ph sz="half" idx="2"/>
          </p:nvPr>
        </p:nvSpPr>
        <p:spPr>
          <a:xfrm>
            <a:off x="5145088" y="2017713"/>
            <a:ext cx="3810000" cy="41148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8" name="Cím helye 21"/>
          <p:cNvSpPr>
            <a:spLocks noGrp="1"/>
          </p:cNvSpPr>
          <p:nvPr>
            <p:ph type="title"/>
          </p:nvPr>
        </p:nvSpPr>
        <p:spPr>
          <a:xfrm>
            <a:off x="1043608" y="188640"/>
            <a:ext cx="8229600" cy="990600"/>
          </a:xfrm>
          <a:prstGeom prst="rect">
            <a:avLst/>
          </a:prstGeom>
        </p:spPr>
        <p:txBody>
          <a:bodyPr>
            <a:normAutofit/>
          </a:bodyPr>
          <a:lstStyle/>
          <a:p>
            <a:r>
              <a:rPr lang="hu-HU" smtClean="0"/>
              <a:t>Mintacím szerkesztése</a:t>
            </a:r>
            <a:endParaRPr lang="en-US"/>
          </a:p>
        </p:txBody>
      </p:sp>
      <p:sp>
        <p:nvSpPr>
          <p:cNvPr id="5" name="Dátum helye 13"/>
          <p:cNvSpPr>
            <a:spLocks noGrp="1"/>
          </p:cNvSpPr>
          <p:nvPr>
            <p:ph type="dt" sz="half" idx="10"/>
          </p:nvPr>
        </p:nvSpPr>
        <p:spPr/>
        <p:txBody>
          <a:bodyPr/>
          <a:lstStyle>
            <a:lvl1pPr>
              <a:defRPr/>
            </a:lvl1pPr>
          </a:lstStyle>
          <a:p>
            <a:pPr>
              <a:defRPr/>
            </a:pPr>
            <a:endParaRPr lang="hu-HU"/>
          </a:p>
        </p:txBody>
      </p:sp>
      <p:sp>
        <p:nvSpPr>
          <p:cNvPr id="6" name="Élőláb helye 2"/>
          <p:cNvSpPr>
            <a:spLocks noGrp="1"/>
          </p:cNvSpPr>
          <p:nvPr>
            <p:ph type="ftr" sz="quarter" idx="11"/>
          </p:nvPr>
        </p:nvSpPr>
        <p:spPr/>
        <p:txBody>
          <a:bodyPr/>
          <a:lstStyle>
            <a:lvl1pPr>
              <a:defRPr/>
            </a:lvl1pPr>
          </a:lstStyle>
          <a:p>
            <a:pPr>
              <a:defRPr/>
            </a:pPr>
            <a:r>
              <a:rPr lang="hu-HU"/>
              <a:t>Rátz László Vándorgyülés, 2013</a:t>
            </a:r>
            <a:endParaRPr lang="hu-HU" dirty="0"/>
          </a:p>
        </p:txBody>
      </p:sp>
      <p:sp>
        <p:nvSpPr>
          <p:cNvPr id="7" name="Dia számának helye 22"/>
          <p:cNvSpPr>
            <a:spLocks noGrp="1"/>
          </p:cNvSpPr>
          <p:nvPr>
            <p:ph type="sldNum" sz="quarter" idx="12"/>
          </p:nvPr>
        </p:nvSpPr>
        <p:spPr/>
        <p:txBody>
          <a:bodyPr/>
          <a:lstStyle>
            <a:lvl1pPr>
              <a:defRPr/>
            </a:lvl1pPr>
          </a:lstStyle>
          <a:p>
            <a:pPr>
              <a:defRPr/>
            </a:pPr>
            <a:fld id="{8A04BFCA-8864-41BC-BBC4-C9D6AA79874E}" type="slidenum">
              <a:rPr lang="hu-HU"/>
              <a:pPr>
                <a:defRPr/>
              </a:pPr>
              <a:t>‹#›</a:t>
            </a:fld>
            <a:endParaRPr lang="hu-H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Cím helye 21"/>
          <p:cNvSpPr>
            <a:spLocks noGrp="1"/>
          </p:cNvSpPr>
          <p:nvPr>
            <p:ph type="title"/>
          </p:nvPr>
        </p:nvSpPr>
        <p:spPr bwMode="auto">
          <a:xfrm>
            <a:off x="1042988" y="188913"/>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hu-HU" smtClean="0"/>
              <a:t>Edit template name</a:t>
            </a:r>
            <a:endParaRPr lang="en-US" smtClean="0"/>
          </a:p>
        </p:txBody>
      </p:sp>
      <p:sp>
        <p:nvSpPr>
          <p:cNvPr id="1027" name="Szöveg helye 12"/>
          <p:cNvSpPr>
            <a:spLocks noGrp="1"/>
          </p:cNvSpPr>
          <p:nvPr>
            <p:ph type="body" idx="1"/>
          </p:nvPr>
        </p:nvSpPr>
        <p:spPr bwMode="auto">
          <a:xfrm>
            <a:off x="914400" y="1268413"/>
            <a:ext cx="8229600" cy="4910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hu-HU" smtClean="0"/>
              <a:t>Edit template text</a:t>
            </a:r>
          </a:p>
          <a:p>
            <a:pPr lvl="1"/>
            <a:r>
              <a:rPr lang="hu-HU" smtClean="0"/>
              <a:t>Second level</a:t>
            </a:r>
          </a:p>
          <a:p>
            <a:pPr lvl="2"/>
            <a:r>
              <a:rPr lang="hu-HU" smtClean="0"/>
              <a:t>Third level</a:t>
            </a:r>
          </a:p>
          <a:p>
            <a:pPr lvl="3"/>
            <a:r>
              <a:rPr lang="hu-HU" smtClean="0"/>
              <a:t>Fourth level</a:t>
            </a:r>
          </a:p>
          <a:p>
            <a:pPr lvl="4"/>
            <a:r>
              <a:rPr lang="hu-HU" smtClean="0"/>
              <a:t>Fifth level</a:t>
            </a:r>
            <a:endParaRPr lang="en-US" smtClean="0"/>
          </a:p>
        </p:txBody>
      </p:sp>
      <p:sp>
        <p:nvSpPr>
          <p:cNvPr id="14" name="Dátum helye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defRPr>
            </a:lvl1pPr>
          </a:lstStyle>
          <a:p>
            <a:pPr>
              <a:defRPr/>
            </a:pPr>
            <a:endParaRPr lang="hu-HU"/>
          </a:p>
        </p:txBody>
      </p:sp>
      <p:sp>
        <p:nvSpPr>
          <p:cNvPr id="3" name="Élőláb helye 2"/>
          <p:cNvSpPr>
            <a:spLocks noGrp="1"/>
          </p:cNvSpPr>
          <p:nvPr>
            <p:ph type="ftr" sz="quarter" idx="3"/>
          </p:nvPr>
        </p:nvSpPr>
        <p:spPr>
          <a:xfrm>
            <a:off x="323850" y="6308725"/>
            <a:ext cx="3505200" cy="366713"/>
          </a:xfrm>
          <a:prstGeom prst="rect">
            <a:avLst/>
          </a:prstGeom>
        </p:spPr>
        <p:txBody>
          <a:bodyPr vert="horz"/>
          <a:lstStyle>
            <a:lvl1pPr algn="ctr" eaLnBrk="1" latinLnBrk="0" hangingPunct="1">
              <a:defRPr kumimoji="0" sz="1400" smtClean="0">
                <a:solidFill>
                  <a:schemeClr val="tx2"/>
                </a:solidFill>
              </a:defRPr>
            </a:lvl1pPr>
          </a:lstStyle>
          <a:p>
            <a:pPr>
              <a:defRPr/>
            </a:pPr>
            <a:r>
              <a:rPr lang="hu-HU"/>
              <a:t>László Rátz, Travelling Assembly, 2013</a:t>
            </a:r>
            <a:endParaRPr lang="hu-HU" dirty="0"/>
          </a:p>
        </p:txBody>
      </p:sp>
      <p:sp>
        <p:nvSpPr>
          <p:cNvPr id="23" name="Dia számának helye 22"/>
          <p:cNvSpPr>
            <a:spLocks noGrp="1"/>
          </p:cNvSpPr>
          <p:nvPr>
            <p:ph type="sldNum" sz="quarter" idx="4"/>
          </p:nvPr>
        </p:nvSpPr>
        <p:spPr>
          <a:xfrm>
            <a:off x="8712200" y="6453188"/>
            <a:ext cx="431800" cy="365125"/>
          </a:xfrm>
          <a:prstGeom prst="rect">
            <a:avLst/>
          </a:prstGeom>
        </p:spPr>
        <p:txBody>
          <a:bodyPr vert="horz"/>
          <a:lstStyle>
            <a:lvl1pPr algn="l" eaLnBrk="1" latinLnBrk="0" hangingPunct="1">
              <a:defRPr kumimoji="0" sz="1400">
                <a:solidFill>
                  <a:schemeClr val="tx2"/>
                </a:solidFill>
              </a:defRPr>
            </a:lvl1pPr>
          </a:lstStyle>
          <a:p>
            <a:pPr>
              <a:defRPr/>
            </a:pPr>
            <a:fld id="{82915F4B-4739-412D-8E30-3106A06A437F}" type="slidenum">
              <a:rPr lang="hu-HU"/>
              <a:t>‹#›</a:t>
            </a:fld>
            <a:endParaRPr lang="hu-HU" dirty="0"/>
          </a:p>
        </p:txBody>
      </p:sp>
      <p:sp>
        <p:nvSpPr>
          <p:cNvPr id="1031" name="Egyenes összekötő 28"/>
          <p:cNvSpPr>
            <a:spLocks noChangeShapeType="1"/>
          </p:cNvSpPr>
          <p:nvPr/>
        </p:nvSpPr>
        <p:spPr bwMode="auto">
          <a:xfrm flipV="1">
            <a:off x="1166813" y="1125538"/>
            <a:ext cx="7292975" cy="17462"/>
          </a:xfrm>
          <a:prstGeom prst="line">
            <a:avLst/>
          </a:prstGeom>
          <a:noFill/>
          <a:ln w="9525" algn="ctr">
            <a:solidFill>
              <a:schemeClr val="accent2"/>
            </a:solidFill>
            <a:prstDash val="dash"/>
            <a:round/>
            <a:headEnd/>
            <a:tailEnd/>
          </a:ln>
        </p:spPr>
        <p:txBody>
          <a:bodyPr/>
          <a:lstStyle/>
          <a:p>
            <a:endParaRPr lang="hu-HU"/>
          </a:p>
        </p:txBody>
      </p:sp>
    </p:spTree>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0" r:id="rId4"/>
    <p:sldLayoutId id="2147483779" r:id="rId5"/>
    <p:sldLayoutId id="2147483778" r:id="rId6"/>
    <p:sldLayoutId id="2147483789" r:id="rId7"/>
    <p:sldLayoutId id="2147483790" r:id="rId8"/>
    <p:sldLayoutId id="2147483791" r:id="rId9"/>
    <p:sldLayoutId id="2147483777" r:id="rId10"/>
    <p:sldLayoutId id="2147483792" r:id="rId11"/>
  </p:sldLayoutIdLst>
  <p:hf hd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j-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j-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j-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j-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j-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50" name="Cím helye 21"/>
          <p:cNvSpPr>
            <a:spLocks noGrp="1"/>
          </p:cNvSpPr>
          <p:nvPr>
            <p:ph type="title"/>
          </p:nvPr>
        </p:nvSpPr>
        <p:spPr bwMode="auto">
          <a:xfrm>
            <a:off x="1042988" y="188913"/>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hu-HU" smtClean="0"/>
              <a:t>Edit template name</a:t>
            </a:r>
            <a:endParaRPr lang="en-US" smtClean="0"/>
          </a:p>
        </p:txBody>
      </p:sp>
      <p:sp>
        <p:nvSpPr>
          <p:cNvPr id="2051" name="Szöveg helye 12"/>
          <p:cNvSpPr>
            <a:spLocks noGrp="1"/>
          </p:cNvSpPr>
          <p:nvPr>
            <p:ph type="body" idx="1"/>
          </p:nvPr>
        </p:nvSpPr>
        <p:spPr bwMode="auto">
          <a:xfrm>
            <a:off x="914400" y="1268413"/>
            <a:ext cx="8229600" cy="4910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hu-HU" smtClean="0"/>
              <a:t>Edit template text</a:t>
            </a:r>
          </a:p>
          <a:p>
            <a:pPr lvl="1"/>
            <a:r>
              <a:rPr lang="hu-HU" smtClean="0"/>
              <a:t>Second level</a:t>
            </a:r>
          </a:p>
          <a:p>
            <a:pPr lvl="2"/>
            <a:r>
              <a:rPr lang="hu-HU" smtClean="0"/>
              <a:t>Third level</a:t>
            </a:r>
          </a:p>
          <a:p>
            <a:pPr lvl="3"/>
            <a:r>
              <a:rPr lang="hu-HU" smtClean="0"/>
              <a:t>Fourth level</a:t>
            </a:r>
          </a:p>
          <a:p>
            <a:pPr lvl="4"/>
            <a:r>
              <a:rPr lang="hu-HU" smtClean="0"/>
              <a:t>Fifth level</a:t>
            </a:r>
            <a:endParaRPr lang="en-US" smtClean="0"/>
          </a:p>
        </p:txBody>
      </p:sp>
      <p:sp>
        <p:nvSpPr>
          <p:cNvPr id="14" name="Dátum helye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defRPr>
            </a:lvl1pPr>
          </a:lstStyle>
          <a:p>
            <a:pPr>
              <a:defRPr/>
            </a:pPr>
            <a:endParaRPr lang="hu-HU"/>
          </a:p>
        </p:txBody>
      </p:sp>
      <p:sp>
        <p:nvSpPr>
          <p:cNvPr id="3" name="Élőláb helye 2"/>
          <p:cNvSpPr>
            <a:spLocks noGrp="1"/>
          </p:cNvSpPr>
          <p:nvPr>
            <p:ph type="ftr" sz="quarter" idx="3"/>
          </p:nvPr>
        </p:nvSpPr>
        <p:spPr>
          <a:xfrm>
            <a:off x="323850" y="6356350"/>
            <a:ext cx="3505200" cy="365125"/>
          </a:xfrm>
          <a:prstGeom prst="rect">
            <a:avLst/>
          </a:prstGeom>
        </p:spPr>
        <p:txBody>
          <a:bodyPr vert="horz"/>
          <a:lstStyle>
            <a:lvl1pPr algn="ctr" eaLnBrk="1" latinLnBrk="0" hangingPunct="1">
              <a:defRPr kumimoji="0" sz="1400" smtClean="0">
                <a:solidFill>
                  <a:schemeClr val="tx2"/>
                </a:solidFill>
              </a:defRPr>
            </a:lvl1pPr>
          </a:lstStyle>
          <a:p>
            <a:pPr>
              <a:defRPr/>
            </a:pPr>
            <a:r>
              <a:rPr lang="hu-HU"/>
              <a:t>László Rátz, Travelling Assembly, 2013</a:t>
            </a:r>
            <a:endParaRPr lang="hu-HU" dirty="0"/>
          </a:p>
        </p:txBody>
      </p:sp>
      <p:sp>
        <p:nvSpPr>
          <p:cNvPr id="23" name="Dia számának helye 22"/>
          <p:cNvSpPr>
            <a:spLocks noGrp="1"/>
          </p:cNvSpPr>
          <p:nvPr>
            <p:ph type="sldNum" sz="quarter" idx="4"/>
          </p:nvPr>
        </p:nvSpPr>
        <p:spPr>
          <a:xfrm>
            <a:off x="8675688" y="6453188"/>
            <a:ext cx="433387" cy="365125"/>
          </a:xfrm>
          <a:prstGeom prst="rect">
            <a:avLst/>
          </a:prstGeom>
        </p:spPr>
        <p:txBody>
          <a:bodyPr vert="horz"/>
          <a:lstStyle>
            <a:lvl1pPr algn="ctr" eaLnBrk="1" latinLnBrk="0" hangingPunct="1">
              <a:defRPr kumimoji="0" sz="1400">
                <a:solidFill>
                  <a:schemeClr val="tx2"/>
                </a:solidFill>
              </a:defRPr>
            </a:lvl1pPr>
          </a:lstStyle>
          <a:p>
            <a:pPr>
              <a:defRPr/>
            </a:pPr>
            <a:fld id="{97C81405-6954-4689-AF51-ECFF3BC942A7}" type="slidenum">
              <a:rPr lang="hu-HU"/>
              <a:t>‹#›</a:t>
            </a:fld>
            <a:endParaRPr lang="hu-HU" dirty="0"/>
          </a:p>
        </p:txBody>
      </p:sp>
    </p:spTree>
  </p:cSld>
  <p:clrMap bg1="lt1" tx1="dk1" bg2="lt2" tx2="dk2" accent1="accent1" accent2="accent2" accent3="accent3" accent4="accent4" accent5="accent5" accent6="accent6" hlink="hlink" folHlink="folHlink"/>
  <p:sldLayoutIdLst>
    <p:sldLayoutId id="2147483793" r:id="rId1"/>
    <p:sldLayoutId id="2147483785" r:id="rId2"/>
    <p:sldLayoutId id="2147483794" r:id="rId3"/>
    <p:sldLayoutId id="2147483784" r:id="rId4"/>
    <p:sldLayoutId id="2147483783" r:id="rId5"/>
    <p:sldLayoutId id="2147483795" r:id="rId6"/>
    <p:sldLayoutId id="2147483796" r:id="rId7"/>
    <p:sldLayoutId id="2147483797" r:id="rId8"/>
    <p:sldLayoutId id="2147483798" r:id="rId9"/>
    <p:sldLayoutId id="2147483782" r:id="rId10"/>
    <p:sldLayoutId id="2147483799" r:id="rId11"/>
    <p:sldLayoutId id="2147483781" r:id="rId12"/>
  </p:sldLayoutIdLst>
  <p:hf hd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j-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j-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j-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j-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j-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hyperlink" Target="mailto:szilvi.nagy.sz@citromail.hu" TargetMode="External"/><Relationship Id="rId3" Type="http://schemas.openxmlformats.org/officeDocument/2006/relationships/hyperlink" Target="http://prime.jsc.nasa.gov/mathtrax/download.htm" TargetMode="External"/><Relationship Id="rId7" Type="http://schemas.openxmlformats.org/officeDocument/2006/relationships/hyperlink" Target="mailto:szakacsne.nagy.szilvia@gk.szie.hu"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hyperlink" Target="http://www.youtube.com/watch?v=zBzl4rqnoQs" TargetMode="External"/><Relationship Id="rId5" Type="http://schemas.openxmlformats.org/officeDocument/2006/relationships/hyperlink" Target="http://www.youtube.com/watch?v=lRCAsj6Y6_o" TargetMode="External"/><Relationship Id="rId4" Type="http://schemas.openxmlformats.org/officeDocument/2006/relationships/hyperlink" Target="http://www.youtube.com/watch?v=eOL8jXHvPx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youtube.com/watch?v=l1JfcOD1qjo"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GQmHb2cQ_io" TargetMode="External"/><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5.jpeg"/><Relationship Id="rId5" Type="http://schemas.openxmlformats.org/officeDocument/2006/relationships/hyperlink" Target="http://www.youtube.com/watch?v=nbVfVFatdYA" TargetMode="Externa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Se6xhYveQSM" TargetMode="Externa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7.jpeg"/><Relationship Id="rId5" Type="http://schemas.openxmlformats.org/officeDocument/2006/relationships/hyperlink" Target="http://www.youtube.com/watch?v=v1-rZnc49ow" TargetMode="Externa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FTU1Qs2bHm8"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9.jpeg"/><Relationship Id="rId5" Type="http://schemas.openxmlformats.org/officeDocument/2006/relationships/hyperlink" Target="http://www.youtube.com/watch?v=Xmyva6Hj2Ro" TargetMode="Externa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hyperlink" Target="http://www.youtube.com/watch?v=uOzovu7XotQ" TargetMode="External"/><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1.jpeg"/><Relationship Id="rId5" Type="http://schemas.openxmlformats.org/officeDocument/2006/relationships/hyperlink" Target="http://www.youtube.com/watch?v=L-o8KV1arbg" TargetMode="Externa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hyperlink" Target="http://www.youtube.com/watch?v=cwcMSYC0oJk" TargetMode="External"/><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hyperlink" Target="http://www.youtube.com/watch?v=CloMt-ai1ig" TargetMode="Externa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youtube.com/watch?v=n2afuVtrWTg" TargetMode="Externa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www.youtube.com/watch?v=0ErSW-rQt5U" TargetMode="External"/><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prime.jsc.nasa.gov/mathtrax/"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gfk.tsf.hu/hallhato-matematika/" TargetMode="External"/><Relationship Id="rId4" Type="http://schemas.openxmlformats.org/officeDocument/2006/relationships/hyperlink" Target="http://www.viewplus.com/"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xml.inf.elte.hu/~mathdid/" TargetMode="External"/><Relationship Id="rId2" Type="http://schemas.openxmlformats.org/officeDocument/2006/relationships/hyperlink" Target="http://www.magyarpedagogia.hu/document/Dohany_MP1103.pdf" TargetMode="External"/><Relationship Id="rId1" Type="http://schemas.openxmlformats.org/officeDocument/2006/relationships/slideLayout" Target="../slideLayouts/slideLayout2.xml"/><Relationship Id="rId4" Type="http://schemas.openxmlformats.org/officeDocument/2006/relationships/hyperlink" Target="http://www.viewplus.eu/" TargetMode="External"/></Relationships>
</file>

<file path=ppt/slides/_rels/slide27.xml.rels>&#65279;<?xml version="1.0" encoding="utf-8"?><Relationships xmlns="http://schemas.openxmlformats.org/package/2006/relationships"><Relationship Type="http://schemas.openxmlformats.org/officeDocument/2006/relationships/slideLayout" Target="/ppt/slideLayouts/slideLayout13.xml" Id="Rf50f0663c8be47f8" /><Relationship Type="http://schemas.openxmlformats.org/officeDocument/2006/relationships/hyperlink" Target="https://www.deepl.com/pro?cta=edit-document" TargetMode="External" Id="Rcaf8371d621c432b" /><Relationship Type="http://schemas.openxmlformats.org/officeDocument/2006/relationships/image" Target="/ppt/media/image7.png" Id="R322f6a0eaecd43cf"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1187450" y="1412875"/>
            <a:ext cx="6858000" cy="1990725"/>
          </a:xfrm>
        </p:spPr>
        <p:txBody>
          <a:bodyPr/>
          <a:lstStyle/>
          <a:p>
            <a:pPr algn="ctr" eaLnBrk="1" hangingPunct="1"/>
            <a:r>
              <a:rPr lang="hu-HU" smtClean="0"/>
              <a:t>Mathematics through sound –</a:t>
            </a:r>
            <a:br>
              <a:rPr lang="hu-HU" smtClean="0"/>
            </a:br>
            <a:r>
              <a:rPr lang="hu-HU" smtClean="0"/>
              <a:t>the potential applications of audio-visual presentations in the study of functions</a:t>
            </a:r>
            <a:br>
              <a:rPr lang="hu-HU" smtClean="0"/>
            </a:br>
            <a:endParaRPr lang="hu-HU" smtClean="0"/>
          </a:p>
        </p:txBody>
      </p:sp>
      <p:sp>
        <p:nvSpPr>
          <p:cNvPr id="17411" name="Rectangle 3"/>
          <p:cNvSpPr>
            <a:spLocks noGrp="1" noChangeArrowheads="1"/>
          </p:cNvSpPr>
          <p:nvPr>
            <p:ph type="subTitle" idx="4294967295"/>
          </p:nvPr>
        </p:nvSpPr>
        <p:spPr>
          <a:xfrm>
            <a:off x="1331913" y="4149725"/>
            <a:ext cx="6400800" cy="1752600"/>
          </a:xfrm>
        </p:spPr>
        <p:txBody>
          <a:bodyPr/>
          <a:lstStyle/>
          <a:p>
            <a:pPr algn="ctr" eaLnBrk="1" hangingPunct="1">
              <a:buFont typeface="Wingdings 3" pitchFamily="18" charset="2"/>
              <a:buNone/>
            </a:pPr>
            <a:r>
              <a:rPr lang="hu-HU" sz="2000" smtClean="0"/>
              <a:t>Szilvia Szakácsné Nagy</a:t>
            </a:r>
          </a:p>
          <a:p>
            <a:pPr algn="ctr" eaLnBrk="1" hangingPunct="1">
              <a:buFont typeface="Wingdings 3" pitchFamily="18" charset="2"/>
              <a:buNone/>
            </a:pPr>
            <a:r>
              <a:rPr lang="hu-HU" sz="1600" smtClean="0"/>
              <a:t>University of Debrecen</a:t>
            </a:r>
          </a:p>
          <a:p>
            <a:pPr algn="ctr" eaLnBrk="1" hangingPunct="1">
              <a:buFont typeface="Wingdings 3" pitchFamily="18" charset="2"/>
              <a:buNone/>
            </a:pPr>
            <a:r>
              <a:rPr lang="hu-HU" sz="1600" smtClean="0"/>
              <a:t>Doctoral School of Mathematics and Computational Sciences</a:t>
            </a:r>
          </a:p>
          <a:p>
            <a:pPr algn="ctr" eaLnBrk="1" hangingPunct="1">
              <a:buFont typeface="Wingdings 3" pitchFamily="18" charset="2"/>
              <a:buNone/>
            </a:pPr>
            <a:r>
              <a:rPr lang="hu-HU" sz="1600" smtClean="0"/>
              <a:t>Didactics (Methodology) programme, PhD candidate</a:t>
            </a:r>
            <a:endParaRPr lang="hu-HU" sz="2400" smtClean="0"/>
          </a:p>
        </p:txBody>
      </p:sp>
      <p:sp>
        <p:nvSpPr>
          <p:cNvPr id="17412" name="Text Box 4"/>
          <p:cNvSpPr txBox="1">
            <a:spLocks noChangeArrowheads="1"/>
          </p:cNvSpPr>
          <p:nvPr/>
        </p:nvSpPr>
        <p:spPr bwMode="auto">
          <a:xfrm>
            <a:off x="900113" y="6011863"/>
            <a:ext cx="6045200" cy="369887"/>
          </a:xfrm>
          <a:prstGeom prst="rect">
            <a:avLst/>
          </a:prstGeom>
          <a:noFill/>
          <a:ln w="9525">
            <a:noFill/>
            <a:miter lim="800000"/>
            <a:headEnd/>
            <a:tailEnd/>
          </a:ln>
        </p:spPr>
        <p:txBody>
          <a:bodyPr wrap="none">
            <a:spAutoFit/>
          </a:bodyPr>
          <a:lstStyle/>
          <a:p>
            <a:r>
              <a:rPr lang="hu-HU" i="1"/>
              <a:t>László Rátz Travelling Conference – Békéscsaba, 2–5 July 2013</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pPr eaLnBrk="1" fontAlgn="auto" hangingPunct="1">
              <a:spcAft>
                <a:spcPts val="0"/>
              </a:spcAft>
              <a:defRPr/>
            </a:pPr>
            <a:r>
              <a:rPr lang="hu-HU" dirty="0" smtClean="0"/>
              <a:t>A brief summary of the content</a:t>
            </a:r>
            <a:br>
              <a:rPr lang="hu-HU" dirty="0" smtClean="0"/>
            </a:br>
            <a:endParaRPr lang="hu-HU" dirty="0"/>
          </a:p>
        </p:txBody>
      </p:sp>
      <p:sp>
        <p:nvSpPr>
          <p:cNvPr id="18435"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E785968A-BD34-424A-9F33-ACA23E7B7994}" type="slidenum">
              <a:rPr lang="hu-HU" smtClean="0"/>
              <a:t>2</a:t>
            </a:fld>
            <a:endParaRPr lang="hu-HU" smtClean="0"/>
          </a:p>
        </p:txBody>
      </p:sp>
      <p:sp>
        <p:nvSpPr>
          <p:cNvPr id="18436" name="Tartalom helye 4"/>
          <p:cNvSpPr>
            <a:spLocks noGrp="1"/>
          </p:cNvSpPr>
          <p:nvPr>
            <p:ph sz="quarter" idx="1"/>
          </p:nvPr>
        </p:nvSpPr>
        <p:spPr>
          <a:xfrm>
            <a:off x="914400" y="1268413"/>
            <a:ext cx="8229600" cy="4752975"/>
          </a:xfrm>
        </p:spPr>
        <p:txBody>
          <a:bodyPr/>
          <a:lstStyle/>
          <a:p>
            <a:pPr marL="571500" indent="-571500" eaLnBrk="1" hangingPunct="1">
              <a:spcAft>
                <a:spcPts val="2400"/>
              </a:spcAft>
              <a:buFont typeface="Bookman Old Style" pitchFamily="18" charset="0"/>
              <a:buAutoNum type="romanUcPeriod"/>
            </a:pPr>
            <a:endParaRPr lang="hu-HU" smtClean="0"/>
          </a:p>
          <a:p>
            <a:pPr marL="571500" indent="-571500" eaLnBrk="1" hangingPunct="1">
              <a:spcAft>
                <a:spcPts val="2400"/>
              </a:spcAft>
              <a:buFont typeface="Bookman Old Style" pitchFamily="18" charset="0"/>
              <a:buAutoNum type="romanUcPeriod"/>
            </a:pPr>
            <a:r>
              <a:rPr lang="hu-HU" smtClean="0"/>
              <a:t>Objective</a:t>
            </a:r>
          </a:p>
          <a:p>
            <a:pPr marL="571500" indent="-571500" eaLnBrk="1" hangingPunct="1">
              <a:spcAft>
                <a:spcPts val="2400"/>
              </a:spcAft>
              <a:buFont typeface="Bookman Old Style" pitchFamily="18" charset="0"/>
              <a:buAutoNum type="romanUcPeriod"/>
            </a:pPr>
            <a:r>
              <a:rPr lang="hu-HU" smtClean="0"/>
              <a:t>Visible and audible properties of functions </a:t>
            </a:r>
          </a:p>
          <a:p>
            <a:pPr marL="571500" indent="-571500" eaLnBrk="1" hangingPunct="1">
              <a:spcAft>
                <a:spcPts val="2400"/>
              </a:spcAft>
              <a:buFont typeface="Bookman Old Style" pitchFamily="18" charset="0"/>
              <a:buAutoNum type="romanUcPeriod"/>
            </a:pPr>
            <a:r>
              <a:rPr lang="hu-HU" smtClean="0"/>
              <a:t>The advantages of audio-visual representation in function theory</a:t>
            </a:r>
          </a:p>
          <a:p>
            <a:pPr lvl="1" eaLnBrk="1" hangingPunct="1"/>
            <a:endParaRPr lang="hu-HU" smtClean="0"/>
          </a:p>
        </p:txBody>
      </p:sp>
      <p:sp>
        <p:nvSpPr>
          <p:cNvPr id="18437"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Conference, 2013</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042988" y="188913"/>
            <a:ext cx="8229600" cy="1511300"/>
          </a:xfrm>
        </p:spPr>
        <p:txBody>
          <a:bodyPr>
            <a:normAutofit fontScale="90000"/>
          </a:bodyPr>
          <a:lstStyle/>
          <a:p>
            <a:pPr eaLnBrk="1" fontAlgn="auto" hangingPunct="1">
              <a:spcAft>
                <a:spcPts val="0"/>
              </a:spcAft>
              <a:defRPr/>
            </a:pPr>
            <a:r>
              <a:rPr lang="hu-HU" dirty="0" smtClean="0"/>
              <a:t>Acknowledgements to the two institutions that provided the research base</a:t>
            </a:r>
            <a:br>
              <a:rPr lang="hu-HU" dirty="0" smtClean="0"/>
            </a:br>
            <a:endParaRPr lang="hu-HU" dirty="0"/>
          </a:p>
        </p:txBody>
      </p:sp>
      <p:sp>
        <p:nvSpPr>
          <p:cNvPr id="19459"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Travelling Conference, 2013</a:t>
            </a:r>
          </a:p>
        </p:txBody>
      </p:sp>
      <p:sp>
        <p:nvSpPr>
          <p:cNvPr id="19460"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7DC04D7C-EF84-4BD1-90A9-72FF5C25FDBD}" type="slidenum">
              <a:rPr lang="hu-HU" smtClean="0"/>
              <a:t>3</a:t>
            </a:fld>
            <a:endParaRPr lang="hu-HU" smtClean="0"/>
          </a:p>
        </p:txBody>
      </p:sp>
      <p:sp>
        <p:nvSpPr>
          <p:cNvPr id="19461" name="Tartalom helye 4"/>
          <p:cNvSpPr>
            <a:spLocks noGrp="1"/>
          </p:cNvSpPr>
          <p:nvPr>
            <p:ph sz="quarter" idx="1"/>
          </p:nvPr>
        </p:nvSpPr>
        <p:spPr>
          <a:xfrm>
            <a:off x="914400" y="1268413"/>
            <a:ext cx="8229600" cy="4938712"/>
          </a:xfrm>
        </p:spPr>
        <p:txBody>
          <a:bodyPr/>
          <a:lstStyle/>
          <a:p>
            <a:pPr eaLnBrk="1" hangingPunct="1">
              <a:spcBef>
                <a:spcPts val="6000"/>
              </a:spcBef>
              <a:buFont typeface="Wingdings 3" pitchFamily="18" charset="2"/>
              <a:buNone/>
            </a:pPr>
            <a:endParaRPr lang="hu-HU" i="1" smtClean="0"/>
          </a:p>
          <a:p>
            <a:pPr eaLnBrk="1" hangingPunct="1">
              <a:spcBef>
                <a:spcPts val="6000"/>
              </a:spcBef>
              <a:buFont typeface="Wingdings 3" pitchFamily="18" charset="2"/>
              <a:buNone/>
            </a:pPr>
            <a:r>
              <a:rPr lang="hu-HU" smtClean="0"/>
              <a:t>Kindergarten, Primary School, Special Vocational School and Methodological Institute for the Blind (2006–2009)</a:t>
            </a:r>
          </a:p>
          <a:p>
            <a:pPr eaLnBrk="1" hangingPunct="1">
              <a:spcBef>
                <a:spcPts val="6000"/>
              </a:spcBef>
              <a:buFont typeface="Wingdings 3" pitchFamily="18" charset="2"/>
              <a:buNone/>
            </a:pPr>
            <a:r>
              <a:rPr lang="hu-HU" smtClean="0"/>
              <a:t>Széchenyi István Bilingual Vocational Secondary School of Economics (2012/13)</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Wandering Assembly, 2013</a:t>
            </a:r>
          </a:p>
        </p:txBody>
      </p:sp>
      <p:sp>
        <p:nvSpPr>
          <p:cNvPr id="20483"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34B21F84-2ECF-484F-865D-A3FEE5318CA3}" type="slidenum">
              <a:rPr lang="hu-HU" smtClean="0"/>
              <a:t>4</a:t>
            </a:fld>
            <a:endParaRPr lang="hu-HU" smtClean="0"/>
          </a:p>
        </p:txBody>
      </p:sp>
      <p:sp>
        <p:nvSpPr>
          <p:cNvPr id="20484" name="Tartalom helye 4"/>
          <p:cNvSpPr>
            <a:spLocks noGrp="1"/>
          </p:cNvSpPr>
          <p:nvPr>
            <p:ph sz="quarter" idx="1"/>
          </p:nvPr>
        </p:nvSpPr>
        <p:spPr>
          <a:xfrm>
            <a:off x="323850" y="1268413"/>
            <a:ext cx="7704138" cy="4938712"/>
          </a:xfrm>
        </p:spPr>
        <p:txBody>
          <a:bodyPr/>
          <a:lstStyle/>
          <a:p>
            <a:pPr eaLnBrk="1" hangingPunct="1">
              <a:buFont typeface="Wingdings 3" pitchFamily="18" charset="2"/>
              <a:buNone/>
            </a:pPr>
            <a:endParaRPr lang="hu-HU" smtClean="0"/>
          </a:p>
          <a:p>
            <a:pPr eaLnBrk="1" hangingPunct="1">
              <a:buFont typeface="Wingdings 3" pitchFamily="18" charset="2"/>
              <a:buNone/>
            </a:pPr>
            <a:endParaRPr lang="hu-HU" smtClean="0"/>
          </a:p>
          <a:p>
            <a:pPr eaLnBrk="1" hangingPunct="1">
              <a:buFont typeface="Wingdings 3" pitchFamily="18" charset="2"/>
              <a:buNone/>
            </a:pPr>
            <a:r>
              <a:rPr lang="hu-HU" smtClean="0"/>
              <a:t>“The problems of learning and teaching are psychological problems…”</a:t>
            </a:r>
          </a:p>
          <a:p>
            <a:pPr eaLnBrk="1" hangingPunct="1">
              <a:buFont typeface="Wingdings 3" pitchFamily="18" charset="2"/>
              <a:buNone/>
            </a:pPr>
            <a:r>
              <a:rPr lang="hu-HU" smtClean="0"/>
              <a:t>“Generalising empirical observations leads to the mathematical model…”</a:t>
            </a:r>
          </a:p>
          <a:p>
            <a:pPr algn="r" eaLnBrk="1" hangingPunct="1">
              <a:buFont typeface="Wingdings 3" pitchFamily="18" charset="2"/>
              <a:buNone/>
            </a:pPr>
            <a:r>
              <a:rPr lang="hu-HU" smtClean="0"/>
              <a:t>Skemp</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ím 1"/>
          <p:cNvSpPr>
            <a:spLocks noGrp="1"/>
          </p:cNvSpPr>
          <p:nvPr>
            <p:ph type="title"/>
          </p:nvPr>
        </p:nvSpPr>
        <p:spPr/>
        <p:txBody>
          <a:bodyPr/>
          <a:lstStyle/>
          <a:p>
            <a:pPr eaLnBrk="1" hangingPunct="1"/>
            <a:r>
              <a:rPr lang="hu-HU" smtClean="0"/>
              <a:t>Objective</a:t>
            </a:r>
          </a:p>
        </p:txBody>
      </p:sp>
      <p:sp>
        <p:nvSpPr>
          <p:cNvPr id="21507"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Exhibition, 2013</a:t>
            </a:r>
          </a:p>
        </p:txBody>
      </p:sp>
      <p:sp>
        <p:nvSpPr>
          <p:cNvPr id="21508"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63BFF8C-51D2-450E-99BC-2E0EFB7A0A4F}" type="slidenum">
              <a:rPr lang="hu-HU" smtClean="0"/>
              <a:t>5</a:t>
            </a:fld>
            <a:endParaRPr lang="hu-HU" smtClean="0"/>
          </a:p>
        </p:txBody>
      </p:sp>
      <p:sp>
        <p:nvSpPr>
          <p:cNvPr id="5" name="Tartalom helye 4"/>
          <p:cNvSpPr>
            <a:spLocks noGrp="1"/>
          </p:cNvSpPr>
          <p:nvPr>
            <p:ph sz="quarter" idx="1"/>
          </p:nvPr>
        </p:nvSpPr>
        <p:spPr>
          <a:xfrm>
            <a:off x="914400" y="1268413"/>
            <a:ext cx="8229600" cy="4938712"/>
          </a:xfrm>
        </p:spPr>
        <p:txBody>
          <a:bodyPr>
            <a:normAutofit fontScale="77500" lnSpcReduction="20000"/>
          </a:bodyPr>
          <a:lstStyle/>
          <a:p>
            <a:pPr marL="0" indent="0" eaLnBrk="1" fontAlgn="auto" hangingPunct="1">
              <a:spcAft>
                <a:spcPts val="0"/>
              </a:spcAft>
              <a:buFont typeface="Wingdings 3"/>
              <a:buNone/>
              <a:defRPr/>
            </a:pPr>
            <a:r>
              <a:rPr lang="hu-HU" dirty="0" smtClean="0"/>
              <a:t>          The ‘systems of rules’ describing processes in fields such as economics and engineering can be modelled using far more complex equations and, in most cases, cannot even be  represented. </a:t>
            </a:r>
          </a:p>
          <a:p>
            <a:pPr marL="0" indent="0" eaLnBrk="1" fontAlgn="auto" hangingPunct="1">
              <a:spcAft>
                <a:spcPts val="0"/>
              </a:spcAft>
              <a:buFont typeface="Wingdings 3"/>
              <a:buNone/>
              <a:defRPr/>
            </a:pPr>
            <a:r>
              <a:rPr lang="hu-HU" i="1" dirty="0" smtClean="0"/>
              <a:t>          In many cases, it is essential </a:t>
            </a:r>
            <a:r>
              <a:rPr lang="hu-HU" i="1" dirty="0" smtClean="0"/>
              <a:t>to understand the relationship between </a:t>
            </a:r>
            <a:r>
              <a:rPr lang="hu-HU" i="1" dirty="0" smtClean="0"/>
              <a:t>reality and </a:t>
            </a:r>
            <a:r>
              <a:rPr lang="hu-HU" i="1" dirty="0" smtClean="0"/>
              <a:t>the presentation of</a:t>
            </a:r>
            <a:r>
              <a:rPr lang="hu-HU" i="1" dirty="0" smtClean="0"/>
              <a:t>a function </a:t>
            </a:r>
            <a:r>
              <a:rPr lang="hu-HU" i="1" dirty="0" smtClean="0"/>
              <a:t>on</a:t>
            </a:r>
            <a:r>
              <a:rPr lang="hu-HU" i="1" dirty="0" smtClean="0"/>
              <a:t>a symbolic plane </a:t>
            </a:r>
            <a:r>
              <a:rPr lang="hu-HU" sz="1800" i="1" dirty="0" smtClean="0"/>
              <a:t>(mathematical symbols) </a:t>
            </a:r>
            <a:r>
              <a:rPr lang="hu-HU" i="1" dirty="0" smtClean="0"/>
              <a:t>and to develop the ability to apply this understanding</a:t>
            </a:r>
            <a:r>
              <a:rPr lang="hu-HU" dirty="0" smtClean="0"/>
              <a:t>. Precise implementation falls to higher education, but what should we focus on during school education?</a:t>
            </a:r>
          </a:p>
          <a:p>
            <a:pPr marL="0" indent="0" eaLnBrk="1" fontAlgn="auto" hangingPunct="1">
              <a:spcAft>
                <a:spcPts val="0"/>
              </a:spcAft>
              <a:buFont typeface="Wingdings 3"/>
              <a:buNone/>
              <a:defRPr/>
            </a:pPr>
            <a:r>
              <a:rPr lang="hu-HU" dirty="0" smtClean="0"/>
              <a:t>Without claiming to be exhaustive, I would like to share and open up for discussion a few methodological observations that have emerged during my research.</a:t>
            </a:r>
          </a:p>
          <a:p>
            <a:pPr marL="0" indent="0" eaLnBrk="1" fontAlgn="auto" hangingPunct="1">
              <a:spcAft>
                <a:spcPts val="0"/>
              </a:spcAft>
              <a:buFont typeface="Wingdings 3"/>
              <a:buNone/>
              <a:defRPr/>
            </a:pPr>
            <a:endParaRPr lang="hu-HU" dirty="0"/>
          </a:p>
          <a:p>
            <a:pPr marL="274320" indent="-274320" eaLnBrk="1" fontAlgn="auto" hangingPunct="1">
              <a:spcAft>
                <a:spcPts val="0"/>
              </a:spcAft>
              <a:buFont typeface="Wingdings 3"/>
              <a:buChar char=""/>
              <a:defRPr/>
            </a:pPr>
            <a:r>
              <a:rPr lang="hu-HU" dirty="0" smtClean="0"/>
              <a:t>What is </a:t>
            </a:r>
            <a:r>
              <a:rPr lang="hu-HU" dirty="0" smtClean="0"/>
              <a:t>the purpose </a:t>
            </a:r>
            <a:r>
              <a:rPr lang="hu-HU" dirty="0" smtClean="0"/>
              <a:t>of graphing and </a:t>
            </a:r>
            <a:r>
              <a:rPr lang="hu-HU" dirty="0" err="1" smtClean="0"/>
              <a:t>characterising </a:t>
            </a:r>
            <a:r>
              <a:rPr lang="hu-HU" dirty="0" smtClean="0"/>
              <a:t>functions in terms of the development of the concept of a function?</a:t>
            </a:r>
          </a:p>
          <a:p>
            <a:pPr marL="274320" indent="-274320" eaLnBrk="1" fontAlgn="auto" hangingPunct="1">
              <a:spcAft>
                <a:spcPts val="0"/>
              </a:spcAft>
              <a:buFont typeface="Wingdings 3"/>
              <a:buChar char=""/>
              <a:defRPr/>
            </a:pPr>
            <a:endParaRPr lang="hu-HU" dirty="0"/>
          </a:p>
          <a:p>
            <a:pPr marL="274320" indent="-274320" eaLnBrk="1" fontAlgn="auto" hangingPunct="1">
              <a:spcAft>
                <a:spcPts val="0"/>
              </a:spcAft>
              <a:buFont typeface="Wingdings 3"/>
              <a:buChar char=""/>
              <a:defRPr/>
            </a:pPr>
            <a:r>
              <a:rPr lang="hu-HU" dirty="0" smtClean="0"/>
              <a:t>How can </a:t>
            </a:r>
            <a:r>
              <a:rPr lang="hu-HU" dirty="0" smtClean="0"/>
              <a:t>the use </a:t>
            </a:r>
            <a:r>
              <a:rPr lang="hu-HU" dirty="0" smtClean="0"/>
              <a:t>of </a:t>
            </a:r>
            <a:r>
              <a:rPr lang="hu-HU" dirty="0" err="1" smtClean="0"/>
              <a:t>audio-visual </a:t>
            </a:r>
            <a:r>
              <a:rPr lang="hu-HU" dirty="0" smtClean="0"/>
              <a:t>representations </a:t>
            </a:r>
            <a:r>
              <a:rPr lang="hu-HU" dirty="0" smtClean="0"/>
              <a:t>of functions aid progress</a:t>
            </a:r>
            <a:r>
              <a:rPr lang="hu-HU" dirty="0" smtClean="0"/>
              <a:t>?</a:t>
            </a:r>
          </a:p>
          <a:p>
            <a:pPr marL="0" indent="0" eaLnBrk="1" fontAlgn="auto" hangingPunct="1">
              <a:spcAft>
                <a:spcPts val="0"/>
              </a:spcAft>
              <a:buFont typeface="Wingdings 3"/>
              <a:buNone/>
              <a:defRPr/>
            </a:pPr>
            <a:endParaRPr lang="hu-HU" dirty="0" smtClean="0"/>
          </a:p>
        </p:txBody>
      </p:sp>
    </p:spTree>
  </p:cSld>
  <p:clrMapOvr>
    <a:masterClrMapping/>
  </p:clrMapOvr>
  <p:timing>
    <p:tnLst>
      <p:par>
        <p:cTn id="1" dur="indefinite" restart="never" nodeType="tmRoot"/>
      </p:par>
    </p:tnLst>
  </p:timing>
</p:sld>
</file>

<file path=ppt/slides/slide6.xml><?xml version="1.0" encoding="utf-8"?>
<p:sld xmlns:dgm="http://schemas.openxmlformats.org/drawingml/2006/diagram"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Élőláb helye 4"/>
          <p:cNvSpPr>
            <a:spLocks noGrp="1"/>
          </p:cNvSpPr>
          <p:nvPr>
            <p:ph type="ftr" sz="quarter" idx="11"/>
          </p:nvPr>
        </p:nvSpPr>
        <p:spPr bwMode="auto">
          <a:xfrm>
            <a:off x="323850" y="6303963"/>
            <a:ext cx="3505200" cy="365125"/>
          </a:xfrm>
          <a:noFill/>
          <a:ln>
            <a:miter lim="800000"/>
            <a:headEnd/>
            <a:tailEnd/>
          </a:ln>
        </p:spPr>
        <p:txBody>
          <a:bodyPr wrap="square" lIns="91440" tIns="45720" rIns="91440" bIns="45720" numCol="1" anchor="t" anchorCtr="0" compatLnSpc="1">
            <a:prstTxWarp prst="textNoShape">
              <a:avLst/>
            </a:prstTxWarp>
          </a:bodyPr>
          <a:lstStyle/>
          <a:p>
            <a:r>
              <a:rPr lang="hu-HU"/>
              <a:t>László Rátz: Wandering Assembly, 2013</a:t>
            </a:r>
          </a:p>
        </p:txBody>
      </p:sp>
      <p:sp>
        <p:nvSpPr>
          <p:cNvPr id="22531" name="Dia számának helye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CF3095C7-DBEA-4B79-85F5-0E78FA128093}" type="slidenum">
              <a:rPr lang="hu-HU" smtClean="0"/>
              <a:t>6</a:t>
            </a:fld>
            <a:endParaRPr lang="hu-HU" smtClean="0"/>
          </a:p>
        </p:txBody>
      </p:sp>
      <p:graphicFrame>
        <p:nvGraphicFramePr>
          <p:cNvPr id="7" name="Tartalom helye 6"/>
          <p:cNvGraphicFramePr>
            <a:graphicFrameLocks noGrp="1"/>
          </p:cNvGraphicFramePr>
          <p:nvPr>
            <p:ph sz="quarter" idx="1"/>
          </p:nvPr>
        </p:nvGraphicFramePr>
        <p:xfrm>
          <a:off x="0" y="1196752"/>
          <a:ext cx="9324528"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3" name="Cím 5"/>
          <p:cNvSpPr>
            <a:spLocks noGrp="1"/>
          </p:cNvSpPr>
          <p:nvPr>
            <p:ph type="title"/>
          </p:nvPr>
        </p:nvSpPr>
        <p:spPr/>
        <p:txBody>
          <a:bodyPr/>
          <a:lstStyle/>
          <a:p>
            <a:pPr marL="5649913" indent="-5649913" eaLnBrk="1" hangingPunct="1"/>
            <a:r>
              <a:rPr lang="hu-HU" sz="2900" smtClean="0"/>
              <a:t>Levels of function teaching </a:t>
            </a:r>
            <a:r>
              <a:rPr lang="hu-HU" sz="2200" smtClean="0"/>
              <a:t>(Peller 1998)</a:t>
            </a:r>
            <a:br>
              <a:rPr lang="hu-HU" sz="2200" smtClean="0"/>
            </a:br>
            <a:endParaRPr lang="hu-HU" sz="22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ím 1"/>
          <p:cNvSpPr>
            <a:spLocks noGrp="1"/>
          </p:cNvSpPr>
          <p:nvPr>
            <p:ph type="title"/>
          </p:nvPr>
        </p:nvSpPr>
        <p:spPr/>
        <p:txBody>
          <a:bodyPr/>
          <a:lstStyle/>
          <a:p>
            <a:pPr eaLnBrk="1" hangingPunct="1"/>
            <a:r>
              <a:rPr lang="hu-HU" smtClean="0"/>
              <a:t>The role of the graph in establishing connections</a:t>
            </a:r>
          </a:p>
        </p:txBody>
      </p:sp>
      <p:sp>
        <p:nvSpPr>
          <p:cNvPr id="23555"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Assembly, 2013</a:t>
            </a:r>
          </a:p>
        </p:txBody>
      </p:sp>
      <p:sp>
        <p:nvSpPr>
          <p:cNvPr id="23556"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52E64A0-546F-4BFE-BE2D-1259DA145F24}" type="slidenum">
              <a:rPr lang="hu-HU" smtClean="0"/>
              <a:t>7</a:t>
            </a:fld>
            <a:endParaRPr lang="hu-HU" smtClean="0"/>
          </a:p>
        </p:txBody>
      </p:sp>
      <p:sp>
        <p:nvSpPr>
          <p:cNvPr id="23557" name="Tartalom helye 4"/>
          <p:cNvSpPr>
            <a:spLocks noGrp="1"/>
          </p:cNvSpPr>
          <p:nvPr>
            <p:ph sz="quarter" idx="1"/>
          </p:nvPr>
        </p:nvSpPr>
        <p:spPr>
          <a:xfrm>
            <a:off x="914400" y="1268413"/>
            <a:ext cx="8229600" cy="4938712"/>
          </a:xfrm>
        </p:spPr>
        <p:txBody>
          <a:bodyPr/>
          <a:lstStyle/>
          <a:p>
            <a:pPr marL="0" indent="0" eaLnBrk="1" hangingPunct="1">
              <a:buFont typeface="Wingdings 3" pitchFamily="18" charset="2"/>
              <a:buNone/>
            </a:pPr>
            <a:r>
              <a:rPr lang="hu-HU" sz="2400" smtClean="0"/>
              <a:t>         Most of the real functions featured in textbooks can also be presented using graphs (depictions centred around the origin are particularly popular). </a:t>
            </a:r>
          </a:p>
          <a:p>
            <a:pPr marL="0" indent="0" eaLnBrk="1" hangingPunct="1">
              <a:buFont typeface="Wingdings 3" pitchFamily="18" charset="2"/>
              <a:buNone/>
            </a:pPr>
            <a:r>
              <a:rPr lang="hu-HU" sz="2400" smtClean="0"/>
              <a:t>        Growth relationships observable on the iconic communication plane, multi-perspective observations that can be carried out independently of one another </a:t>
            </a:r>
            <a:r>
              <a:rPr lang="hu-HU" sz="1700" smtClean="0"/>
              <a:t>(does the graph intersect the X-axis, does the origin lie on the curve, does the function value reach a specified limit within the defined range of interpretation, etc.) </a:t>
            </a:r>
            <a:r>
              <a:rPr lang="hu-HU" smtClean="0"/>
              <a:t>aim </a:t>
            </a:r>
            <a:r>
              <a:rPr lang="hu-HU" sz="2400" smtClean="0"/>
              <a:t>to establish a connection between processes observable in reality and the mathematical structure describing those processes.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pPr eaLnBrk="1" fontAlgn="auto" hangingPunct="1">
              <a:spcAft>
                <a:spcPts val="0"/>
              </a:spcAft>
              <a:defRPr/>
            </a:pPr>
            <a:r>
              <a:rPr lang="hu-HU" dirty="0" smtClean="0"/>
              <a:t>The role of the graph as a ‘bridge’ between the concrete and symbolic planes of communication</a:t>
            </a:r>
            <a:endParaRPr lang="hu-HU" dirty="0"/>
          </a:p>
        </p:txBody>
      </p:sp>
      <p:sp>
        <p:nvSpPr>
          <p:cNvPr id="24579"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Vándorgyülés, 2013</a:t>
            </a:r>
          </a:p>
        </p:txBody>
      </p:sp>
      <p:sp>
        <p:nvSpPr>
          <p:cNvPr id="24580"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73C0B3E-F5E4-43ED-AD67-FDDF4E5153FE}" type="slidenum">
              <a:rPr lang="hu-HU" smtClean="0"/>
              <a:t>8</a:t>
            </a:fld>
            <a:endParaRPr lang="hu-HU" smtClean="0"/>
          </a:p>
        </p:txBody>
      </p:sp>
      <p:sp>
        <p:nvSpPr>
          <p:cNvPr id="5" name="Tartalom helye 4"/>
          <p:cNvSpPr>
            <a:spLocks noGrp="1"/>
          </p:cNvSpPr>
          <p:nvPr>
            <p:ph sz="quarter" idx="1"/>
          </p:nvPr>
        </p:nvSpPr>
        <p:spPr>
          <a:xfrm>
            <a:off x="914400" y="1268413"/>
            <a:ext cx="8229600" cy="4938712"/>
          </a:xfrm>
        </p:spPr>
        <p:txBody>
          <a:bodyPr>
            <a:normAutofit fontScale="77500" lnSpcReduction="20000"/>
          </a:bodyPr>
          <a:lstStyle/>
          <a:p>
            <a:pPr marL="0" indent="0" eaLnBrk="1" fontAlgn="auto" hangingPunct="1">
              <a:spcAft>
                <a:spcPts val="0"/>
              </a:spcAft>
              <a:buFont typeface="Wingdings 3"/>
              <a:buNone/>
              <a:defRPr/>
            </a:pPr>
            <a:r>
              <a:rPr lang="hu-HU" dirty="0" smtClean="0"/>
              <a:t>         All three planes of communication—concrete, iconic and symbolic—which are well-known in the field of mathematics education and frequently used by colleagues, are employed in the topic of functions.</a:t>
            </a:r>
          </a:p>
          <a:p>
            <a:pPr marL="0" indent="0" eaLnBrk="1" fontAlgn="auto" hangingPunct="1">
              <a:spcAft>
                <a:spcPts val="0"/>
              </a:spcAft>
              <a:buFont typeface="Wingdings 3"/>
              <a:buNone/>
              <a:defRPr/>
            </a:pPr>
            <a:r>
              <a:rPr lang="hu-HU" dirty="0" smtClean="0"/>
              <a:t>         Whilst we imbue the symbol with meaning (we must agree on what we mean </a:t>
            </a:r>
            <a:r>
              <a:rPr lang="hu-HU" dirty="0" smtClean="0"/>
              <a:t>by </a:t>
            </a:r>
            <a:r>
              <a:rPr lang="hu-HU" i="1" dirty="0" smtClean="0"/>
              <a:t>x</a:t>
            </a:r>
            <a:r>
              <a:rPr lang="hu-HU" dirty="0" smtClean="0"/>
              <a:t>), the visual and auditory presentation on the iconic plane is capable of preserving numerous properties characteristic of the process. </a:t>
            </a:r>
          </a:p>
          <a:p>
            <a:pPr marL="0" indent="0" eaLnBrk="1" fontAlgn="auto" hangingPunct="1">
              <a:spcAft>
                <a:spcPts val="0"/>
              </a:spcAft>
              <a:buFont typeface="Wingdings 3"/>
              <a:buNone/>
              <a:defRPr/>
            </a:pPr>
            <a:r>
              <a:rPr lang="hu-HU" dirty="0" smtClean="0"/>
              <a:t>         If we succeed in ‘convincing’ the student that the graph is a representation of the model defined by the combination of the mapping rule, domain and range specified on the symbolic level, then the function graph truly fulfils its intended role. </a:t>
            </a:r>
          </a:p>
          <a:p>
            <a:pPr marL="0" indent="0" eaLnBrk="1" fontAlgn="auto" hangingPunct="1">
              <a:spcAft>
                <a:spcPts val="0"/>
              </a:spcAft>
              <a:buFont typeface="Wingdings 3"/>
              <a:buNone/>
              <a:defRPr/>
            </a:pPr>
            <a:r>
              <a:rPr lang="hu-HU" dirty="0" smtClean="0"/>
              <a:t>Unfortunately, among some students:</a:t>
            </a:r>
          </a:p>
          <a:p>
            <a:pPr marL="274320" indent="-274320" eaLnBrk="1" fontAlgn="auto" hangingPunct="1">
              <a:spcAft>
                <a:spcPts val="0"/>
              </a:spcAft>
              <a:buFont typeface="Arial" pitchFamily="34" charset="0"/>
              <a:buChar char="•"/>
              <a:defRPr/>
            </a:pPr>
            <a:r>
              <a:rPr lang="hu-HU" dirty="0" smtClean="0"/>
              <a:t>the graph somehow ‘takes over’ the role of the function along the way;</a:t>
            </a:r>
          </a:p>
          <a:p>
            <a:pPr marL="274320" indent="-274320" eaLnBrk="1" fontAlgn="auto" hangingPunct="1">
              <a:spcAft>
                <a:spcPts val="0"/>
              </a:spcAft>
              <a:buFont typeface="Arial" pitchFamily="34" charset="0"/>
              <a:buChar char="•"/>
              <a:defRPr/>
            </a:pPr>
            <a:r>
              <a:rPr lang="hu-HU" dirty="0" smtClean="0"/>
              <a:t>the set of ordered pairs presented in the Cartesian coordinate system takes on some sort of shape (e.g. resembling the letter W or a bowl, etc.).  </a:t>
            </a:r>
          </a:p>
          <a:p>
            <a:pPr marL="0" indent="0" eaLnBrk="1" fontAlgn="auto" hangingPunct="1">
              <a:spcAft>
                <a:spcPts val="0"/>
              </a:spcAft>
              <a:buFont typeface="Wingdings 3"/>
              <a:buNone/>
              <a:defRPr/>
            </a:pPr>
            <a:endParaRPr lang="hu-HU" dirty="0" smtClean="0"/>
          </a:p>
          <a:p>
            <a:pPr marL="274320" indent="-274320" eaLnBrk="1" fontAlgn="auto" hangingPunct="1">
              <a:spcAft>
                <a:spcPts val="0"/>
              </a:spcAft>
              <a:buFont typeface="Wingdings 3"/>
              <a:buChar char=""/>
              <a:defRPr/>
            </a:pPr>
            <a:endParaRPr lang="hu-H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ím 1"/>
          <p:cNvSpPr>
            <a:spLocks noGrp="1"/>
          </p:cNvSpPr>
          <p:nvPr>
            <p:ph type="title"/>
          </p:nvPr>
        </p:nvSpPr>
        <p:spPr/>
        <p:txBody>
          <a:bodyPr/>
          <a:lstStyle/>
          <a:p>
            <a:pPr eaLnBrk="1" hangingPunct="1"/>
            <a:r>
              <a:rPr lang="hu-HU" smtClean="0"/>
              <a:t>Tools</a:t>
            </a:r>
          </a:p>
        </p:txBody>
      </p:sp>
      <p:sp>
        <p:nvSpPr>
          <p:cNvPr id="25603"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Assembly, 2013</a:t>
            </a:r>
          </a:p>
        </p:txBody>
      </p:sp>
      <p:sp>
        <p:nvSpPr>
          <p:cNvPr id="25604"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C2060CCD-B5A1-4E74-B396-6DA076CD7348}" type="slidenum">
              <a:rPr lang="hu-HU" smtClean="0"/>
              <a:t>9</a:t>
            </a:fld>
            <a:endParaRPr lang="hu-HU" smtClean="0"/>
          </a:p>
        </p:txBody>
      </p:sp>
      <p:sp>
        <p:nvSpPr>
          <p:cNvPr id="25605" name="Tartalom helye 4"/>
          <p:cNvSpPr>
            <a:spLocks noGrp="1"/>
          </p:cNvSpPr>
          <p:nvPr>
            <p:ph sz="quarter" idx="1"/>
          </p:nvPr>
        </p:nvSpPr>
        <p:spPr>
          <a:xfrm>
            <a:off x="914400" y="1268413"/>
            <a:ext cx="8229600" cy="5184775"/>
          </a:xfrm>
        </p:spPr>
        <p:txBody>
          <a:bodyPr/>
          <a:lstStyle/>
          <a:p>
            <a:pPr marL="0" indent="0" eaLnBrk="1" hangingPunct="1">
              <a:buFont typeface="Wingdings 3" pitchFamily="18" charset="2"/>
              <a:buNone/>
            </a:pPr>
            <a:r>
              <a:rPr lang="hu-HU" smtClean="0"/>
              <a:t>      </a:t>
            </a:r>
            <a:r>
              <a:rPr lang="hu-HU" sz="2000" smtClean="0"/>
              <a:t>For graphing functions, the MathTrax software, developed by NASA (2006) and available for free download and use, can be downloaded from the following website: </a:t>
            </a:r>
          </a:p>
          <a:p>
            <a:pPr marL="0" indent="0" algn="ctr" eaLnBrk="1" hangingPunct="1">
              <a:buFont typeface="Wingdings 3" pitchFamily="18" charset="2"/>
              <a:buNone/>
            </a:pPr>
            <a:r>
              <a:rPr lang="hu-HU" sz="1800" b="1" smtClean="0">
                <a:hlinkClick r:id="rId3"/>
              </a:rPr>
              <a:t>http://prime.jsc.nasa.gov/mathtrax/download.htm</a:t>
            </a:r>
            <a:r>
              <a:rPr lang="hu-HU" sz="1800" b="1" smtClean="0"/>
              <a:t> </a:t>
            </a:r>
            <a:endParaRPr lang="hu-HU" sz="2000" b="1" smtClean="0"/>
          </a:p>
          <a:p>
            <a:pPr marL="0" indent="0" eaLnBrk="1" hangingPunct="1">
              <a:buFont typeface="Wingdings 3" pitchFamily="18" charset="2"/>
              <a:buNone/>
            </a:pPr>
            <a:r>
              <a:rPr lang="hu-HU" sz="2000" smtClean="0"/>
              <a:t>        During the experiment, the pupils learnt to use the software independently over the course of four lessons in the computer room, </a:t>
            </a:r>
            <a:r>
              <a:rPr lang="hu-HU" sz="2000" smtClean="0"/>
              <a:t>with the help of the</a:t>
            </a:r>
            <a:r>
              <a:rPr lang="hu-HU" sz="2000" smtClean="0"/>
              <a:t>following </a:t>
            </a:r>
            <a:r>
              <a:rPr lang="hu-HU" sz="2000" smtClean="0"/>
              <a:t>videos available </a:t>
            </a:r>
            <a:r>
              <a:rPr lang="hu-HU" sz="2000" smtClean="0"/>
              <a:t>on YouTube (</a:t>
            </a:r>
            <a:r>
              <a:rPr lang="hu-HU" sz="1400" smtClean="0"/>
              <a:t>which I created and which are also freely available)</a:t>
            </a:r>
            <a:r>
              <a:rPr lang="hu-HU" sz="2000" smtClean="0"/>
              <a:t>:</a:t>
            </a:r>
          </a:p>
          <a:p>
            <a:pPr marL="0" indent="0" eaLnBrk="1" hangingPunct="1">
              <a:buFont typeface="Wingdings 3" pitchFamily="18" charset="2"/>
              <a:buNone/>
            </a:pPr>
            <a:r>
              <a:rPr lang="hu-HU" sz="1800" b="1" smtClean="0">
                <a:hlinkClick r:id="rId4"/>
              </a:rPr>
              <a:t>Audible Maths – Function Transformation: Linear Function</a:t>
            </a:r>
            <a:endParaRPr lang="hu-HU" sz="1800" b="1" smtClean="0"/>
          </a:p>
          <a:p>
            <a:pPr marL="0" indent="0" eaLnBrk="1" hangingPunct="1">
              <a:buFont typeface="Wingdings 3" pitchFamily="18" charset="2"/>
              <a:buNone/>
            </a:pPr>
            <a:r>
              <a:rPr lang="hu-HU" sz="1800" b="1" smtClean="0">
                <a:hlinkClick r:id="rId5"/>
              </a:rPr>
              <a:t>Audible Maths – Function Transformation: Parabola</a:t>
            </a:r>
            <a:endParaRPr lang="hu-HU" sz="1800" b="1" smtClean="0"/>
          </a:p>
          <a:p>
            <a:pPr marL="0" indent="0" eaLnBrk="1" hangingPunct="1">
              <a:buFont typeface="Wingdings 3" pitchFamily="18" charset="2"/>
              <a:buNone/>
            </a:pPr>
            <a:r>
              <a:rPr lang="hu-HU" sz="1800" b="1" smtClean="0">
                <a:hlinkClick r:id="rId6"/>
              </a:rPr>
              <a:t>Audible Maths – Voicing time series: climate</a:t>
            </a:r>
            <a:endParaRPr lang="hu-HU" sz="1800" b="1" smtClean="0"/>
          </a:p>
          <a:p>
            <a:pPr marL="0" indent="0" eaLnBrk="1" hangingPunct="1">
              <a:buFont typeface="Wingdings 3" pitchFamily="18" charset="2"/>
              <a:buNone/>
            </a:pPr>
            <a:r>
              <a:rPr lang="hu-HU" sz="1800" smtClean="0"/>
              <a:t>          If required, a set of exercises tailored to individual needs can be requested at the following address:</a:t>
            </a:r>
          </a:p>
          <a:p>
            <a:pPr marL="0" indent="0" algn="ctr" eaLnBrk="1" hangingPunct="1">
              <a:buFont typeface="Wingdings 3" pitchFamily="18" charset="2"/>
              <a:buNone/>
            </a:pPr>
            <a:r>
              <a:rPr lang="hu-HU" sz="1800" smtClean="0">
                <a:hlinkClick r:id="rId7"/>
              </a:rPr>
              <a:t>szakacsne.nagy.szilvia@gk.szie.hu </a:t>
            </a:r>
            <a:r>
              <a:rPr lang="hu-HU" sz="1800" smtClean="0"/>
              <a:t> or</a:t>
            </a:r>
          </a:p>
          <a:p>
            <a:pPr marL="0" indent="0" algn="ctr" eaLnBrk="1" hangingPunct="1">
              <a:buFont typeface="Wingdings 3" pitchFamily="18" charset="2"/>
              <a:buNone/>
            </a:pPr>
            <a:r>
              <a:rPr lang="hu-HU" sz="1800" smtClean="0">
                <a:hlinkClick r:id="rId8"/>
              </a:rPr>
              <a:t>szilvi.nagy.sz@citromail.hu</a:t>
            </a:r>
            <a:endParaRPr lang="hu-HU" sz="1800" smtClean="0"/>
          </a:p>
          <a:p>
            <a:pPr marL="0" indent="0" eaLnBrk="1" hangingPunct="1">
              <a:buFont typeface="Wingdings 3" pitchFamily="18" charset="2"/>
              <a:buNone/>
            </a:pPr>
            <a:endParaRPr lang="hu-HU" smtClean="0"/>
          </a:p>
        </p:txBody>
      </p:sp>
    </p:spTree>
  </p:cSld>
  <p:clrMapOvr>
    <a:masterClrMapping/>
  </p:clrMapOvr>
  <p:timing>
    <p:tnLst>
      <p:par>
        <p:cTn id="1" dur="indefinite" restart="never" nodeType="tmRoot"/>
      </p:par>
    </p:tnLst>
  </p:timing>
</p:sld>
</file>

<file path=ppt/slides/slide10.xml><?xml version="1.0" encoding="utf-8"?>
<p:sld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467544" y="2852936"/>
            <a:ext cx="8532440" cy="1487016"/>
          </a:xfrm>
          <a:prstGeom prst="roundRect">
            <a:avLst/>
          </a:prstGeom>
          <a:solidFill>
            <a:schemeClr val="tx2">
              <a:lumMod val="20000"/>
              <a:lumOff val="80000"/>
            </a:schemeClr>
          </a:solidFill>
          <a:ln/>
          <a:scene3d>
            <a:camera prst="orthographicFront"/>
            <a:lightRig rig="threePt" dir="t"/>
          </a:scene3d>
          <a:sp3d>
            <a:bevelT/>
          </a:sp3d>
          <a:extLs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p>
            <a:pPr marL="571500" indent="-571500" algn="ctr" eaLnBrk="1" fontAlgn="auto" hangingPunct="1">
              <a:spcAft>
                <a:spcPts val="0"/>
              </a:spcAft>
              <a:buFont typeface="+mj-lt"/>
              <a:buAutoNum type="romanUcPeriod" startAt="2"/>
              <a:defRPr/>
            </a:pPr>
            <a:r>
              <a:rPr lang="hu-HU" dirty="0" smtClean="0"/>
              <a:t>Visible and audible function properties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116013" y="260350"/>
            <a:ext cx="7632700" cy="914400"/>
          </a:xfrm>
        </p:spPr>
        <p:txBody>
          <a:bodyPr>
            <a:normAutofit fontScale="90000"/>
          </a:bodyPr>
          <a:lstStyle/>
          <a:p>
            <a:pPr eaLnBrk="1" fontAlgn="auto" hangingPunct="1">
              <a:spcAft>
                <a:spcPts val="0"/>
              </a:spcAft>
              <a:defRPr/>
            </a:pPr>
            <a:r>
              <a:rPr lang="hu-HU" dirty="0" smtClean="0"/>
              <a:t>Audiovisual representation of function properties:</a:t>
            </a:r>
          </a:p>
        </p:txBody>
      </p:sp>
      <p:sp>
        <p:nvSpPr>
          <p:cNvPr id="27651"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374383C2-806E-4FB0-911C-71D387A64C4C}" type="slidenum">
              <a:rPr lang="hu-HU" smtClean="0"/>
              <a:t>11</a:t>
            </a:fld>
            <a:endParaRPr lang="hu-HU" smtClean="0"/>
          </a:p>
        </p:txBody>
      </p:sp>
      <p:sp>
        <p:nvSpPr>
          <p:cNvPr id="27652" name="Rectangle 3"/>
          <p:cNvSpPr>
            <a:spLocks noGrp="1" noChangeArrowheads="1"/>
          </p:cNvSpPr>
          <p:nvPr>
            <p:ph sz="quarter" idx="1"/>
          </p:nvPr>
        </p:nvSpPr>
        <p:spPr>
          <a:xfrm>
            <a:off x="827088" y="1773238"/>
            <a:ext cx="8135937" cy="4075112"/>
          </a:xfrm>
        </p:spPr>
        <p:txBody>
          <a:bodyPr/>
          <a:lstStyle/>
          <a:p>
            <a:pPr marL="457200" indent="-457200" eaLnBrk="1" hangingPunct="1">
              <a:lnSpc>
                <a:spcPct val="90000"/>
              </a:lnSpc>
              <a:spcBef>
                <a:spcPts val="1200"/>
              </a:spcBef>
              <a:buFont typeface="Bookman Old Style" pitchFamily="18" charset="0"/>
              <a:buAutoNum type="arabicPeriod"/>
            </a:pPr>
            <a:r>
              <a:rPr lang="hu-HU" sz="2400" smtClean="0">
                <a:hlinkClick r:id="rId3" action="ppaction://hlinksldjump"/>
              </a:rPr>
              <a:t>Positive and negative function values, zero point</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The process of increasing</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The process of decreasing</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Local extrema</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Functions bounded from below and above</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Even (and odd) functions</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Periodic functions</a:t>
            </a:r>
            <a:endParaRPr lang="hu-HU" sz="2400" smtClean="0"/>
          </a:p>
          <a:p>
            <a:pPr marL="457200" indent="-457200" eaLnBrk="1" hangingPunct="1">
              <a:lnSpc>
                <a:spcPct val="90000"/>
              </a:lnSpc>
              <a:spcBef>
                <a:spcPts val="1200"/>
              </a:spcBef>
              <a:buFont typeface="Bookman Old Style" pitchFamily="18" charset="0"/>
              <a:buAutoNum type="arabicPeriod"/>
            </a:pPr>
            <a:r>
              <a:rPr lang="hu-HU" sz="2400" smtClean="0">
                <a:hlinkClick r:id="" action="ppaction://noaction"/>
              </a:rPr>
              <a:t>Points of discontinuity</a:t>
            </a:r>
            <a:endParaRPr lang="hu-HU" sz="2400" smtClean="0"/>
          </a:p>
        </p:txBody>
      </p:sp>
      <p:sp>
        <p:nvSpPr>
          <p:cNvPr id="6" name="Élőláb helye 5"/>
          <p:cNvSpPr>
            <a:spLocks noGrp="1"/>
          </p:cNvSpPr>
          <p:nvPr>
            <p:ph type="ftr" sz="quarter" idx="11"/>
          </p:nvPr>
        </p:nvSpPr>
        <p:spPr>
          <a:xfrm>
            <a:off x="5292725" y="5661025"/>
            <a:ext cx="3505200" cy="366713"/>
          </a:xfrm>
        </p:spPr>
        <p:txBody>
          <a:bodyPr/>
          <a:lstStyle/>
          <a:p>
            <a:pPr algn="r">
              <a:defRPr/>
            </a:pPr>
            <a:r>
              <a:rPr lang="hu-HU" sz="2000">
                <a:latin typeface="+mj-lt"/>
                <a:hlinkClick r:id="" action="ppaction://noaction"/>
              </a:rPr>
              <a:t>László Rátz, Travelling Conference, 2013</a:t>
            </a:r>
            <a:endParaRPr lang="hu-HU" sz="2000" dirty="0">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normAutofit fontScale="90000"/>
          </a:bodyPr>
          <a:lstStyle/>
          <a:p>
            <a:pPr eaLnBrk="1" fontAlgn="auto" hangingPunct="1">
              <a:spcAft>
                <a:spcPts val="0"/>
              </a:spcAft>
              <a:defRPr/>
            </a:pPr>
            <a:r>
              <a:rPr lang="hu-HU" dirty="0" smtClean="0"/>
              <a:t>Positive and negative function values, </a:t>
            </a:r>
            <a:r>
              <a:rPr lang="hu-HU" dirty="0" err="1" smtClean="0"/>
              <a:t>zeroes</a:t>
            </a:r>
            <a:endParaRPr lang="hu-HU" dirty="0" smtClean="0">
              <a:sym typeface="Webdings" pitchFamily="18" charset="2"/>
            </a:endParaRPr>
          </a:p>
        </p:txBody>
      </p:sp>
      <p:sp>
        <p:nvSpPr>
          <p:cNvPr id="28675" name="Élőláb helye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Travelling Conference, 2013</a:t>
            </a:r>
          </a:p>
        </p:txBody>
      </p:sp>
      <p:sp>
        <p:nvSpPr>
          <p:cNvPr id="28676" name="Dia számának helye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1CF10206-D709-4CBD-9A4C-94107053F340}" type="slidenum">
              <a:rPr lang="hu-HU" smtClean="0"/>
              <a:t>12</a:t>
            </a:fld>
            <a:endParaRPr lang="hu-HU" smtClean="0"/>
          </a:p>
        </p:txBody>
      </p:sp>
      <p:sp>
        <p:nvSpPr>
          <p:cNvPr id="28677" name="Rectangle 3"/>
          <p:cNvSpPr>
            <a:spLocks noGrp="1" noChangeArrowheads="1"/>
          </p:cNvSpPr>
          <p:nvPr>
            <p:ph sz="quarter" idx="1"/>
          </p:nvPr>
        </p:nvSpPr>
        <p:spPr>
          <a:xfrm>
            <a:off x="827088" y="1341438"/>
            <a:ext cx="8208962" cy="4937125"/>
          </a:xfrm>
        </p:spPr>
        <p:txBody>
          <a:bodyPr/>
          <a:lstStyle/>
          <a:p>
            <a:pPr eaLnBrk="1" hangingPunct="1">
              <a:spcBef>
                <a:spcPts val="3000"/>
              </a:spcBef>
              <a:buFont typeface="Wingdings" pitchFamily="2" charset="2"/>
              <a:buNone/>
            </a:pPr>
            <a:r>
              <a:rPr lang="hu-HU" smtClean="0">
                <a:sym typeface="Webdings" pitchFamily="18" charset="2"/>
              </a:rPr>
              <a:t>Following the ‘negative values’ in the sound sample, accompanied by a rising, hissing sound (white noise), a whistle indicates the zero point, after which clear rising tones signal the positive values.</a:t>
            </a:r>
          </a:p>
          <a:p>
            <a:pPr algn="ctr" eaLnBrk="1" hangingPunct="1">
              <a:buFont typeface="Wingdings" pitchFamily="2" charset="2"/>
              <a:buNone/>
            </a:pPr>
            <a:r>
              <a:rPr lang="hu-HU" smtClean="0">
                <a:sym typeface="Webdings" pitchFamily="18" charset="2"/>
              </a:rPr>
              <a:t> </a:t>
            </a:r>
          </a:p>
        </p:txBody>
      </p:sp>
      <p:pic>
        <p:nvPicPr>
          <p:cNvPr id="28678" name="Kép 5" descr="negativ_pozitiv_zerushely_feher.png">
            <a:hlinkClick r:id="rId2"/>
          </p:cNvPr>
          <p:cNvPicPr>
            <a:picLocks noChangeAspect="1"/>
          </p:cNvPicPr>
          <p:nvPr/>
        </p:nvPicPr>
        <p:blipFill>
          <a:blip r:embed="rId3"/>
          <a:srcRect/>
          <a:stretch>
            <a:fillRect/>
          </a:stretch>
        </p:blipFill>
        <p:spPr bwMode="auto">
          <a:xfrm>
            <a:off x="2916238" y="2997200"/>
            <a:ext cx="2871787" cy="3252788"/>
          </a:xfrm>
          <a:prstGeom prst="rect">
            <a:avLst/>
          </a:prstGeom>
          <a:noFill/>
          <a:ln w="9525">
            <a:solidFill>
              <a:schemeClr val="tx1"/>
            </a:solidFill>
            <a:miter lim="800000"/>
            <a:headEnd/>
            <a:tailEnd/>
          </a:ln>
        </p:spPr>
      </p:pic>
      <p:sp>
        <p:nvSpPr>
          <p:cNvPr id="7" name="Akciógomb: Visszatérés 6">
            <a:hlinkClick r:id="" action="ppaction://noaction" highlightClick="1"/>
          </p:cNvPr>
          <p:cNvSpPr/>
          <p:nvPr/>
        </p:nvSpPr>
        <p:spPr>
          <a:xfrm>
            <a:off x="7885113" y="60928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29699"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75D13A68-A640-47F2-85C7-7CD1721D8AA3}" type="slidenum">
              <a:rPr lang="hu-HU" smtClean="0"/>
              <a:t>13</a:t>
            </a:fld>
            <a:endParaRPr lang="hu-HU" smtClean="0"/>
          </a:p>
        </p:txBody>
      </p:sp>
      <p:sp>
        <p:nvSpPr>
          <p:cNvPr id="29700" name="Rectangle 3"/>
          <p:cNvSpPr>
            <a:spLocks noGrp="1" noChangeArrowheads="1"/>
          </p:cNvSpPr>
          <p:nvPr>
            <p:ph sz="quarter" idx="1"/>
          </p:nvPr>
        </p:nvSpPr>
        <p:spPr>
          <a:xfrm>
            <a:off x="1116013" y="1484313"/>
            <a:ext cx="3671887" cy="4498975"/>
          </a:xfrm>
        </p:spPr>
        <p:txBody>
          <a:bodyPr/>
          <a:lstStyle/>
          <a:p>
            <a:pPr algn="ctr" eaLnBrk="1" hangingPunct="1">
              <a:buFont typeface="Wingdings" pitchFamily="2" charset="2"/>
              <a:buNone/>
            </a:pPr>
            <a:r>
              <a:rPr lang="hu-HU" smtClean="0"/>
              <a:t>Convexly</a:t>
            </a:r>
          </a:p>
        </p:txBody>
      </p:sp>
      <p:sp>
        <p:nvSpPr>
          <p:cNvPr id="29701" name="Rectangle 4"/>
          <p:cNvSpPr>
            <a:spLocks noGrp="1" noChangeArrowheads="1"/>
          </p:cNvSpPr>
          <p:nvPr>
            <p:ph sz="quarter" idx="2"/>
          </p:nvPr>
        </p:nvSpPr>
        <p:spPr>
          <a:xfrm>
            <a:off x="5148263" y="1484313"/>
            <a:ext cx="3600450" cy="5008562"/>
          </a:xfrm>
        </p:spPr>
        <p:txBody>
          <a:bodyPr/>
          <a:lstStyle/>
          <a:p>
            <a:pPr algn="ctr" eaLnBrk="1" hangingPunct="1">
              <a:buFont typeface="Wingdings" pitchFamily="2" charset="2"/>
              <a:buNone/>
            </a:pPr>
            <a:r>
              <a:rPr lang="hu-HU" smtClean="0"/>
              <a:t>Convexly</a:t>
            </a:r>
          </a:p>
        </p:txBody>
      </p:sp>
      <p:pic>
        <p:nvPicPr>
          <p:cNvPr id="29702" name="Picture 6" descr="nov_konkav">
            <a:hlinkClick r:id="rId3"/>
          </p:cNvPr>
          <p:cNvPicPr>
            <a:picLocks noChangeAspect="1" noChangeArrowheads="1"/>
          </p:cNvPicPr>
          <p:nvPr/>
        </p:nvPicPr>
        <p:blipFill>
          <a:blip r:embed="rId4"/>
          <a:srcRect/>
          <a:stretch>
            <a:fillRect/>
          </a:stretch>
        </p:blipFill>
        <p:spPr bwMode="auto">
          <a:xfrm>
            <a:off x="5148263" y="2349500"/>
            <a:ext cx="3600450" cy="3446463"/>
          </a:xfrm>
          <a:prstGeom prst="rect">
            <a:avLst/>
          </a:prstGeom>
          <a:noFill/>
          <a:ln w="9525">
            <a:solidFill>
              <a:schemeClr val="tx1"/>
            </a:solidFill>
            <a:miter lim="800000"/>
            <a:headEnd/>
            <a:tailEnd/>
          </a:ln>
        </p:spPr>
      </p:pic>
      <p:pic>
        <p:nvPicPr>
          <p:cNvPr id="29703" name="Picture 7" descr="nov_konvex">
            <a:hlinkClick r:id="rId5"/>
          </p:cNvPr>
          <p:cNvPicPr>
            <a:picLocks noChangeAspect="1" noChangeArrowheads="1"/>
          </p:cNvPicPr>
          <p:nvPr/>
        </p:nvPicPr>
        <p:blipFill>
          <a:blip r:embed="rId6"/>
          <a:srcRect/>
          <a:stretch>
            <a:fillRect/>
          </a:stretch>
        </p:blipFill>
        <p:spPr bwMode="auto">
          <a:xfrm>
            <a:off x="1116013" y="2349500"/>
            <a:ext cx="3673475" cy="3457575"/>
          </a:xfrm>
          <a:prstGeom prst="rect">
            <a:avLst/>
          </a:prstGeom>
          <a:noFill/>
          <a:ln w="9525">
            <a:solidFill>
              <a:schemeClr val="tx1"/>
            </a:solidFill>
            <a:miter lim="800000"/>
            <a:headEnd/>
            <a:tailEnd/>
          </a:ln>
        </p:spPr>
      </p:pic>
      <p:sp>
        <p:nvSpPr>
          <p:cNvPr id="12"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sym typeface="Webdings" pitchFamily="18" charset="2"/>
              </a:rPr>
              <a:t>Increasing function</a:t>
            </a:r>
            <a:br>
              <a:rPr lang="hu-HU" dirty="0" smtClean="0">
                <a:sym typeface="Webdings" pitchFamily="18" charset="2"/>
              </a:rPr>
            </a:br>
            <a:endParaRPr lang="hu-HU" dirty="0" smtClean="0">
              <a:sym typeface="Webdings" pitchFamily="18" charset="2"/>
            </a:endParaRPr>
          </a:p>
        </p:txBody>
      </p:sp>
      <p:sp>
        <p:nvSpPr>
          <p:cNvPr id="9" name="Akciógomb: Visszatérés 8">
            <a:hlinkClick r:id="" action="ppaction://noaction" highlightClick="1"/>
          </p:cNvPr>
          <p:cNvSpPr/>
          <p:nvPr/>
        </p:nvSpPr>
        <p:spPr>
          <a:xfrm>
            <a:off x="7956550" y="6165850"/>
            <a:ext cx="503238" cy="358775"/>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30723"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ACDF078-ACB1-42E5-96E8-2F62072C9A4E}" type="slidenum">
              <a:rPr lang="hu-HU" smtClean="0"/>
              <a:t>14</a:t>
            </a:fld>
            <a:endParaRPr lang="hu-HU" smtClean="0"/>
          </a:p>
        </p:txBody>
      </p:sp>
      <p:sp>
        <p:nvSpPr>
          <p:cNvPr id="30724" name="Rectangle 3"/>
          <p:cNvSpPr>
            <a:spLocks noGrp="1" noChangeArrowheads="1"/>
          </p:cNvSpPr>
          <p:nvPr>
            <p:ph sz="quarter" idx="1"/>
          </p:nvPr>
        </p:nvSpPr>
        <p:spPr>
          <a:xfrm>
            <a:off x="1187450" y="1484313"/>
            <a:ext cx="3455988" cy="4537075"/>
          </a:xfrm>
        </p:spPr>
        <p:txBody>
          <a:bodyPr/>
          <a:lstStyle/>
          <a:p>
            <a:pPr algn="ctr" eaLnBrk="1" hangingPunct="1">
              <a:buFont typeface="Wingdings" pitchFamily="2" charset="2"/>
              <a:buNone/>
            </a:pPr>
            <a:r>
              <a:rPr lang="hu-HU" smtClean="0"/>
              <a:t>Convexly </a:t>
            </a:r>
          </a:p>
        </p:txBody>
      </p:sp>
      <p:sp>
        <p:nvSpPr>
          <p:cNvPr id="30725" name="Rectangle 4"/>
          <p:cNvSpPr>
            <a:spLocks noGrp="1" noChangeArrowheads="1"/>
          </p:cNvSpPr>
          <p:nvPr>
            <p:ph sz="quarter" idx="2"/>
          </p:nvPr>
        </p:nvSpPr>
        <p:spPr>
          <a:xfrm>
            <a:off x="5148263" y="1484313"/>
            <a:ext cx="3455987" cy="4681537"/>
          </a:xfrm>
        </p:spPr>
        <p:txBody>
          <a:bodyPr/>
          <a:lstStyle/>
          <a:p>
            <a:pPr algn="ctr" eaLnBrk="1" hangingPunct="1">
              <a:buFont typeface="Wingdings" pitchFamily="2" charset="2"/>
              <a:buNone/>
            </a:pPr>
            <a:r>
              <a:rPr lang="hu-HU" smtClean="0"/>
              <a:t>Convexly</a:t>
            </a:r>
          </a:p>
        </p:txBody>
      </p:sp>
      <p:pic>
        <p:nvPicPr>
          <p:cNvPr id="30726" name="Picture 6" descr="csokkeno_konvex">
            <a:hlinkClick r:id="rId3"/>
          </p:cNvPr>
          <p:cNvPicPr>
            <a:picLocks noChangeAspect="1" noChangeArrowheads="1"/>
          </p:cNvPicPr>
          <p:nvPr/>
        </p:nvPicPr>
        <p:blipFill>
          <a:blip r:embed="rId4"/>
          <a:srcRect/>
          <a:stretch>
            <a:fillRect/>
          </a:stretch>
        </p:blipFill>
        <p:spPr bwMode="auto">
          <a:xfrm>
            <a:off x="1150938" y="2373313"/>
            <a:ext cx="3527425" cy="3397250"/>
          </a:xfrm>
          <a:prstGeom prst="rect">
            <a:avLst/>
          </a:prstGeom>
          <a:noFill/>
          <a:ln w="9525">
            <a:noFill/>
            <a:miter lim="800000"/>
            <a:headEnd/>
            <a:tailEnd/>
          </a:ln>
        </p:spPr>
      </p:pic>
      <p:pic>
        <p:nvPicPr>
          <p:cNvPr id="30727" name="Picture 7" descr="csokkeno_konkav">
            <a:hlinkClick r:id="rId5"/>
          </p:cNvPr>
          <p:cNvPicPr>
            <a:picLocks noChangeAspect="1" noChangeArrowheads="1"/>
          </p:cNvPicPr>
          <p:nvPr/>
        </p:nvPicPr>
        <p:blipFill>
          <a:blip r:embed="rId6"/>
          <a:srcRect/>
          <a:stretch>
            <a:fillRect/>
          </a:stretch>
        </p:blipFill>
        <p:spPr bwMode="auto">
          <a:xfrm>
            <a:off x="5148263" y="2349500"/>
            <a:ext cx="3529012" cy="3421063"/>
          </a:xfrm>
          <a:prstGeom prst="rect">
            <a:avLst/>
          </a:prstGeom>
          <a:noFill/>
          <a:ln w="9525">
            <a:noFill/>
            <a:miter lim="800000"/>
            <a:headEnd/>
            <a:tailEnd/>
          </a:ln>
        </p:spPr>
      </p:pic>
      <p:sp>
        <p:nvSpPr>
          <p:cNvPr id="9"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sym typeface="Webdings" pitchFamily="18" charset="2"/>
              </a:rPr>
              <a:t>Decreasing function</a:t>
            </a:r>
            <a:br>
              <a:rPr lang="hu-HU" dirty="0" smtClean="0">
                <a:sym typeface="Webdings" pitchFamily="18" charset="2"/>
              </a:rPr>
            </a:br>
            <a:endParaRPr lang="hu-HU" dirty="0" smtClean="0">
              <a:sym typeface="Webdings" pitchFamily="18" charset="2"/>
            </a:endParaRPr>
          </a:p>
        </p:txBody>
      </p:sp>
      <p:sp>
        <p:nvSpPr>
          <p:cNvPr id="10" name="Akciógomb: Visszatérés 9">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31747"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075EAA7-415B-499B-8167-D57B9901A958}" type="slidenum">
              <a:rPr lang="hu-HU" smtClean="0"/>
              <a:t>15</a:t>
            </a:fld>
            <a:endParaRPr lang="hu-HU" smtClean="0"/>
          </a:p>
        </p:txBody>
      </p:sp>
      <p:sp>
        <p:nvSpPr>
          <p:cNvPr id="31748" name="Rectangle 3"/>
          <p:cNvSpPr>
            <a:spLocks noGrp="1" noChangeArrowheads="1"/>
          </p:cNvSpPr>
          <p:nvPr>
            <p:ph sz="quarter" idx="1"/>
          </p:nvPr>
        </p:nvSpPr>
        <p:spPr>
          <a:xfrm>
            <a:off x="971550" y="1412875"/>
            <a:ext cx="3671888" cy="4570413"/>
          </a:xfrm>
        </p:spPr>
        <p:txBody>
          <a:bodyPr/>
          <a:lstStyle/>
          <a:p>
            <a:pPr algn="ctr" eaLnBrk="1" hangingPunct="1">
              <a:buFont typeface="Wingdings" pitchFamily="2" charset="2"/>
              <a:buNone/>
            </a:pPr>
            <a:r>
              <a:rPr lang="hu-HU" smtClean="0"/>
              <a:t>Local minimum </a:t>
            </a:r>
          </a:p>
        </p:txBody>
      </p:sp>
      <p:sp>
        <p:nvSpPr>
          <p:cNvPr id="31749" name="Rectangle 4"/>
          <p:cNvSpPr>
            <a:spLocks noGrp="1" noChangeArrowheads="1"/>
          </p:cNvSpPr>
          <p:nvPr>
            <p:ph sz="quarter" idx="2"/>
          </p:nvPr>
        </p:nvSpPr>
        <p:spPr>
          <a:xfrm>
            <a:off x="5076825" y="1412875"/>
            <a:ext cx="3671888" cy="4719638"/>
          </a:xfrm>
        </p:spPr>
        <p:txBody>
          <a:bodyPr/>
          <a:lstStyle/>
          <a:p>
            <a:pPr algn="ctr" eaLnBrk="1" hangingPunct="1">
              <a:buFont typeface="Wingdings" pitchFamily="2" charset="2"/>
              <a:buNone/>
            </a:pPr>
            <a:r>
              <a:rPr lang="hu-HU" smtClean="0"/>
              <a:t>Local maximum point</a:t>
            </a:r>
          </a:p>
        </p:txBody>
      </p:sp>
      <p:pic>
        <p:nvPicPr>
          <p:cNvPr id="31750" name="Picture 6" descr="lok_max">
            <a:hlinkClick r:id="rId3"/>
          </p:cNvPr>
          <p:cNvPicPr>
            <a:picLocks noChangeAspect="1" noChangeArrowheads="1"/>
          </p:cNvPicPr>
          <p:nvPr/>
        </p:nvPicPr>
        <p:blipFill>
          <a:blip r:embed="rId4"/>
          <a:srcRect/>
          <a:stretch>
            <a:fillRect/>
          </a:stretch>
        </p:blipFill>
        <p:spPr bwMode="auto">
          <a:xfrm>
            <a:off x="5076825" y="2276475"/>
            <a:ext cx="3671888" cy="3543300"/>
          </a:xfrm>
          <a:prstGeom prst="rect">
            <a:avLst/>
          </a:prstGeom>
          <a:noFill/>
          <a:ln w="9525">
            <a:noFill/>
            <a:miter lim="800000"/>
            <a:headEnd/>
            <a:tailEnd/>
          </a:ln>
        </p:spPr>
      </p:pic>
      <p:pic>
        <p:nvPicPr>
          <p:cNvPr id="31751" name="Picture 7" descr="lok_min">
            <a:hlinkClick r:id="rId5"/>
          </p:cNvPr>
          <p:cNvPicPr>
            <a:picLocks noChangeAspect="1" noChangeArrowheads="1"/>
          </p:cNvPicPr>
          <p:nvPr/>
        </p:nvPicPr>
        <p:blipFill>
          <a:blip r:embed="rId6"/>
          <a:srcRect/>
          <a:stretch>
            <a:fillRect/>
          </a:stretch>
        </p:blipFill>
        <p:spPr bwMode="auto">
          <a:xfrm>
            <a:off x="971550" y="2276475"/>
            <a:ext cx="3671888" cy="3543300"/>
          </a:xfrm>
          <a:prstGeom prst="rect">
            <a:avLst/>
          </a:prstGeom>
          <a:noFill/>
          <a:ln w="9525">
            <a:noFill/>
            <a:miter lim="800000"/>
            <a:headEnd/>
            <a:tailEnd/>
          </a:ln>
        </p:spPr>
      </p:pic>
      <p:sp>
        <p:nvSpPr>
          <p:cNvPr id="9"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sym typeface="Webdings" pitchFamily="18" charset="2"/>
              </a:rPr>
              <a:t>Local extreme value point</a:t>
            </a:r>
            <a:br>
              <a:rPr lang="hu-HU" dirty="0" smtClean="0">
                <a:sym typeface="Webdings" pitchFamily="18" charset="2"/>
              </a:rPr>
            </a:br>
            <a:endParaRPr lang="hu-HU" dirty="0" smtClean="0">
              <a:sym typeface="Webdings" pitchFamily="18" charset="2"/>
            </a:endParaRPr>
          </a:p>
        </p:txBody>
      </p:sp>
      <p:sp>
        <p:nvSpPr>
          <p:cNvPr id="10" name="Akciógomb: Visszatérés 9">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32771"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E2E9D7FA-A6AE-4B7E-9002-D8780F2471B5}" type="slidenum">
              <a:rPr lang="hu-HU" smtClean="0"/>
              <a:t>16</a:t>
            </a:fld>
            <a:endParaRPr lang="hu-HU" smtClean="0"/>
          </a:p>
        </p:txBody>
      </p:sp>
      <p:sp>
        <p:nvSpPr>
          <p:cNvPr id="32772" name="Rectangle 3"/>
          <p:cNvSpPr>
            <a:spLocks noGrp="1" noChangeArrowheads="1"/>
          </p:cNvSpPr>
          <p:nvPr>
            <p:ph sz="quarter" idx="1"/>
          </p:nvPr>
        </p:nvSpPr>
        <p:spPr>
          <a:xfrm>
            <a:off x="971550" y="1557338"/>
            <a:ext cx="3744913" cy="4425950"/>
          </a:xfrm>
        </p:spPr>
        <p:txBody>
          <a:bodyPr/>
          <a:lstStyle/>
          <a:p>
            <a:pPr algn="ctr" eaLnBrk="1" hangingPunct="1">
              <a:buFont typeface="Wingdings" pitchFamily="2" charset="2"/>
              <a:buNone/>
            </a:pPr>
            <a:r>
              <a:rPr lang="hu-HU" smtClean="0"/>
              <a:t>Limited from below </a:t>
            </a:r>
          </a:p>
        </p:txBody>
      </p:sp>
      <p:sp>
        <p:nvSpPr>
          <p:cNvPr id="32773" name="Rectangle 4"/>
          <p:cNvSpPr>
            <a:spLocks noGrp="1" noChangeArrowheads="1"/>
          </p:cNvSpPr>
          <p:nvPr>
            <p:ph sz="quarter" idx="2"/>
          </p:nvPr>
        </p:nvSpPr>
        <p:spPr>
          <a:xfrm>
            <a:off x="4932363" y="1557338"/>
            <a:ext cx="3743325" cy="4464050"/>
          </a:xfrm>
        </p:spPr>
        <p:txBody>
          <a:bodyPr/>
          <a:lstStyle/>
          <a:p>
            <a:pPr algn="ctr" eaLnBrk="1" hangingPunct="1">
              <a:buFont typeface="Wingdings" pitchFamily="2" charset="2"/>
              <a:buNone/>
            </a:pPr>
            <a:r>
              <a:rPr lang="hu-HU" smtClean="0"/>
              <a:t>Bounded from above</a:t>
            </a:r>
          </a:p>
        </p:txBody>
      </p:sp>
      <p:pic>
        <p:nvPicPr>
          <p:cNvPr id="32774" name="Picture 6" descr="korlatos_alulrol">
            <a:hlinkClick r:id="rId3"/>
          </p:cNvPr>
          <p:cNvPicPr>
            <a:picLocks noChangeAspect="1" noChangeArrowheads="1"/>
          </p:cNvPicPr>
          <p:nvPr/>
        </p:nvPicPr>
        <p:blipFill>
          <a:blip r:embed="rId4"/>
          <a:srcRect/>
          <a:stretch>
            <a:fillRect/>
          </a:stretch>
        </p:blipFill>
        <p:spPr bwMode="auto">
          <a:xfrm>
            <a:off x="755650" y="2565400"/>
            <a:ext cx="3744913" cy="2876550"/>
          </a:xfrm>
          <a:prstGeom prst="rect">
            <a:avLst/>
          </a:prstGeom>
          <a:noFill/>
          <a:ln w="9525">
            <a:solidFill>
              <a:schemeClr val="tx1"/>
            </a:solidFill>
            <a:miter lim="800000"/>
            <a:headEnd/>
            <a:tailEnd/>
          </a:ln>
        </p:spPr>
      </p:pic>
      <p:pic>
        <p:nvPicPr>
          <p:cNvPr id="32775" name="Picture 7" descr="korlatos_felulrol">
            <a:hlinkClick r:id="rId5"/>
          </p:cNvPr>
          <p:cNvPicPr>
            <a:picLocks noChangeAspect="1" noChangeArrowheads="1"/>
          </p:cNvPicPr>
          <p:nvPr/>
        </p:nvPicPr>
        <p:blipFill>
          <a:blip r:embed="rId6"/>
          <a:srcRect/>
          <a:stretch>
            <a:fillRect/>
          </a:stretch>
        </p:blipFill>
        <p:spPr bwMode="auto">
          <a:xfrm>
            <a:off x="4932363" y="2565400"/>
            <a:ext cx="3744912" cy="2879725"/>
          </a:xfrm>
          <a:prstGeom prst="rect">
            <a:avLst/>
          </a:prstGeom>
          <a:noFill/>
          <a:ln w="9525">
            <a:solidFill>
              <a:schemeClr val="tx1"/>
            </a:solidFill>
            <a:miter lim="800000"/>
            <a:headEnd/>
            <a:tailEnd/>
          </a:ln>
        </p:spPr>
      </p:pic>
      <p:sp>
        <p:nvSpPr>
          <p:cNvPr id="10"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sym typeface="Webdings" pitchFamily="18" charset="2"/>
              </a:rPr>
              <a:t>Bounded functions</a:t>
            </a:r>
            <a:br>
              <a:rPr lang="hu-HU" dirty="0" smtClean="0">
                <a:sym typeface="Webdings" pitchFamily="18" charset="2"/>
              </a:rPr>
            </a:br>
            <a:endParaRPr lang="hu-HU" dirty="0" smtClean="0">
              <a:sym typeface="Webdings" pitchFamily="18" charset="2"/>
            </a:endParaRPr>
          </a:p>
        </p:txBody>
      </p:sp>
      <p:sp>
        <p:nvSpPr>
          <p:cNvPr id="9" name="Akciógomb: Visszatérés 8">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33795"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D014585D-5D48-4708-8260-333B2E2A89B2}" type="slidenum">
              <a:rPr lang="hu-HU" smtClean="0"/>
              <a:t>17</a:t>
            </a:fld>
            <a:endParaRPr lang="hu-HU" smtClean="0"/>
          </a:p>
        </p:txBody>
      </p:sp>
      <p:sp>
        <p:nvSpPr>
          <p:cNvPr id="7"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sym typeface="Webdings" pitchFamily="18" charset="2"/>
              </a:rPr>
              <a:t>Even and odd functions</a:t>
            </a:r>
            <a:br>
              <a:rPr lang="hu-HU" dirty="0" smtClean="0">
                <a:sym typeface="Webdings" pitchFamily="18" charset="2"/>
              </a:rPr>
            </a:br>
            <a:endParaRPr lang="hu-HU" dirty="0" smtClean="0">
              <a:sym typeface="Webdings" pitchFamily="18" charset="2"/>
            </a:endParaRPr>
          </a:p>
        </p:txBody>
      </p:sp>
      <p:sp>
        <p:nvSpPr>
          <p:cNvPr id="8" name="Rectangle 3"/>
          <p:cNvSpPr txBox="1">
            <a:spLocks noChangeArrowheads="1"/>
          </p:cNvSpPr>
          <p:nvPr/>
        </p:nvSpPr>
        <p:spPr>
          <a:xfrm>
            <a:off x="971550" y="1268413"/>
            <a:ext cx="3744913" cy="4498975"/>
          </a:xfrm>
          <a:prstGeom prst="rect">
            <a:avLst/>
          </a:prstGeom>
        </p:spPr>
        <p:txBody>
          <a:bodyPr>
            <a:normAutofit/>
          </a:bodyPr>
          <a:lstStyle/>
          <a:p>
            <a:pPr marL="274320" indent="-274320" algn="ctr" fontAlgn="auto">
              <a:spcBef>
                <a:spcPts val="600"/>
              </a:spcBef>
              <a:spcAft>
                <a:spcPts val="0"/>
              </a:spcAft>
              <a:buClr>
                <a:schemeClr val="accent1"/>
              </a:buClr>
              <a:buSzPct val="76000"/>
              <a:buFont typeface="Wingdings" pitchFamily="2" charset="2"/>
              <a:buNone/>
              <a:defRPr/>
            </a:pPr>
            <a:r>
              <a:rPr lang="hu-HU" sz="2600" dirty="0">
                <a:latin typeface="+mj-lt"/>
                <a:cs typeface="+mn-cs"/>
              </a:rPr>
              <a:t>Even</a:t>
            </a:r>
          </a:p>
          <a:p>
            <a:pPr marL="274320" indent="-274320" algn="ctr" fontAlgn="auto">
              <a:spcBef>
                <a:spcPts val="600"/>
              </a:spcBef>
              <a:spcAft>
                <a:spcPts val="0"/>
              </a:spcAft>
              <a:buClr>
                <a:schemeClr val="accent1"/>
              </a:buClr>
              <a:buSzPct val="76000"/>
              <a:buFont typeface="Wingdings" pitchFamily="2" charset="2"/>
              <a:buNone/>
              <a:defRPr/>
            </a:pPr>
            <a:endParaRPr lang="hu-HU" sz="2600" dirty="0">
              <a:latin typeface="+mj-lt"/>
              <a:cs typeface="+mn-cs"/>
            </a:endParaRPr>
          </a:p>
        </p:txBody>
      </p:sp>
      <p:sp>
        <p:nvSpPr>
          <p:cNvPr id="9" name="Rectangle 3"/>
          <p:cNvSpPr txBox="1">
            <a:spLocks noChangeArrowheads="1"/>
          </p:cNvSpPr>
          <p:nvPr/>
        </p:nvSpPr>
        <p:spPr>
          <a:xfrm>
            <a:off x="5003800" y="1268413"/>
            <a:ext cx="3600450" cy="4498975"/>
          </a:xfrm>
          <a:prstGeom prst="rect">
            <a:avLst/>
          </a:prstGeom>
        </p:spPr>
        <p:txBody>
          <a:bodyPr>
            <a:normAutofit/>
          </a:bodyPr>
          <a:lstStyle/>
          <a:p>
            <a:pPr marL="274320" indent="-274320" algn="ctr" fontAlgn="auto">
              <a:spcBef>
                <a:spcPts val="600"/>
              </a:spcBef>
              <a:spcAft>
                <a:spcPts val="0"/>
              </a:spcAft>
              <a:buClr>
                <a:schemeClr val="accent1"/>
              </a:buClr>
              <a:buSzPct val="76000"/>
              <a:buFont typeface="Wingdings" pitchFamily="2" charset="2"/>
              <a:buNone/>
              <a:defRPr/>
            </a:pPr>
            <a:r>
              <a:rPr lang="hu-HU" sz="2600" dirty="0">
                <a:latin typeface="+mj-lt"/>
                <a:cs typeface="+mn-cs"/>
              </a:rPr>
              <a:t>Odd</a:t>
            </a:r>
          </a:p>
          <a:p>
            <a:pPr marL="274320" indent="-274320" algn="ctr" fontAlgn="auto">
              <a:spcBef>
                <a:spcPts val="600"/>
              </a:spcBef>
              <a:spcAft>
                <a:spcPts val="0"/>
              </a:spcAft>
              <a:buClr>
                <a:schemeClr val="accent1"/>
              </a:buClr>
              <a:buSzPct val="76000"/>
              <a:buFont typeface="Wingdings" pitchFamily="2" charset="2"/>
              <a:buNone/>
              <a:defRPr/>
            </a:pPr>
            <a:endParaRPr lang="hu-HU" sz="2600" dirty="0">
              <a:latin typeface="+mj-lt"/>
              <a:cs typeface="+mn-cs"/>
            </a:endParaRPr>
          </a:p>
          <a:p>
            <a:pPr marL="274320" indent="-274320" algn="ctr" fontAlgn="auto">
              <a:spcBef>
                <a:spcPts val="600"/>
              </a:spcBef>
              <a:spcAft>
                <a:spcPts val="0"/>
              </a:spcAft>
              <a:buClr>
                <a:schemeClr val="accent1"/>
              </a:buClr>
              <a:buSzPct val="76000"/>
              <a:buFont typeface="Wingdings" pitchFamily="2" charset="2"/>
              <a:buNone/>
              <a:defRPr/>
            </a:pPr>
            <a:endParaRPr lang="hu-HU" sz="2600" dirty="0">
              <a:latin typeface="+mj-lt"/>
              <a:cs typeface="+mn-cs"/>
            </a:endParaRPr>
          </a:p>
        </p:txBody>
      </p:sp>
      <p:pic>
        <p:nvPicPr>
          <p:cNvPr id="33799" name="Tartalom helye 10" descr="paros.png">
            <a:hlinkClick r:id="rId3"/>
          </p:cNvPr>
          <p:cNvPicPr>
            <a:picLocks noGrp="1" noChangeAspect="1"/>
          </p:cNvPicPr>
          <p:nvPr>
            <p:ph sz="quarter" idx="1"/>
          </p:nvPr>
        </p:nvPicPr>
        <p:blipFill>
          <a:blip r:embed="rId4"/>
          <a:srcRect/>
          <a:stretch>
            <a:fillRect/>
          </a:stretch>
        </p:blipFill>
        <p:spPr>
          <a:xfrm>
            <a:off x="1258888" y="2090738"/>
            <a:ext cx="3457575" cy="3425825"/>
          </a:xfrm>
          <a:ln>
            <a:solidFill>
              <a:schemeClr val="tx1"/>
            </a:solidFill>
          </a:ln>
        </p:spPr>
      </p:pic>
      <p:pic>
        <p:nvPicPr>
          <p:cNvPr id="33800" name="Tartalom helye 12" descr="paratlan.PNG">
            <a:hlinkClick r:id="rId5"/>
          </p:cNvPr>
          <p:cNvPicPr>
            <a:picLocks noGrp="1" noChangeAspect="1"/>
          </p:cNvPicPr>
          <p:nvPr>
            <p:ph sz="quarter" idx="2"/>
          </p:nvPr>
        </p:nvPicPr>
        <p:blipFill>
          <a:blip r:embed="rId6"/>
          <a:srcRect/>
          <a:stretch>
            <a:fillRect/>
          </a:stretch>
        </p:blipFill>
        <p:spPr>
          <a:xfrm>
            <a:off x="5076825" y="2133600"/>
            <a:ext cx="3470275" cy="3382963"/>
          </a:xfrm>
          <a:ln>
            <a:solidFill>
              <a:schemeClr val="tx1"/>
            </a:solidFill>
          </a:ln>
        </p:spPr>
      </p:pic>
      <p:sp>
        <p:nvSpPr>
          <p:cNvPr id="10" name="Akciógomb: Visszatérés 9">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normAutofit fontScale="90000"/>
          </a:bodyPr>
          <a:lstStyle/>
          <a:p>
            <a:pPr eaLnBrk="1" fontAlgn="auto" hangingPunct="1">
              <a:spcAft>
                <a:spcPts val="0"/>
              </a:spcAft>
              <a:defRPr/>
            </a:pPr>
            <a:r>
              <a:rPr lang="hu-HU" dirty="0" smtClean="0"/>
              <a:t>Periodic functions</a:t>
            </a:r>
            <a:br>
              <a:rPr lang="hu-HU" dirty="0" smtClean="0"/>
            </a:br>
            <a:endParaRPr lang="hu-HU" dirty="0" smtClean="0"/>
          </a:p>
        </p:txBody>
      </p:sp>
      <p:sp>
        <p:nvSpPr>
          <p:cNvPr id="34819" name="Élőláb helye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Travelling Conference, 2013</a:t>
            </a:r>
          </a:p>
        </p:txBody>
      </p:sp>
      <p:sp>
        <p:nvSpPr>
          <p:cNvPr id="34820" name="Dia számának helye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7FE78633-9ECC-4586-9B93-C5612EA73EED}" type="slidenum">
              <a:rPr lang="hu-HU" smtClean="0"/>
              <a:t>18</a:t>
            </a:fld>
            <a:endParaRPr lang="hu-HU" smtClean="0"/>
          </a:p>
        </p:txBody>
      </p:sp>
      <p:pic>
        <p:nvPicPr>
          <p:cNvPr id="34821" name="Kép 6" descr="szinusz.PNG">
            <a:hlinkClick r:id="rId2"/>
          </p:cNvPr>
          <p:cNvPicPr>
            <a:picLocks noChangeAspect="1"/>
          </p:cNvPicPr>
          <p:nvPr/>
        </p:nvPicPr>
        <p:blipFill>
          <a:blip r:embed="rId3"/>
          <a:srcRect/>
          <a:stretch>
            <a:fillRect/>
          </a:stretch>
        </p:blipFill>
        <p:spPr bwMode="auto">
          <a:xfrm>
            <a:off x="2843213" y="1725613"/>
            <a:ext cx="4005262" cy="3946525"/>
          </a:xfrm>
          <a:prstGeom prst="rect">
            <a:avLst/>
          </a:prstGeom>
          <a:noFill/>
          <a:ln w="9525">
            <a:solidFill>
              <a:schemeClr val="tx1"/>
            </a:solidFill>
            <a:miter lim="800000"/>
            <a:headEnd/>
            <a:tailEnd/>
          </a:ln>
        </p:spPr>
      </p:pic>
      <p:sp>
        <p:nvSpPr>
          <p:cNvPr id="6" name="Akciógomb: Visszatérés 5">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Élőláb helye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pPr algn="r"/>
            <a:r>
              <a:rPr lang="hu-HU"/>
              <a:t>László Rátz: Wandering Assembly, 2013</a:t>
            </a:r>
          </a:p>
        </p:txBody>
      </p:sp>
      <p:sp>
        <p:nvSpPr>
          <p:cNvPr id="35843" name="Dia számának helye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BBCF8A88-C4FC-4B82-BF74-17172EB964EA}" type="slidenum">
              <a:rPr lang="hu-HU" smtClean="0"/>
              <a:t>19</a:t>
            </a:fld>
            <a:endParaRPr lang="hu-HU" smtClean="0"/>
          </a:p>
        </p:txBody>
      </p:sp>
      <p:pic>
        <p:nvPicPr>
          <p:cNvPr id="35844" name="Kép 7" descr="szakadasi_pont.PNG">
            <a:hlinkClick r:id="rId3"/>
          </p:cNvPr>
          <p:cNvPicPr>
            <a:picLocks noChangeAspect="1"/>
          </p:cNvPicPr>
          <p:nvPr/>
        </p:nvPicPr>
        <p:blipFill>
          <a:blip r:embed="rId4"/>
          <a:srcRect/>
          <a:stretch>
            <a:fillRect/>
          </a:stretch>
        </p:blipFill>
        <p:spPr bwMode="auto">
          <a:xfrm>
            <a:off x="2700338" y="1989138"/>
            <a:ext cx="3652837" cy="3668712"/>
          </a:xfrm>
          <a:prstGeom prst="rect">
            <a:avLst/>
          </a:prstGeom>
          <a:noFill/>
          <a:ln w="9525">
            <a:solidFill>
              <a:schemeClr val="tx1"/>
            </a:solidFill>
            <a:miter lim="800000"/>
            <a:headEnd/>
            <a:tailEnd/>
          </a:ln>
        </p:spPr>
      </p:pic>
      <p:sp>
        <p:nvSpPr>
          <p:cNvPr id="6" name="Akciógomb: Visszatérés 5">
            <a:hlinkClick r:id="" action="ppaction://noaction" highlightClick="1"/>
          </p:cNvPr>
          <p:cNvSpPr/>
          <p:nvPr/>
        </p:nvSpPr>
        <p:spPr>
          <a:xfrm>
            <a:off x="7885113" y="6308725"/>
            <a:ext cx="503237" cy="360363"/>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hu-HU"/>
          </a:p>
        </p:txBody>
      </p:sp>
      <p:sp>
        <p:nvSpPr>
          <p:cNvPr id="10" name="Rectangle 2"/>
          <p:cNvSpPr>
            <a:spLocks noGrp="1" noChangeArrowheads="1"/>
          </p:cNvSpPr>
          <p:nvPr>
            <p:ph type="title"/>
          </p:nvPr>
        </p:nvSpPr>
        <p:spPr>
          <a:xfrm>
            <a:off x="1042988" y="188913"/>
            <a:ext cx="8229600" cy="990600"/>
          </a:xfrm>
        </p:spPr>
        <p:txBody>
          <a:bodyPr>
            <a:normAutofit fontScale="90000"/>
          </a:bodyPr>
          <a:lstStyle/>
          <a:p>
            <a:pPr eaLnBrk="1" fontAlgn="auto" hangingPunct="1">
              <a:spcAft>
                <a:spcPts val="0"/>
              </a:spcAft>
              <a:defRPr/>
            </a:pPr>
            <a:r>
              <a:rPr lang="hu-HU" dirty="0" smtClean="0"/>
              <a:t>Breaking points</a:t>
            </a:r>
            <a:br>
              <a:rPr lang="hu-HU" dirty="0" smtClean="0"/>
            </a:br>
            <a:endParaRPr lang="hu-HU" dirty="0" smtClean="0"/>
          </a:p>
        </p:txBody>
      </p:sp>
    </p:spTree>
  </p:cSld>
  <p:clrMapOvr>
    <a:masterClrMapping/>
  </p:clrMapOvr>
  <p:timing>
    <p:tnLst>
      <p:par>
        <p:cTn id="1" dur="indefinite" restart="never" nodeType="tmRoot"/>
      </p:par>
    </p:tnLst>
  </p:timing>
</p:sld>
</file>

<file path=ppt/slides/slide20.xml><?xml version="1.0" encoding="utf-8"?>
<p:sld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683568" y="2780928"/>
            <a:ext cx="8280920" cy="1487016"/>
          </a:xfrm>
          <a:prstGeom prst="roundRect">
            <a:avLst/>
          </a:prstGeom>
          <a:solidFill>
            <a:schemeClr val="tx2">
              <a:lumMod val="20000"/>
              <a:lumOff val="80000"/>
            </a:schemeClr>
          </a:solidFill>
          <a:ln/>
          <a:scene3d>
            <a:camera prst="orthographicFront"/>
            <a:lightRig rig="threePt" dir="t"/>
          </a:scene3d>
          <a:sp3d>
            <a:bevelT/>
          </a:sp3d>
          <a:extLs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p>
            <a:pPr marL="571500" indent="-571500" algn="ctr" eaLnBrk="1" fontAlgn="auto" hangingPunct="1">
              <a:spcAft>
                <a:spcPts val="0"/>
              </a:spcAft>
              <a:buFont typeface="+mj-lt"/>
              <a:buAutoNum type="romanUcPeriod" startAt="3"/>
              <a:defRPr/>
            </a:pPr>
            <a:r>
              <a:rPr lang="hu-HU" dirty="0" smtClean="0"/>
              <a:t>The benefits </a:t>
            </a:r>
            <a:r>
              <a:rPr lang="hu-HU" dirty="0" smtClean="0"/>
              <a:t>of </a:t>
            </a:r>
            <a:r>
              <a:rPr lang="hu-HU" dirty="0" err="1" smtClean="0"/>
              <a:t>audiovisual</a:t>
            </a:r>
            <a:r>
              <a:rPr lang="hu-HU" dirty="0" smtClean="0"/>
              <a:t> </a:t>
            </a:r>
            <a:r>
              <a:rPr lang="hu-HU" dirty="0" smtClean="0"/>
              <a:t>representation in calculus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Élőláb helye 1"/>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Wandering Assembly, 2013</a:t>
            </a:r>
          </a:p>
        </p:txBody>
      </p:sp>
      <p:sp>
        <p:nvSpPr>
          <p:cNvPr id="37891" name="Dia számának helye 2"/>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80D492D7-637C-456C-9EEF-5A6A768E7722}" type="slidenum">
              <a:rPr lang="hu-HU" smtClean="0"/>
              <a:t>21</a:t>
            </a:fld>
            <a:endParaRPr lang="hu-HU" smtClean="0"/>
          </a:p>
        </p:txBody>
      </p:sp>
      <p:sp>
        <p:nvSpPr>
          <p:cNvPr id="4" name="Cím 3"/>
          <p:cNvSpPr>
            <a:spLocks noGrp="1"/>
          </p:cNvSpPr>
          <p:nvPr>
            <p:ph type="title"/>
          </p:nvPr>
        </p:nvSpPr>
        <p:spPr>
          <a:xfrm>
            <a:off x="914400" y="1000125"/>
            <a:ext cx="8229600" cy="1492250"/>
          </a:xfrm>
        </p:spPr>
        <p:txBody>
          <a:bodyPr>
            <a:normAutofit fontScale="90000"/>
          </a:bodyPr>
          <a:lstStyle/>
          <a:p>
            <a:pPr eaLnBrk="1" fontAlgn="auto" hangingPunct="1">
              <a:spcAft>
                <a:spcPts val="0"/>
              </a:spcAft>
              <a:defRPr/>
            </a:pPr>
            <a:r>
              <a:rPr lang="hu-HU" dirty="0" smtClean="0"/>
              <a:t>We assume a direct connection between the senses, without an intermediary mapping system. </a:t>
            </a:r>
            <a:r>
              <a:rPr lang="hu-HU" sz="2200" dirty="0" smtClean="0"/>
              <a:t>Secondary source (Kovács 2010).</a:t>
            </a:r>
            <a:endParaRPr lang="hu-HU" sz="2200" dirty="0"/>
          </a:p>
        </p:txBody>
      </p:sp>
      <p:pic>
        <p:nvPicPr>
          <p:cNvPr id="37893" name="Picture 2"/>
          <p:cNvPicPr>
            <a:picLocks noChangeAspect="1" noChangeArrowheads="1"/>
          </p:cNvPicPr>
          <p:nvPr/>
        </p:nvPicPr>
        <p:blipFill>
          <a:blip r:embed="rId2"/>
          <a:srcRect/>
          <a:stretch>
            <a:fillRect/>
          </a:stretch>
        </p:blipFill>
        <p:spPr bwMode="auto">
          <a:xfrm>
            <a:off x="2886075" y="3429000"/>
            <a:ext cx="3343275" cy="28606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ím 1"/>
          <p:cNvSpPr>
            <a:spLocks noGrp="1"/>
          </p:cNvSpPr>
          <p:nvPr>
            <p:ph type="title"/>
          </p:nvPr>
        </p:nvSpPr>
        <p:spPr/>
        <p:txBody>
          <a:bodyPr/>
          <a:lstStyle/>
          <a:p>
            <a:pPr eaLnBrk="1" hangingPunct="1"/>
            <a:r>
              <a:rPr lang="hu-HU" smtClean="0"/>
              <a:t>The Theory of Auditory Representation </a:t>
            </a:r>
          </a:p>
        </p:txBody>
      </p:sp>
      <p:sp>
        <p:nvSpPr>
          <p:cNvPr id="38915"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Vándorgyülés, 2013</a:t>
            </a:r>
          </a:p>
        </p:txBody>
      </p:sp>
      <p:sp>
        <p:nvSpPr>
          <p:cNvPr id="38916"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0F8AE18F-ECD7-44D4-B096-17D52E065B19}" type="slidenum">
              <a:rPr lang="hu-HU" smtClean="0"/>
              <a:t>22</a:t>
            </a:fld>
            <a:endParaRPr lang="hu-HU" smtClean="0"/>
          </a:p>
        </p:txBody>
      </p:sp>
      <p:sp>
        <p:nvSpPr>
          <p:cNvPr id="38917" name="Tartalom helye 4"/>
          <p:cNvSpPr>
            <a:spLocks noGrp="1"/>
          </p:cNvSpPr>
          <p:nvPr>
            <p:ph sz="quarter" idx="1"/>
          </p:nvPr>
        </p:nvSpPr>
        <p:spPr>
          <a:xfrm>
            <a:off x="684213" y="1268413"/>
            <a:ext cx="8459787" cy="4938712"/>
          </a:xfrm>
        </p:spPr>
        <p:txBody>
          <a:bodyPr/>
          <a:lstStyle/>
          <a:p>
            <a:pPr eaLnBrk="1" hangingPunct="1">
              <a:buFont typeface="Wingdings 3" pitchFamily="18" charset="2"/>
              <a:buNone/>
            </a:pPr>
            <a:endParaRPr lang="hu-HU" smtClean="0"/>
          </a:p>
          <a:p>
            <a:pPr algn="just" eaLnBrk="1" hangingPunct="1">
              <a:buFont typeface="Wingdings 3" pitchFamily="18" charset="2"/>
              <a:buNone/>
            </a:pPr>
            <a:r>
              <a:rPr lang="hu-HU" smtClean="0"/>
              <a:t>Auditory representation: the non-verbal vocalisation of information </a:t>
            </a:r>
            <a:r>
              <a:rPr lang="hu-HU" sz="2400" smtClean="0"/>
              <a:t>(analogue and symbolic mapping).</a:t>
            </a:r>
            <a:endParaRPr lang="hu-HU" smtClean="0"/>
          </a:p>
          <a:p>
            <a:pPr algn="just" eaLnBrk="1" hangingPunct="1">
              <a:buFont typeface="Wingdings 3" pitchFamily="18" charset="2"/>
              <a:buNone/>
            </a:pPr>
            <a:endParaRPr lang="hu-HU" smtClean="0"/>
          </a:p>
          <a:p>
            <a:pPr algn="just" eaLnBrk="1" hangingPunct="1">
              <a:buFont typeface="Wingdings 3" pitchFamily="18" charset="2"/>
              <a:buNone/>
            </a:pPr>
            <a:r>
              <a:rPr lang="hu-HU" smtClean="0"/>
              <a:t>Its aim is to open up the dimension of informative background sounds, statistical, interface and status messages (earcons, i.e. the auditory equivalent of icons) and warnings (auditory warnings) for everyday life. </a:t>
            </a:r>
          </a:p>
          <a:p>
            <a:pPr algn="r" eaLnBrk="1" hangingPunct="1">
              <a:buFont typeface="Wingdings 3" pitchFamily="18" charset="2"/>
              <a:buNone/>
            </a:pPr>
            <a:endParaRPr lang="hu-HU" sz="2000" smtClean="0"/>
          </a:p>
          <a:p>
            <a:pPr algn="r" eaLnBrk="1" hangingPunct="1">
              <a:buFont typeface="Wingdings 3" pitchFamily="18" charset="2"/>
              <a:buNone/>
            </a:pPr>
            <a:r>
              <a:rPr lang="hu-HU" sz="2000" smtClean="0"/>
              <a:t>Secondary source: Kovács (2010)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pPr eaLnBrk="1" fontAlgn="auto" hangingPunct="1">
              <a:spcAft>
                <a:spcPts val="0"/>
              </a:spcAft>
              <a:defRPr/>
            </a:pPr>
            <a:r>
              <a:rPr lang="hu-HU" dirty="0" smtClean="0"/>
              <a:t>Audio-visual representation in calculus </a:t>
            </a:r>
            <a:r>
              <a:rPr lang="hu-HU" dirty="0" err="1" smtClean="0"/>
              <a:t>using </a:t>
            </a:r>
            <a:r>
              <a:rPr lang="hu-HU" dirty="0" err="1" smtClean="0"/>
              <a:t>MathTrax </a:t>
            </a:r>
            <a:r>
              <a:rPr lang="hu-HU" dirty="0" smtClean="0"/>
              <a:t>(1)</a:t>
            </a:r>
            <a:endParaRPr lang="hu-HU" dirty="0"/>
          </a:p>
        </p:txBody>
      </p:sp>
      <p:sp>
        <p:nvSpPr>
          <p:cNvPr id="39939"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8902B6D8-E60F-4F49-835E-B80852328759}" type="slidenum">
              <a:rPr lang="hu-HU" smtClean="0"/>
              <a:t>23</a:t>
            </a:fld>
            <a:endParaRPr lang="hu-HU" smtClean="0"/>
          </a:p>
        </p:txBody>
      </p:sp>
      <p:sp>
        <p:nvSpPr>
          <p:cNvPr id="39940" name="Tartalom helye 4"/>
          <p:cNvSpPr>
            <a:spLocks noGrp="1"/>
          </p:cNvSpPr>
          <p:nvPr>
            <p:ph sz="quarter" idx="1"/>
          </p:nvPr>
        </p:nvSpPr>
        <p:spPr>
          <a:xfrm>
            <a:off x="539750" y="1268413"/>
            <a:ext cx="8604250" cy="5589587"/>
          </a:xfrm>
        </p:spPr>
        <p:txBody>
          <a:bodyPr/>
          <a:lstStyle/>
          <a:p>
            <a:pPr eaLnBrk="1" hangingPunct="1"/>
            <a:r>
              <a:rPr lang="hu-HU" sz="2200" smtClean="0"/>
              <a:t>Due to the intuitive nature of sound processing, it can be incorporated into the learning process with virtually no practice required </a:t>
            </a:r>
            <a:r>
              <a:rPr lang="hu-HU" sz="2200" smtClean="0">
                <a:solidFill>
                  <a:srgbClr val="FF0000"/>
                </a:solidFill>
              </a:rPr>
              <a:t>(though not for everyone!)</a:t>
            </a:r>
            <a:r>
              <a:rPr lang="hu-HU" sz="2200" smtClean="0">
                <a:solidFill>
                  <a:srgbClr val="000000"/>
                </a:solidFill>
              </a:rPr>
              <a:t>.</a:t>
            </a:r>
          </a:p>
          <a:p>
            <a:pPr eaLnBrk="1" hangingPunct="1"/>
            <a:r>
              <a:rPr lang="hu-HU" sz="2200" smtClean="0"/>
              <a:t>Sound samples are easy to analyse thanks to the sensitivity of the ear and its effective pattern recognition ability in accordance with Gestalt principles.</a:t>
            </a:r>
          </a:p>
          <a:p>
            <a:pPr eaLnBrk="1" hangingPunct="1"/>
            <a:r>
              <a:rPr lang="hu-HU" sz="2200" smtClean="0"/>
              <a:t>Supplementing visual representations with audio information drastically increases the temporal resolution of information acquisition, helping students to concentrate and pay attention.</a:t>
            </a:r>
          </a:p>
          <a:p>
            <a:pPr eaLnBrk="1" hangingPunct="1"/>
            <a:r>
              <a:rPr lang="hu-HU" sz="2200" smtClean="0"/>
              <a:t>It can help students identify specific features of a graph (directing attention) even in diagrams that may be complex for them, if highlighting parts proves difficult.</a:t>
            </a:r>
          </a:p>
          <a:p>
            <a:pPr eaLnBrk="1" hangingPunct="1"/>
            <a:r>
              <a:rPr lang="hu-HU" sz="2200" smtClean="0"/>
              <a:t>It is possible to gradually increase the complexity of the graph (by adjusting settings for negative values, axis intersections, and audible signals when the graph ‘crosses’ the origin).</a:t>
            </a:r>
          </a:p>
          <a:p>
            <a:pPr eaLnBrk="1" hangingPunct="1"/>
            <a:endParaRPr lang="hu-HU"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pPr eaLnBrk="1" fontAlgn="auto" hangingPunct="1">
              <a:spcAft>
                <a:spcPts val="0"/>
              </a:spcAft>
              <a:defRPr/>
            </a:pPr>
            <a:r>
              <a:rPr lang="hu-HU" dirty="0" smtClean="0"/>
              <a:t>Audio-visual representation in calculus </a:t>
            </a:r>
            <a:r>
              <a:rPr lang="hu-HU" dirty="0" err="1" smtClean="0"/>
              <a:t>using </a:t>
            </a:r>
            <a:r>
              <a:rPr lang="hu-HU" dirty="0" err="1" smtClean="0"/>
              <a:t>MathTrax </a:t>
            </a:r>
            <a:r>
              <a:rPr lang="hu-HU" dirty="0" smtClean="0"/>
              <a:t>(2)</a:t>
            </a:r>
            <a:endParaRPr lang="hu-HU" dirty="0"/>
          </a:p>
        </p:txBody>
      </p:sp>
      <p:sp>
        <p:nvSpPr>
          <p:cNvPr id="40963"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Conference, 2013</a:t>
            </a:r>
          </a:p>
        </p:txBody>
      </p:sp>
      <p:sp>
        <p:nvSpPr>
          <p:cNvPr id="40964"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AD0BFAA8-974C-42C1-97F8-74DF79D794C7}" type="slidenum">
              <a:rPr lang="hu-HU" smtClean="0"/>
              <a:t>24</a:t>
            </a:fld>
            <a:endParaRPr lang="hu-HU" smtClean="0"/>
          </a:p>
        </p:txBody>
      </p:sp>
      <p:sp>
        <p:nvSpPr>
          <p:cNvPr id="5" name="Tartalom helye 4"/>
          <p:cNvSpPr>
            <a:spLocks noGrp="1"/>
          </p:cNvSpPr>
          <p:nvPr>
            <p:ph sz="quarter" idx="1"/>
          </p:nvPr>
        </p:nvSpPr>
        <p:spPr>
          <a:xfrm>
            <a:off x="755650" y="1196975"/>
            <a:ext cx="8388350" cy="5256213"/>
          </a:xfrm>
        </p:spPr>
        <p:txBody>
          <a:bodyPr>
            <a:normAutofit fontScale="85000" lnSpcReduction="20000"/>
          </a:bodyPr>
          <a:lstStyle/>
          <a:p>
            <a:pPr marL="274320" indent="-274320" eaLnBrk="1" fontAlgn="auto" hangingPunct="1">
              <a:spcAft>
                <a:spcPts val="0"/>
              </a:spcAft>
              <a:buFont typeface="Wingdings 3"/>
              <a:buChar char=""/>
              <a:defRPr/>
            </a:pPr>
            <a:endParaRPr lang="hu-HU" dirty="0" smtClean="0"/>
          </a:p>
          <a:p>
            <a:pPr marL="274320" indent="-274320" eaLnBrk="1" fontAlgn="auto" hangingPunct="1">
              <a:spcAft>
                <a:spcPts val="0"/>
              </a:spcAft>
              <a:buFont typeface="Wingdings 3"/>
              <a:buChar char=""/>
              <a:defRPr/>
            </a:pPr>
            <a:r>
              <a:rPr lang="hu-HU" dirty="0" smtClean="0"/>
              <a:t>The content of the visual and auditory representations is identical, as they are based on the same mapping rule; the two modalities reinforce each other (redundancy has a positive effect on the information acquisition process).</a:t>
            </a:r>
          </a:p>
          <a:p>
            <a:pPr marL="274320" indent="-274320" eaLnBrk="1" fontAlgn="auto" hangingPunct="1">
              <a:spcAft>
                <a:spcPts val="0"/>
              </a:spcAft>
              <a:buFont typeface="Wingdings 3"/>
              <a:buChar char=""/>
              <a:defRPr/>
            </a:pPr>
            <a:r>
              <a:rPr lang="hu-HU" dirty="0" smtClean="0"/>
              <a:t>It is possible to observe the movement of a vertical line or a ‘red dot’ during playback, which helps guide the ‘reading’ of the still image. It forms a bridge between the construction and interpretation of the graph, helping to form a mental map of the graph.</a:t>
            </a:r>
          </a:p>
          <a:p>
            <a:pPr marL="274320" indent="-274320" eaLnBrk="1" fontAlgn="auto" hangingPunct="1">
              <a:spcAft>
                <a:spcPts val="0"/>
              </a:spcAft>
              <a:buFont typeface="Wingdings 3"/>
              <a:buChar char=""/>
              <a:defRPr/>
            </a:pPr>
            <a:r>
              <a:rPr lang="hu-HU" dirty="0" smtClean="0"/>
              <a:t>The audio draws attention to the relationships between ordered pairs of elements </a:t>
            </a:r>
            <a:r>
              <a:rPr lang="hu-HU" sz="2100" dirty="0" smtClean="0"/>
              <a:t>(reinforcing the dynamic perspective of the function: </a:t>
            </a:r>
            <a:r>
              <a:rPr lang="hu-HU" sz="2100" dirty="0" smtClean="0"/>
              <a:t>is a </a:t>
            </a:r>
            <a:r>
              <a:rPr lang="hu-HU" sz="2100" dirty="0" smtClean="0"/>
              <a:t>larger </a:t>
            </a:r>
            <a:r>
              <a:rPr lang="hu-HU" sz="2100" i="1" dirty="0" smtClean="0"/>
              <a:t>x </a:t>
            </a:r>
            <a:r>
              <a:rPr lang="hu-HU" sz="2100" dirty="0" smtClean="0"/>
              <a:t>value assigned a larger, equal or possibly smaller value? An important foundation for establishing the concept of the derivative).</a:t>
            </a:r>
            <a:endParaRPr lang="hu-HU" dirty="0" smtClean="0"/>
          </a:p>
          <a:p>
            <a:pPr marL="274320" indent="-274320" eaLnBrk="1" fontAlgn="auto" hangingPunct="1">
              <a:spcAft>
                <a:spcPts val="0"/>
              </a:spcAft>
              <a:buFont typeface="Wingdings 3"/>
              <a:buChar char=""/>
              <a:defRPr/>
            </a:pPr>
            <a:r>
              <a:rPr lang="hu-HU" dirty="0" smtClean="0"/>
              <a:t>By pausing the presentation at any point, the data for the ordered pairs can be read off separately (supporting an intuitive set-theoretic approach).</a:t>
            </a:r>
          </a:p>
          <a:p>
            <a:pPr marL="274320" indent="-274320" eaLnBrk="1" fontAlgn="auto" hangingPunct="1">
              <a:spcAft>
                <a:spcPts val="0"/>
              </a:spcAft>
              <a:buFont typeface="Wingdings 3"/>
              <a:buChar char=""/>
              <a:defRPr/>
            </a:pPr>
            <a:endParaRPr lang="hu-HU"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p:cNvSpPr>
            <a:spLocks noGrp="1"/>
          </p:cNvSpPr>
          <p:nvPr>
            <p:ph type="title"/>
          </p:nvPr>
        </p:nvSpPr>
        <p:spPr/>
        <p:txBody>
          <a:bodyPr>
            <a:normAutofit fontScale="90000"/>
          </a:bodyPr>
          <a:lstStyle/>
          <a:p>
            <a:pPr eaLnBrk="1" fontAlgn="auto" hangingPunct="1">
              <a:spcAft>
                <a:spcPts val="0"/>
              </a:spcAft>
              <a:defRPr/>
            </a:pPr>
            <a:r>
              <a:rPr lang="hu-HU" dirty="0" err="1" smtClean="0"/>
              <a:t>Audio-visual </a:t>
            </a:r>
            <a:r>
              <a:rPr lang="hu-HU" dirty="0" smtClean="0"/>
              <a:t>aids in mathematics teaching </a:t>
            </a:r>
            <a:endParaRPr lang="hu-HU" dirty="0"/>
          </a:p>
        </p:txBody>
      </p:sp>
      <p:sp>
        <p:nvSpPr>
          <p:cNvPr id="41987" name="Élőláb helye 1"/>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Travelling Conference, 2013</a:t>
            </a:r>
          </a:p>
        </p:txBody>
      </p:sp>
      <p:sp>
        <p:nvSpPr>
          <p:cNvPr id="41988" name="Dia számának helye 2"/>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B31E560F-2C13-4839-A263-BB9840FFC98C}" type="slidenum">
              <a:rPr lang="hu-HU" smtClean="0"/>
              <a:t>25</a:t>
            </a:fld>
            <a:endParaRPr lang="hu-HU" smtClean="0"/>
          </a:p>
        </p:txBody>
      </p:sp>
      <p:sp>
        <p:nvSpPr>
          <p:cNvPr id="41989" name="Tartalom helye 5"/>
          <p:cNvSpPr>
            <a:spLocks noGrp="1"/>
          </p:cNvSpPr>
          <p:nvPr>
            <p:ph sz="quarter" idx="1"/>
          </p:nvPr>
        </p:nvSpPr>
        <p:spPr>
          <a:xfrm>
            <a:off x="914400" y="1268413"/>
            <a:ext cx="8229600" cy="4938712"/>
          </a:xfrm>
        </p:spPr>
        <p:txBody>
          <a:bodyPr/>
          <a:lstStyle/>
          <a:p>
            <a:pPr eaLnBrk="1" hangingPunct="1"/>
            <a:endParaRPr lang="hu-HU" smtClean="0"/>
          </a:p>
          <a:p>
            <a:pPr eaLnBrk="1" hangingPunct="1"/>
            <a:r>
              <a:rPr lang="hu-HU" smtClean="0"/>
              <a:t>NASA MathTrax Homepage</a:t>
            </a:r>
          </a:p>
          <a:p>
            <a:pPr eaLnBrk="1" hangingPunct="1">
              <a:buFont typeface="Wingdings 3" pitchFamily="18" charset="2"/>
              <a:buNone/>
            </a:pPr>
            <a:r>
              <a:rPr lang="hu-HU" smtClean="0">
                <a:hlinkClick r:id="rId3"/>
              </a:rPr>
              <a:t>http://prime.jsc.nasa.gov/mathtrax/</a:t>
            </a:r>
            <a:r>
              <a:rPr lang="hu-HU" smtClean="0"/>
              <a:t> </a:t>
            </a:r>
          </a:p>
          <a:p>
            <a:pPr eaLnBrk="1" hangingPunct="1">
              <a:buFont typeface="Wingdings 3" pitchFamily="18" charset="2"/>
              <a:buNone/>
            </a:pPr>
            <a:endParaRPr lang="hu-HU" smtClean="0"/>
          </a:p>
          <a:p>
            <a:pPr eaLnBrk="1" hangingPunct="1"/>
            <a:r>
              <a:rPr lang="hu-HU" smtClean="0"/>
              <a:t>Accessible Graphing Calculator (AGC)</a:t>
            </a:r>
            <a:r>
              <a:rPr lang="hu-HU" smtClean="0">
                <a:hlinkClick r:id="rId4"/>
              </a:rPr>
              <a:t> www.viewplus.com </a:t>
            </a:r>
            <a:r>
              <a:rPr lang="hu-HU" smtClean="0"/>
              <a:t> </a:t>
            </a:r>
          </a:p>
          <a:p>
            <a:pPr eaLnBrk="1" hangingPunct="1"/>
            <a:endParaRPr lang="hu-HU" smtClean="0"/>
          </a:p>
          <a:p>
            <a:pPr eaLnBrk="1" hangingPunct="1"/>
            <a:r>
              <a:rPr lang="hu-HU" smtClean="0"/>
              <a:t>Audible Maths website</a:t>
            </a:r>
            <a:r>
              <a:rPr lang="hu-HU" smtClean="0">
                <a:hlinkClick r:id="rId5"/>
              </a:rPr>
              <a:t> http://gfk.tsf.hu/hallhato-matematika/</a:t>
            </a:r>
            <a:r>
              <a:rPr lang="hu-HU" smtClean="0"/>
              <a:t> </a:t>
            </a:r>
          </a:p>
          <a:p>
            <a:pPr eaLnBrk="1" hangingPunct="1"/>
            <a:endParaRPr lang="hu-HU"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pPr eaLnBrk="1" fontAlgn="auto" hangingPunct="1">
              <a:spcAft>
                <a:spcPts val="0"/>
              </a:spcAft>
              <a:defRPr/>
            </a:pPr>
            <a:r>
              <a:rPr lang="hu-HU" dirty="0" smtClean="0"/>
              <a:t>References</a:t>
            </a:r>
            <a:br>
              <a:rPr lang="hu-HU" dirty="0" smtClean="0"/>
            </a:br>
            <a:endParaRPr lang="hu-HU" dirty="0"/>
          </a:p>
        </p:txBody>
      </p:sp>
      <p:sp>
        <p:nvSpPr>
          <p:cNvPr id="43011" name="Élőláb helye 2"/>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hu-HU"/>
              <a:t>László Rátz, Vándorgyülés, 2013</a:t>
            </a:r>
          </a:p>
        </p:txBody>
      </p:sp>
      <p:sp>
        <p:nvSpPr>
          <p:cNvPr id="43012" name="Dia számának helye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3289306C-A938-4A6E-92D7-A8C6A0AE1A4B}" type="slidenum">
              <a:rPr lang="hu-HU" smtClean="0"/>
              <a:t>26</a:t>
            </a:fld>
            <a:endParaRPr lang="hu-HU" smtClean="0"/>
          </a:p>
        </p:txBody>
      </p:sp>
      <p:sp>
        <p:nvSpPr>
          <p:cNvPr id="5" name="Tartalom helye 4"/>
          <p:cNvSpPr>
            <a:spLocks noGrp="1"/>
          </p:cNvSpPr>
          <p:nvPr>
            <p:ph sz="quarter" idx="1"/>
          </p:nvPr>
        </p:nvSpPr>
        <p:spPr>
          <a:xfrm>
            <a:off x="914400" y="1268413"/>
            <a:ext cx="8229600" cy="5329237"/>
          </a:xfrm>
        </p:spPr>
        <p:txBody>
          <a:bodyPr>
            <a:normAutofit fontScale="92500" lnSpcReduction="10000"/>
          </a:bodyPr>
          <a:lstStyle/>
          <a:p>
            <a:pPr marL="274320" indent="-274320" eaLnBrk="1" fontAlgn="auto" hangingPunct="1">
              <a:spcAft>
                <a:spcPts val="0"/>
              </a:spcAft>
              <a:buFont typeface="Wingdings 3"/>
              <a:buChar char=""/>
              <a:defRPr/>
            </a:pPr>
            <a:r>
              <a:rPr lang="hu-HU" sz="1800" dirty="0" smtClean="0"/>
              <a:t>Csaba Pléh (1998). An Introduction </a:t>
            </a:r>
            <a:r>
              <a:rPr lang="hu-HU" sz="1800" dirty="0" err="1" smtClean="0"/>
              <a:t>to Epistemology</a:t>
            </a:r>
            <a:r>
              <a:rPr lang="hu-HU" sz="1800" dirty="0" smtClean="0"/>
              <a:t>. </a:t>
            </a:r>
            <a:r>
              <a:rPr lang="hu-HU" sz="1800" dirty="0" err="1" smtClean="0"/>
              <a:t>Typotex </a:t>
            </a:r>
            <a:r>
              <a:rPr lang="hu-HU" sz="1800" dirty="0" smtClean="0"/>
              <a:t>Publishing, Budapest.</a:t>
            </a:r>
          </a:p>
          <a:p>
            <a:pPr marL="274320" indent="-274320" eaLnBrk="1" fontAlgn="auto" hangingPunct="1">
              <a:spcAft>
                <a:spcPts val="0"/>
              </a:spcAft>
              <a:buFont typeface="Wingdings 3"/>
              <a:buChar char=""/>
              <a:defRPr/>
            </a:pPr>
            <a:r>
              <a:rPr lang="hu-HU" sz="1800" dirty="0" err="1" smtClean="0"/>
              <a:t>Ulric </a:t>
            </a:r>
            <a:r>
              <a:rPr lang="hu-HU" sz="1800" dirty="0" err="1" smtClean="0"/>
              <a:t>Neisser </a:t>
            </a:r>
            <a:r>
              <a:rPr lang="hu-HU" sz="1800" dirty="0" smtClean="0"/>
              <a:t>(1984). Cognition and Reality. Gondolat Publishing House, Budapest.</a:t>
            </a:r>
          </a:p>
          <a:p>
            <a:pPr marL="274320" indent="-274320" eaLnBrk="1" fontAlgn="auto" hangingPunct="1">
              <a:spcAft>
                <a:spcPts val="0"/>
              </a:spcAft>
              <a:buFont typeface="Wingdings 3"/>
              <a:buChar char=""/>
              <a:defRPr/>
            </a:pPr>
            <a:r>
              <a:rPr lang="hu-HU" sz="1800" dirty="0" smtClean="0"/>
              <a:t>Gabriella Dohány (2010). Possibilities for Interpreting Musical Literacy. </a:t>
            </a:r>
            <a:r>
              <a:rPr lang="hu-HU" sz="1800" dirty="0" smtClean="0">
                <a:hlinkClick r:id="rId2"/>
              </a:rPr>
              <a:t>Magyar Pedagógia, Vol. 110, No. 3, pp. 185–210.</a:t>
            </a:r>
            <a:endParaRPr lang="hu-HU" sz="1800" dirty="0" smtClean="0"/>
          </a:p>
          <a:p>
            <a:pPr marL="274320" indent="-274320" eaLnBrk="1" fontAlgn="auto" hangingPunct="1">
              <a:spcAft>
                <a:spcPts val="0"/>
              </a:spcAft>
              <a:buFont typeface="Wingdings 3"/>
              <a:buChar char=""/>
              <a:defRPr/>
            </a:pPr>
            <a:r>
              <a:rPr lang="hu-HU" sz="1800" dirty="0" smtClean="0"/>
              <a:t>Edited by Valéria Csépe, Miklós Győri and Anett Ragó (2007). General Psychology 1 – Perception and Attention. Osiris Publishing, Budapest.</a:t>
            </a:r>
          </a:p>
          <a:p>
            <a:pPr marL="274320" indent="-274320" eaLnBrk="1" fontAlgn="auto" hangingPunct="1">
              <a:spcAft>
                <a:spcPts val="0"/>
              </a:spcAft>
              <a:buFont typeface="Wingdings 3"/>
              <a:buChar char=""/>
              <a:defRPr/>
            </a:pPr>
            <a:r>
              <a:rPr lang="hu-HU" sz="1800" dirty="0" smtClean="0"/>
              <a:t>András Ambrus (2003). Classification of tasks based on their function in the educational process.</a:t>
            </a:r>
            <a:br>
              <a:rPr lang="hu-HU" sz="1800" dirty="0" smtClean="0"/>
            </a:br>
            <a:r>
              <a:rPr lang="hu-HU" sz="1800" dirty="0" smtClean="0">
                <a:hlinkClick r:id="rId3"/>
              </a:rPr>
              <a:t>http://xml.inf.elte.hu/~mathdid/</a:t>
            </a:r>
            <a:endParaRPr lang="hu-HU" sz="1800" dirty="0" smtClean="0"/>
          </a:p>
          <a:p>
            <a:pPr marL="274320" indent="-274320" eaLnBrk="1" fontAlgn="auto" hangingPunct="1">
              <a:spcAft>
                <a:spcPts val="0"/>
              </a:spcAft>
              <a:buFont typeface="Wingdings 3"/>
              <a:buChar char=""/>
              <a:defRPr/>
            </a:pPr>
            <a:r>
              <a:rPr lang="hu-HU" sz="1800" dirty="0" smtClean="0"/>
              <a:t>József Peller (2003). On the process of acquiring mathematical knowledge. Eötvös Publishing House – Budapest. </a:t>
            </a:r>
          </a:p>
          <a:p>
            <a:pPr marL="274320" indent="-274320" eaLnBrk="1" fontAlgn="auto" hangingPunct="1">
              <a:spcAft>
                <a:spcPts val="0"/>
              </a:spcAft>
              <a:buFont typeface="Wingdings 3"/>
              <a:buChar char=""/>
              <a:defRPr/>
            </a:pPr>
            <a:r>
              <a:rPr lang="hu-HU" sz="1800" dirty="0" smtClean="0"/>
              <a:t>Balázs Kovács (2010). Dialogue of the Senses – The Aesthetics of Interactive Sonification. Budapest, ELTE, PhD thesis.</a:t>
            </a:r>
          </a:p>
          <a:p>
            <a:pPr marL="274320" indent="-274320" eaLnBrk="1" fontAlgn="auto" hangingPunct="1">
              <a:spcAft>
                <a:spcPts val="0"/>
              </a:spcAft>
              <a:buFont typeface="Wingdings 3"/>
              <a:buChar char=""/>
              <a:defRPr/>
            </a:pPr>
            <a:r>
              <a:rPr lang="hu-HU" sz="1800" dirty="0" err="1" smtClean="0"/>
              <a:t>R. Skemp</a:t>
            </a:r>
            <a:r>
              <a:rPr lang="hu-HU" sz="1800" dirty="0" smtClean="0"/>
              <a:t>: The Psychology of Mathematical Learning, Budapest, 1975. </a:t>
            </a:r>
          </a:p>
          <a:p>
            <a:pPr marL="274320" indent="-274320" eaLnBrk="1" fontAlgn="auto" hangingPunct="1">
              <a:spcAft>
                <a:spcPts val="0"/>
              </a:spcAft>
              <a:buFont typeface="Wingdings 3"/>
              <a:buChar char=""/>
              <a:defRPr/>
            </a:pPr>
            <a:r>
              <a:rPr lang="hu-HU" sz="1800" dirty="0" smtClean="0">
                <a:hlinkClick r:id="rId4"/>
              </a:rPr>
              <a:t>http://www.viewplus.eu</a:t>
            </a:r>
            <a:endParaRPr lang="hu-HU" sz="1800" dirty="0" smtClean="0"/>
          </a:p>
          <a:p>
            <a:pPr marL="274320" indent="-274320" eaLnBrk="1" fontAlgn="auto" hangingPunct="1">
              <a:spcAft>
                <a:spcPts val="0"/>
              </a:spcAft>
              <a:buFont typeface="Wingdings 3"/>
              <a:buChar char=""/>
              <a:defRPr/>
            </a:pPr>
            <a:r>
              <a:rPr lang="hu-HU" sz="1800" dirty="0" smtClean="0"/>
              <a:t>Éva Vásárhelyi (2003). Concept Formation and Representations.</a:t>
            </a:r>
            <a:r>
              <a:rPr lang="hu-HU" sz="1800" dirty="0" smtClean="0">
                <a:hlinkClick r:id="rId3"/>
              </a:rPr>
              <a:t> http://xml.inf.elte.hu/~mathdid/</a:t>
            </a:r>
            <a:endParaRPr lang="hu-HU" sz="1800" dirty="0" smtClean="0"/>
          </a:p>
        </p:txBody>
      </p:sp>
    </p:spTree>
  </p:cSld>
  <p:clrMapOvr>
    <a:masterClrMapping/>
  </p:clrMapOvr>
  <p:timing>
    <p:tnLst>
      <p:par>
        <p:cTn id="1" dur="indefinite" restart="never" nodeType="tmRoot"/>
      </p:par>
    </p:tnLst>
  </p:timing>
</p:sld>
</file>

<file path=ppt/slides/slide27.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solidFill>
          <a:srgbClr val="F4F9F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3296CD-A63C-4D4F-AAD6-347B6E792551}"/>
              </a:ext>
            </a:extLst>
          </p:cNvPr>
          <p:cNvSpPr txBox="1"/>
          <p:nvPr/>
        </p:nvSpPr>
        <p:spPr>
          <a:xfrm>
            <a:off x="289301" y="2779889"/>
            <a:ext cx="6222794" cy="461665"/>
          </a:xfrm>
          <a:prstGeom prst="rect">
            <a:avLst/>
          </a:prstGeom>
          <a:noFill/>
        </p:spPr>
        <p:txBody>
          <a:bodyPr wrap="none" rtlCol="0">
            <a:spAutoFit/>
          </a:bodyPr>
          <a:lstStyle/>
          <a:p>
            <a:r>
              <a:rPr lang="de-DE" sz="2400" noProof="1">
                <a:solidFill>
                  <a:srgbClr val="0F2B46"/>
                </a:solidFill>
                <a:latin typeface="Helvetica" pitchFamily="2" charset="0"/>
              </a:rPr>
              <a:t>Subscribe to DeepL Pro to edit this document.</a:t>
            </a:r>
          </a:p>
        </p:txBody>
      </p:sp>
      <p:sp>
        <p:nvSpPr>
          <p:cNvPr id="8" name="TextBox 7">
            <a:extLst>
              <a:ext uri="{FF2B5EF4-FFF2-40B4-BE49-F238E27FC236}">
                <a16:creationId xmlns:a16="http://schemas.microsoft.com/office/drawing/2014/main" id="{1DDA699B-AA79-2E42-83E3-ACBDD53F87D8}"/>
              </a:ext>
            </a:extLst>
          </p:cNvPr>
          <p:cNvSpPr txBox="1"/>
          <p:nvPr/>
        </p:nvSpPr>
        <p:spPr>
          <a:xfrm>
            <a:off x="289301" y="3241554"/>
            <a:ext cx="4887235" cy="369332"/>
          </a:xfrm>
          <a:prstGeom prst="rect">
            <a:avLst/>
          </a:prstGeom>
          <a:noFill/>
        </p:spPr>
        <p:txBody>
          <a:bodyPr wrap="none" rtlCol="0">
            <a:spAutoFit/>
          </a:bodyPr>
          <a:lstStyle/>
          <a:p>
            <a:r>
              <a:rPr lang="de-DE" noProof="1">
                <a:solidFill>
                  <a:srgbClr val="0F2B46"/>
                </a:solidFill>
                <a:latin typeface="Helvetica" pitchFamily="2" charset="0"/>
              </a:rPr>
              <a:t>Visit </a:t>
            </a:r>
            <a:r>
              <a:rPr lang="de-DE" noProof="1">
                <a:solidFill>
                  <a:srgbClr val="006494"/>
                </a:solidFill>
                <a:latin typeface="Helvetica" pitchFamily="2" charset="0"/>
                <a:hlinkClick r:id="Rcaf8371d621c432b"/>
              </a:rPr>
              <a:t>www.DeepL.com/pro</a:t>
            </a:r>
            <a:r>
              <a:rPr lang="de-DE" noProof="1">
                <a:solidFill>
                  <a:srgbClr val="0F2B46"/>
                </a:solidFill>
                <a:latin typeface="Helvetica" pitchFamily="2" charset="0"/>
              </a:rPr>
              <a:t> for more information.</a:t>
            </a:r>
          </a:p>
        </p:txBody>
      </p:sp>
      <p:pic>
        <p:nvPicPr>
          <p:cNvPr id="3" name="Picture 2">
            <a:extLst>
              <a:ext uri="{FF2B5EF4-FFF2-40B4-BE49-F238E27FC236}">
                <a16:creationId xmlns:a16="http://schemas.microsoft.com/office/drawing/2014/main" id="{91465485-E747-EF46-84F2-5C5CB0F90C9B}"/>
              </a:ext>
            </a:extLst>
          </p:cNvPr>
          <p:cNvPicPr>
            <a:picLocks noChangeAspect="1"/>
          </p:cNvPicPr>
          <p:nvPr/>
        </p:nvPicPr>
        <p:blipFill>
          <a:blip r:embed="R322f6a0eaecd43cf"/>
          <a:stretch>
            <a:fillRect/>
          </a:stretch>
        </p:blipFill>
        <p:spPr>
          <a:xfrm>
            <a:off x="400512" y="1215557"/>
            <a:ext cx="2616200" cy="889000"/>
          </a:xfrm>
          <a:prstGeom prst="rect">
            <a:avLst/>
          </a:prstGeom>
        </p:spPr>
      </p:pic>
    </p:spTree>
    <p:extLst>
      <p:ext uri="{BB962C8B-B14F-4D97-AF65-F5344CB8AC3E}">
        <p14:creationId xmlns:p14="http://schemas.microsoft.com/office/powerpoint/2010/main" val="14123645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ó">
  <a:themeElements>
    <a:clrScheme name="Egyéni 4.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352145"/>
      </a:hlink>
      <a:folHlink>
        <a:srgbClr val="8959AF"/>
      </a:folHlink>
    </a:clrScheme>
    <a:fontScheme name="Origó">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ó">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ó">
  <a:themeElements>
    <a:clrScheme name="Egyéni 5.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5B3875"/>
      </a:hlink>
      <a:folHlink>
        <a:srgbClr val="7D8524"/>
      </a:folHlink>
    </a:clrScheme>
    <a:fontScheme name="Origó">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ó">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gyéni 4.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352145"/>
    </a:hlink>
    <a:folHlink>
      <a:srgbClr val="8959AF"/>
    </a:folHlink>
  </a:clrScheme>
</a:themeOverride>
</file>

<file path=ppt/theme/themeOverride2.xml><?xml version="1.0" encoding="utf-8"?>
<a:themeOverride xmlns:a="http://schemas.openxmlformats.org/drawingml/2006/main">
  <a:clrScheme name="Egyéni 4.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352145"/>
    </a:hlink>
    <a:folHlink>
      <a:srgbClr val="8959AF"/>
    </a:folHlink>
  </a:clrScheme>
</a:themeOverride>
</file>

<file path=ppt/theme/themeOverride3.xml><?xml version="1.0" encoding="utf-8"?>
<a:themeOverride xmlns:a="http://schemas.openxmlformats.org/drawingml/2006/main">
  <a:clrScheme name="Egyéni 5.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5B3875"/>
    </a:hlink>
    <a:folHlink>
      <a:srgbClr val="7D8524"/>
    </a:folHlink>
  </a:clrScheme>
</a:themeOverride>
</file>

<file path=ppt/theme/themeOverride4.xml><?xml version="1.0" encoding="utf-8"?>
<a:themeOverride xmlns:a="http://schemas.openxmlformats.org/drawingml/2006/main">
  <a:clrScheme name="Egyéni 5.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5B3875"/>
    </a:hlink>
    <a:folHlink>
      <a:srgbClr val="7D8524"/>
    </a:folHlink>
  </a:clrScheme>
</a:themeOverride>
</file>

<file path=docProps/app.xml><?xml version="1.0" encoding="utf-8"?>
<Properties xmlns="http://schemas.openxmlformats.org/officeDocument/2006/extended-properties" xmlns:vt="http://schemas.openxmlformats.org/officeDocument/2006/docPropsVTypes">
  <Template>Origin</Template>
  <TotalTime>3230</TotalTime>
  <Words>1817</Words>
  <Application>Microsoft Office PowerPoint</Application>
  <PresentationFormat>Diavetítés a képernyőre (4:3 oldalarány)</PresentationFormat>
  <Paragraphs>197</Paragraphs>
  <Slides>26</Slides>
  <Notes>12</Notes>
  <HiddenSlides>0</HiddenSlides>
  <MMClips>0</MMClips>
  <ScaleCrop>false</ScaleCrop>
  <HeadingPairs>
    <vt:vector size="6" baseType="variant">
      <vt:variant>
        <vt:lpstr>Használt betűtípusok</vt:lpstr>
      </vt:variant>
      <vt:variant>
        <vt:i4>7</vt:i4>
      </vt:variant>
      <vt:variant>
        <vt:lpstr>Tervezősablon</vt:lpstr>
      </vt:variant>
      <vt:variant>
        <vt:i4>16</vt:i4>
      </vt:variant>
      <vt:variant>
        <vt:lpstr>Diacímek</vt:lpstr>
      </vt:variant>
      <vt:variant>
        <vt:i4>26</vt:i4>
      </vt:variant>
    </vt:vector>
  </HeadingPairs>
  <TitlesOfParts>
    <vt:vector size="49" baseType="lpstr">
      <vt:lpstr>Arial</vt:lpstr>
      <vt:lpstr>Bookman Old Style</vt:lpstr>
      <vt:lpstr>Wingdings 3</vt:lpstr>
      <vt:lpstr>Wingdings</vt:lpstr>
      <vt:lpstr>Calibri</vt:lpstr>
      <vt:lpstr>Gill Sans MT</vt:lpstr>
      <vt:lpstr>Webdings</vt:lpstr>
      <vt:lpstr>Origó</vt:lpstr>
      <vt:lpstr>1_Origó</vt:lpstr>
      <vt:lpstr>2_Origó</vt:lpstr>
      <vt:lpstr>3_Origó</vt:lpstr>
      <vt:lpstr>4_Origó</vt:lpstr>
      <vt:lpstr>5_Origó</vt:lpstr>
      <vt:lpstr>6_Origó</vt:lpstr>
      <vt:lpstr>7_Origó</vt:lpstr>
      <vt:lpstr>8_Origó</vt:lpstr>
      <vt:lpstr>9_Origó</vt:lpstr>
      <vt:lpstr>10_Origó</vt:lpstr>
      <vt:lpstr>11_Origó</vt:lpstr>
      <vt:lpstr>12_Origó</vt:lpstr>
      <vt:lpstr>13_Origó</vt:lpstr>
      <vt:lpstr>14_Origó</vt:lpstr>
      <vt:lpstr>15_Origó</vt:lpstr>
      <vt:lpstr>Hallható matematika – az audio - vizuális prezentációk alkalmazási lehetőségei a függvénytanban </vt:lpstr>
      <vt:lpstr>Röviden a tartalomból </vt:lpstr>
      <vt:lpstr>Köszönetnyilvánítás a kutatás bázisát biztosító két intézménynek </vt:lpstr>
      <vt:lpstr>4. dia</vt:lpstr>
      <vt:lpstr>Célkitűzés</vt:lpstr>
      <vt:lpstr>A függvénytanítás szintjei (Peller 1998) </vt:lpstr>
      <vt:lpstr>Grafikon kapcsolatteremtő szerepe</vt:lpstr>
      <vt:lpstr>Grafikon „kapcsolatteremtő” szerepe a tárgyi és szimbolikus kommunikációs sík között</vt:lpstr>
      <vt:lpstr>Eszközök</vt:lpstr>
      <vt:lpstr>10. dia</vt:lpstr>
      <vt:lpstr>Függvénytulajdonságok audiovizuális érzékeltetése:</vt:lpstr>
      <vt:lpstr>Pozitív és negatív függvényértékek, zérushely</vt:lpstr>
      <vt:lpstr>Növekvő függvény </vt:lpstr>
      <vt:lpstr>Csökkenő függvény </vt:lpstr>
      <vt:lpstr>Lokális szélsőértékhely </vt:lpstr>
      <vt:lpstr>Korlátos függvények </vt:lpstr>
      <vt:lpstr>Páros és páratlan függvények </vt:lpstr>
      <vt:lpstr>Periodikus függvények </vt:lpstr>
      <vt:lpstr>Szakadási pontok </vt:lpstr>
      <vt:lpstr>20. dia</vt:lpstr>
      <vt:lpstr>Az érzékszervek között direkt kapcsolatot feltételezünk, közvetítő leképezési rendszer nélkül. Másodlagos forrás (Kovács 2010).</vt:lpstr>
      <vt:lpstr>Az auditív ábrázolás elmélete </vt:lpstr>
      <vt:lpstr>Az audio - vizuális ábrázolás a függvénytanban MathTrax segitségével (1)</vt:lpstr>
      <vt:lpstr>Az audio - vizuális ábrázolás a függvénytanban MathTrax segitségével (2)</vt:lpstr>
      <vt:lpstr>Audio-vizuális eszközök a matematika oktatásban </vt:lpstr>
      <vt:lpstr>Felhasznált irodalom </vt:lpstr>
    </vt:vector>
  </TitlesOfParts>
  <LinksUpToDate>false</LinksUpToDate>
  <SharedDoc>false</SharedDoc>
  <HyperlinksChanged>false</HyperlinksChanged>
  <AppVersion>12.0000</AppVersion>
</Properties>
</file>

<file path=docProps/core.xml><?xml version="1.0" encoding="utf-8"?>
<coreProperties xmlns:dc="http://purl.org/dc/elements/1.1/" xmlns:dcterms="http://purl.org/dc/terms/" xmlns:xsi="http://www.w3.org/2001/XMLSchema-instance" xmlns="http://schemas.openxmlformats.org/package/2006/metadata/core-properties">
  <dc:title>Hallható matematika – a XXI. sz.-i Descartes koordinátarendszere</dc:title>
  <dc:subject>Matematika oktatás jelene és jövője</dc:subject>
  <dc:creator>Szakácsné Nagy Szilvia</dc:creator>
  <keywords>függvény "hallható matematika", docId:B170748A7F6F7942861C3B4CA9073619</keywords>
  <dc:description>Közzététel Közgé és a saját weboldalamon is</dc:description>
  <lastModifiedBy>IRODA</lastModifiedBy>
  <revision>573</revision>
  <dcterms:created xsi:type="dcterms:W3CDTF">2012-10-07T07:10:29.0000000Z</dcterms:created>
  <dcterms:modified xsi:type="dcterms:W3CDTF">2013-09-02T11:45:07.0000000Z</dcterms:modified>
  <category>előadás anyaga</category>
  <contentStatus>interneten közzétett végleges</contentStatus>
</coreProperties>
</file>