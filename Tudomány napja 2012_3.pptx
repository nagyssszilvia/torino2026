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712" r:id="rId2"/>
  </p:sldMasterIdLst>
  <p:notesMasterIdLst>
    <p:notesMasterId r:id="rId25"/>
  </p:notesMasterIdLst>
  <p:sldIdLst>
    <p:sldId id="256" r:id="rId3"/>
    <p:sldId id="276" r:id="rId4"/>
    <p:sldId id="293" r:id="rId5"/>
    <p:sldId id="312" r:id="rId6"/>
    <p:sldId id="299" r:id="rId7"/>
    <p:sldId id="314" r:id="rId8"/>
    <p:sldId id="308" r:id="rId9"/>
    <p:sldId id="311" r:id="rId10"/>
    <p:sldId id="313" r:id="rId11"/>
    <p:sldId id="315" r:id="rId12"/>
    <p:sldId id="279" r:id="rId13"/>
    <p:sldId id="273" r:id="rId14"/>
    <p:sldId id="274" r:id="rId15"/>
    <p:sldId id="309" r:id="rId16"/>
    <p:sldId id="261" r:id="rId17"/>
    <p:sldId id="262" r:id="rId18"/>
    <p:sldId id="263" r:id="rId19"/>
    <p:sldId id="316" r:id="rId20"/>
    <p:sldId id="317" r:id="rId21"/>
    <p:sldId id="318" r:id="rId22"/>
    <p:sldId id="277" r:id="rId23"/>
    <p:sldId id="298" r:id="rId24"/>
  </p:sldIdLst>
  <p:sldSz cx="9144000" cy="6858000" type="screen4x3"/>
  <p:notesSz cx="6640513" cy="9904413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A5E5"/>
    <a:srgbClr val="000000"/>
    <a:srgbClr val="FEF8A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181" autoAdjust="0"/>
    <p:restoredTop sz="93623" autoAdjust="0"/>
  </p:normalViewPr>
  <p:slideViewPr>
    <p:cSldViewPr>
      <p:cViewPr>
        <p:scale>
          <a:sx n="60" d="100"/>
          <a:sy n="60" d="100"/>
        </p:scale>
        <p:origin x="-810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7556" cy="4952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761421" y="0"/>
            <a:ext cx="2877556" cy="4952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09B72-EBAD-4BF4-9B9C-85D38013245F}" type="datetimeFigureOut">
              <a:rPr lang="hu-HU" smtClean="0"/>
              <a:pPr/>
              <a:t>2012.11.22.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844550" y="742950"/>
            <a:ext cx="4951413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64052" y="4704596"/>
            <a:ext cx="5312410" cy="4456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9407473"/>
            <a:ext cx="2877556" cy="4952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761421" y="9407473"/>
            <a:ext cx="2877556" cy="4952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27EDE-63F0-445D-B9DC-5F8C90FA47CD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Célszerű a fogalmi struktúrákat lehetőleg sok ekvivalens, de az észlelés számára különböző formában bemutatni a gyerekeknek, hogy a fogalmak kialakításában minél jobban érvényesülhessenek az egyéni különbségek, és hogy a gyerekek egy-egy fogalom absztrakt matematikai tartalmát minél jobban megragadhassák.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27EDE-63F0-445D-B9DC-5F8C90FA47CD}" type="slidenum">
              <a:rPr lang="hu-HU" smtClean="0"/>
              <a:pPr/>
              <a:t>8</a:t>
            </a:fld>
            <a:endParaRPr lang="hu-H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4CEB67-BC75-43B5-8F42-B1A7AF0AE23D}" type="slidenum">
              <a:rPr lang="hu-HU" smtClean="0"/>
              <a:pPr/>
              <a:t>15</a:t>
            </a:fld>
            <a:endParaRPr lang="hu-HU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42F2DE-24B5-42CB-96BF-931544822335}" type="slidenum">
              <a:rPr lang="hu-HU" smtClean="0"/>
              <a:pPr/>
              <a:t>17</a:t>
            </a:fld>
            <a:endParaRPr lang="hu-H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 smtClean="0"/>
              <a:t>Konvex növekvő = gyorsulva növekvő</a:t>
            </a:r>
          </a:p>
          <a:p>
            <a:pPr eaLnBrk="1" hangingPunct="1"/>
            <a:r>
              <a:rPr lang="hu-HU" smtClean="0"/>
              <a:t>Konkáv növekvő = lassulva növekvő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42F2DE-24B5-42CB-96BF-931544822335}" type="slidenum">
              <a:rPr lang="hu-HU" smtClean="0"/>
              <a:pPr/>
              <a:t>18</a:t>
            </a:fld>
            <a:endParaRPr lang="hu-H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 smtClean="0"/>
              <a:t>Konvex növekvő = gyorsulva növekvő</a:t>
            </a:r>
          </a:p>
          <a:p>
            <a:pPr eaLnBrk="1" hangingPunct="1"/>
            <a:r>
              <a:rPr lang="hu-HU" smtClean="0"/>
              <a:t>Konkáv növekvő = lassulva növekvő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42F2DE-24B5-42CB-96BF-931544822335}" type="slidenum">
              <a:rPr lang="hu-HU" smtClean="0"/>
              <a:pPr/>
              <a:t>19</a:t>
            </a:fld>
            <a:endParaRPr lang="hu-H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 smtClean="0"/>
              <a:t>Konvex növekvő = gyorsulva növekvő</a:t>
            </a:r>
          </a:p>
          <a:p>
            <a:pPr eaLnBrk="1" hangingPunct="1"/>
            <a:r>
              <a:rPr lang="hu-HU" smtClean="0"/>
              <a:t>Konkáv növekvő = lassulva növekvő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42F2DE-24B5-42CB-96BF-931544822335}" type="slidenum">
              <a:rPr lang="hu-HU" smtClean="0"/>
              <a:pPr/>
              <a:t>20</a:t>
            </a:fld>
            <a:endParaRPr lang="hu-H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 smtClean="0"/>
              <a:t>Konvex növekvő = gyorsulva növekvő</a:t>
            </a:r>
          </a:p>
          <a:p>
            <a:pPr eaLnBrk="1" hangingPunct="1"/>
            <a:r>
              <a:rPr lang="hu-HU" smtClean="0"/>
              <a:t>Konkáv növekvő = lassulva növekvő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27EDE-63F0-445D-B9DC-5F8C90FA47CD}" type="slidenum">
              <a:rPr lang="hu-HU" smtClean="0"/>
              <a:pPr/>
              <a:t>21</a:t>
            </a:fld>
            <a:endParaRPr lang="hu-H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ctrTitle"/>
          </p:nvPr>
        </p:nvSpPr>
        <p:spPr>
          <a:xfrm>
            <a:off x="1219200" y="3523110"/>
            <a:ext cx="6858000" cy="1487016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28" name="Dátum helye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hu-HU"/>
          </a:p>
        </p:txBody>
      </p:sp>
      <p:sp>
        <p:nvSpPr>
          <p:cNvPr id="17" name="Élőláb helye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29" name="Dia számának helye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3129DFA-9269-405E-8012-2ACF7FC0EE12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dirty="0" smtClean="0"/>
              <a:t>Mintacím szerkesztése</a:t>
            </a:r>
            <a:endParaRPr kumimoji="0"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8676456" y="6453336"/>
            <a:ext cx="432520" cy="365760"/>
          </a:xfrm>
        </p:spPr>
        <p:txBody>
          <a:bodyPr/>
          <a:lstStyle>
            <a:lvl1pPr algn="ctr">
              <a:defRPr/>
            </a:lvl1pPr>
          </a:lstStyle>
          <a:p>
            <a:fld id="{22D59DB6-5F7D-499C-A599-3478E63C2738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8" name="Tartalom helye 7"/>
          <p:cNvSpPr>
            <a:spLocks noGrp="1"/>
          </p:cNvSpPr>
          <p:nvPr>
            <p:ph sz="quarter" idx="1"/>
          </p:nvPr>
        </p:nvSpPr>
        <p:spPr>
          <a:xfrm>
            <a:off x="914400" y="126876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13DE628-EAA1-4E59-8635-4C7079CA0BAD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7" name="Téglalap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C1B34-B858-40F5-AC84-7CFBECED2A98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9" name="Tartalom helye 8"/>
          <p:cNvSpPr>
            <a:spLocks noGrp="1"/>
          </p:cNvSpPr>
          <p:nvPr>
            <p:ph sz="quarter" idx="1"/>
          </p:nvPr>
        </p:nvSpPr>
        <p:spPr>
          <a:xfrm>
            <a:off x="611560" y="126876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4716016" y="126876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8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55576" y="1268760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3"/>
          </p:nvPr>
        </p:nvSpPr>
        <p:spPr>
          <a:xfrm>
            <a:off x="5102225" y="126876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FB2A-4C20-4DED-9465-97110247D2E8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755576" y="2132856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3" name="Tartalom helye 12"/>
          <p:cNvSpPr>
            <a:spLocks noGrp="1"/>
          </p:cNvSpPr>
          <p:nvPr>
            <p:ph sz="quarter" idx="4"/>
          </p:nvPr>
        </p:nvSpPr>
        <p:spPr>
          <a:xfrm>
            <a:off x="5105400" y="2132856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0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7DC-5FD5-45FD-89E4-4C2DD10BAC25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7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08230-3BD7-4EB2-A2E0-C5E597A6161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5" name="Egyenes összekötő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Háromszög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1FB6C-6ABC-48E6-850C-93CCD54CF77E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8" name="Egyenes összekötő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Egyenes összekötő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Háromszög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artalom helye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899592" y="1916832"/>
            <a:ext cx="7920880" cy="410445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hu-HU" dirty="0" smtClean="0"/>
              <a:t>Kép beszúrásához kattintson az ikonra</a:t>
            </a:r>
            <a:endParaRPr kumimoji="0"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043608" y="1239416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391F9-3588-44A4-B710-DBFBBF308415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8" name="Egyenes összekötő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Háromszög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B045C-518B-4701-A193-C82D685785BB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1608-E16F-4CD8-8DFF-B4A0F77A90E1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7" name="Egyenes összekötő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Háromszög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gyenes összekötő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ctrTitle"/>
          </p:nvPr>
        </p:nvSpPr>
        <p:spPr>
          <a:xfrm>
            <a:off x="1219200" y="3523110"/>
            <a:ext cx="6858000" cy="1487016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hu-HU" dirty="0" smtClean="0"/>
              <a:t>Mintacím szerkesztése</a:t>
            </a:r>
            <a:endParaRPr kumimoji="0" lang="en-US" dirty="0"/>
          </a:p>
        </p:txBody>
      </p:sp>
      <p:sp>
        <p:nvSpPr>
          <p:cNvPr id="28" name="Dátum helye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hu-HU"/>
          </a:p>
        </p:txBody>
      </p:sp>
      <p:sp>
        <p:nvSpPr>
          <p:cNvPr id="17" name="Élőláb helye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29" name="Dia számának helye 28"/>
          <p:cNvSpPr>
            <a:spLocks noGrp="1"/>
          </p:cNvSpPr>
          <p:nvPr>
            <p:ph type="sldNum" sz="quarter" idx="12"/>
          </p:nvPr>
        </p:nvSpPr>
        <p:spPr>
          <a:xfrm>
            <a:off x="8748464" y="6453336"/>
            <a:ext cx="1219200" cy="365760"/>
          </a:xfrm>
        </p:spPr>
        <p:txBody>
          <a:bodyPr/>
          <a:lstStyle/>
          <a:p>
            <a:fld id="{83129DFA-9269-405E-8012-2ACF7FC0EE12}" type="slidenum">
              <a:rPr lang="hu-HU" smtClean="0"/>
              <a:pPr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dirty="0" smtClean="0"/>
              <a:t>Mintacím szerkesztése</a:t>
            </a:r>
            <a:endParaRPr kumimoji="0"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22D59DB6-5F7D-499C-A599-3478E63C2738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8" name="Tartalom helye 7"/>
          <p:cNvSpPr>
            <a:spLocks noGrp="1"/>
          </p:cNvSpPr>
          <p:nvPr>
            <p:ph sz="quarter" idx="1"/>
          </p:nvPr>
        </p:nvSpPr>
        <p:spPr>
          <a:xfrm>
            <a:off x="914400" y="126876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13DE628-EAA1-4E59-8635-4C7079CA0BAD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7" name="Téglalap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58AC1B34-B858-40F5-AC84-7CFBECED2A98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9" name="Tartalom helye 8"/>
          <p:cNvSpPr>
            <a:spLocks noGrp="1"/>
          </p:cNvSpPr>
          <p:nvPr>
            <p:ph sz="quarter" idx="1"/>
          </p:nvPr>
        </p:nvSpPr>
        <p:spPr>
          <a:xfrm>
            <a:off x="611560" y="126876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4716016" y="126876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8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55576" y="1268760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3"/>
          </p:nvPr>
        </p:nvSpPr>
        <p:spPr>
          <a:xfrm>
            <a:off x="5102225" y="126876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E3A2FB2A-4C20-4DED-9465-97110247D2E8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755576" y="2132856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3" name="Tartalom helye 12"/>
          <p:cNvSpPr>
            <a:spLocks noGrp="1"/>
          </p:cNvSpPr>
          <p:nvPr>
            <p:ph sz="quarter" idx="4"/>
          </p:nvPr>
        </p:nvSpPr>
        <p:spPr>
          <a:xfrm>
            <a:off x="5105400" y="2132856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10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7DC-5FD5-45FD-89E4-4C2DD10BAC2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6" name="Háromszög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02708230-3BD7-4EB2-A2E0-C5E597A61617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5" name="Egyenes összekötő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Háromszög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A471FB6C-6ABC-48E6-850C-93CCD54CF77E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8" name="Egyenes összekötő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Egyenes összekötő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Háromszög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artalom helye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899592" y="1916832"/>
            <a:ext cx="7920880" cy="410445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hu-HU" dirty="0" smtClean="0"/>
              <a:t>Kép beszúrásához kattintson az ikonra</a:t>
            </a:r>
            <a:endParaRPr kumimoji="0"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043608" y="1239416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391F9-3588-44A4-B710-DBFBBF30841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8" name="Egyenes összekötő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Háromszög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455B045C-518B-4701-A193-C82D685785BB}" type="slidenum">
              <a:rPr lang="hu-HU" smtClean="0"/>
              <a:pPr/>
              <a:t>‹#›</a:t>
            </a:fld>
            <a:endParaRPr lang="hu-H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hu-HU" smtClean="0"/>
              <a:t>Mintaszöveg szerkesztése</a:t>
            </a:r>
          </a:p>
          <a:p>
            <a:pPr lvl="1" eaLnBrk="1" latinLnBrk="0" hangingPunct="1"/>
            <a:r>
              <a:rPr lang="hu-HU" smtClean="0"/>
              <a:t>Második szint</a:t>
            </a:r>
          </a:p>
          <a:p>
            <a:pPr lvl="2" eaLnBrk="1" latinLnBrk="0" hangingPunct="1"/>
            <a:r>
              <a:rPr lang="hu-HU" smtClean="0"/>
              <a:t>Harmadik szint</a:t>
            </a:r>
          </a:p>
          <a:p>
            <a:pPr lvl="3" eaLnBrk="1" latinLnBrk="0" hangingPunct="1"/>
            <a:r>
              <a:rPr lang="hu-HU" smtClean="0"/>
              <a:t>Negyedik szint</a:t>
            </a:r>
          </a:p>
          <a:p>
            <a:pPr lvl="4" eaLnBrk="1" latinLnBrk="0" hangingPunct="1"/>
            <a:r>
              <a:rPr lang="hu-HU" smtClean="0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EDE91608-E16F-4CD8-8DFF-B4A0F77A90E1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Egyenes összekötő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Háromszög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gyenes összekötő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, szöveg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50001F5-FD94-457C-A1B5-E617BDE60B2F}" type="slidenum">
              <a:rPr lang="hu-HU" smtClean="0"/>
              <a:pPr>
                <a:defRPr/>
              </a:pPr>
              <a:t>‹#›</a:t>
            </a:fld>
            <a:endParaRPr lang="hu-HU" dirty="0"/>
          </a:p>
        </p:txBody>
      </p:sp>
      <p:sp>
        <p:nvSpPr>
          <p:cNvPr id="8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smtClean="0"/>
              <a:t>Mintacím szerkesztése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dirty="0" smtClean="0"/>
              <a:t>Mintacím szerkesztése</a:t>
            </a:r>
            <a:endParaRPr kumimoji="0" lang="en-US" dirty="0"/>
          </a:p>
        </p:txBody>
      </p:sp>
      <p:sp>
        <p:nvSpPr>
          <p:cNvPr id="13" name="Szöveg helye 12"/>
          <p:cNvSpPr>
            <a:spLocks noGrp="1"/>
          </p:cNvSpPr>
          <p:nvPr>
            <p:ph type="body" idx="1"/>
          </p:nvPr>
        </p:nvSpPr>
        <p:spPr>
          <a:xfrm>
            <a:off x="914400" y="126876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 dirty="0" smtClean="0"/>
              <a:t>Mintaszöveg szerkesztése</a:t>
            </a:r>
          </a:p>
          <a:p>
            <a:pPr lvl="1" eaLnBrk="1" latinLnBrk="0" hangingPunct="1"/>
            <a:r>
              <a:rPr kumimoji="0" lang="hu-HU" dirty="0" smtClean="0"/>
              <a:t>Második szint</a:t>
            </a:r>
          </a:p>
          <a:p>
            <a:pPr lvl="2" eaLnBrk="1" latinLnBrk="0" hangingPunct="1"/>
            <a:r>
              <a:rPr kumimoji="0" lang="hu-HU" dirty="0" smtClean="0"/>
              <a:t>Harmadik szint</a:t>
            </a:r>
          </a:p>
          <a:p>
            <a:pPr lvl="3" eaLnBrk="1" latinLnBrk="0" hangingPunct="1"/>
            <a:r>
              <a:rPr kumimoji="0" lang="hu-HU" dirty="0" smtClean="0"/>
              <a:t>Negyedik szint</a:t>
            </a:r>
          </a:p>
          <a:p>
            <a:pPr lvl="4" eaLnBrk="1" latinLnBrk="0" hangingPunct="1"/>
            <a:r>
              <a:rPr kumimoji="0" lang="hu-HU" dirty="0" smtClean="0"/>
              <a:t>Ötödik szint</a:t>
            </a:r>
            <a:endParaRPr kumimoji="0" lang="en-US" dirty="0"/>
          </a:p>
        </p:txBody>
      </p:sp>
      <p:sp>
        <p:nvSpPr>
          <p:cNvPr id="14" name="Dátum helye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3"/>
          </p:nvPr>
        </p:nvSpPr>
        <p:spPr>
          <a:xfrm>
            <a:off x="323528" y="630932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23" name="Dia számának helye 22"/>
          <p:cNvSpPr>
            <a:spLocks noGrp="1"/>
          </p:cNvSpPr>
          <p:nvPr>
            <p:ph type="sldNum" sz="quarter" idx="4"/>
          </p:nvPr>
        </p:nvSpPr>
        <p:spPr>
          <a:xfrm>
            <a:off x="8711480" y="6453336"/>
            <a:ext cx="4325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2291C92-F799-4182-B68F-39DB8473989E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29" name="Egyenes összekötő 28"/>
          <p:cNvSpPr>
            <a:spLocks noChangeShapeType="1"/>
          </p:cNvSpPr>
          <p:nvPr/>
        </p:nvSpPr>
        <p:spPr bwMode="auto">
          <a:xfrm flipV="1">
            <a:off x="1166936" y="1124744"/>
            <a:ext cx="7293496" cy="18256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j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ím helye 2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 dirty="0" smtClean="0"/>
              <a:t>Mintacím szerkesztése</a:t>
            </a:r>
            <a:endParaRPr kumimoji="0" lang="en-US" dirty="0"/>
          </a:p>
        </p:txBody>
      </p:sp>
      <p:sp>
        <p:nvSpPr>
          <p:cNvPr id="13" name="Szöveg helye 12"/>
          <p:cNvSpPr>
            <a:spLocks noGrp="1"/>
          </p:cNvSpPr>
          <p:nvPr>
            <p:ph type="body" idx="1"/>
          </p:nvPr>
        </p:nvSpPr>
        <p:spPr>
          <a:xfrm>
            <a:off x="914400" y="126876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 dirty="0" smtClean="0"/>
              <a:t>Mintaszöveg szerkesztése</a:t>
            </a:r>
          </a:p>
          <a:p>
            <a:pPr lvl="1" eaLnBrk="1" latinLnBrk="0" hangingPunct="1"/>
            <a:r>
              <a:rPr kumimoji="0" lang="hu-HU" dirty="0" smtClean="0"/>
              <a:t>Második szint</a:t>
            </a:r>
          </a:p>
          <a:p>
            <a:pPr lvl="2" eaLnBrk="1" latinLnBrk="0" hangingPunct="1"/>
            <a:r>
              <a:rPr kumimoji="0" lang="hu-HU" dirty="0" smtClean="0"/>
              <a:t>Harmadik szint</a:t>
            </a:r>
          </a:p>
          <a:p>
            <a:pPr lvl="3" eaLnBrk="1" latinLnBrk="0" hangingPunct="1"/>
            <a:r>
              <a:rPr kumimoji="0" lang="hu-HU" dirty="0" smtClean="0"/>
              <a:t>Negyedik szint</a:t>
            </a:r>
          </a:p>
          <a:p>
            <a:pPr lvl="4" eaLnBrk="1" latinLnBrk="0" hangingPunct="1"/>
            <a:r>
              <a:rPr kumimoji="0" lang="hu-HU" dirty="0" smtClean="0"/>
              <a:t>Ötödik szint</a:t>
            </a:r>
            <a:endParaRPr kumimoji="0" lang="en-US" dirty="0"/>
          </a:p>
        </p:txBody>
      </p:sp>
      <p:sp>
        <p:nvSpPr>
          <p:cNvPr id="14" name="Dátum helye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3"/>
          </p:nvPr>
        </p:nvSpPr>
        <p:spPr>
          <a:xfrm>
            <a:off x="32352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23" name="Dia számának helye 22"/>
          <p:cNvSpPr>
            <a:spLocks noGrp="1"/>
          </p:cNvSpPr>
          <p:nvPr>
            <p:ph type="sldNum" sz="quarter" idx="4"/>
          </p:nvPr>
        </p:nvSpPr>
        <p:spPr>
          <a:xfrm>
            <a:off x="8676456" y="6453336"/>
            <a:ext cx="43252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2291C92-F799-4182-B68F-39DB8473989E}" type="slidenum">
              <a:rPr lang="hu-HU" smtClean="0"/>
              <a:pPr/>
              <a:t>‹#›</a:t>
            </a:fld>
            <a:endParaRPr lang="hu-H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j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slide" Target="slide16.xml"/><Relationship Id="rId7" Type="http://schemas.openxmlformats.org/officeDocument/2006/relationships/slide" Target="slide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darabszam_sor_oszlop2_gittanak1.exe" TargetMode="External"/><Relationship Id="rId5" Type="http://schemas.openxmlformats.org/officeDocument/2006/relationships/slide" Target="slide18.xml"/><Relationship Id="rId4" Type="http://schemas.openxmlformats.org/officeDocument/2006/relationships/slide" Target="slide17.xml"/><Relationship Id="rId9" Type="http://schemas.openxmlformats.org/officeDocument/2006/relationships/slide" Target="slide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szamegyenes_elokeszitese_2.exe" TargetMode="Externa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hyperlink" Target="darabszam_sor_oszlop2_gittanak1.ex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soralkotas_mintakovetes.exe" TargetMode="External"/><Relationship Id="rId5" Type="http://schemas.openxmlformats.org/officeDocument/2006/relationships/image" Target="../media/image7.png"/><Relationship Id="rId4" Type="http://schemas.openxmlformats.org/officeDocument/2006/relationships/hyperlink" Target="soralkotas_alma_barack_korte.ex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hyperlink" Target="hangskala_mint_szamskala.ex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hyperlink" Target="negativ_szamok_elokeszitese_liftmodell.ex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gfk.tsf.hu/hallhato-matematika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zakacsne.nagy.szilvia@gk.szie.hu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xml.inf.elte.hu/~mathdid/" TargetMode="External"/><Relationship Id="rId2" Type="http://schemas.openxmlformats.org/officeDocument/2006/relationships/hyperlink" Target="http://www.magyarpedagogia.hu/document/Dohany_MP1103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viewplus.e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87624" y="1916832"/>
            <a:ext cx="6858000" cy="1487016"/>
          </a:xfrm>
        </p:spPr>
        <p:txBody>
          <a:bodyPr>
            <a:noAutofit/>
          </a:bodyPr>
          <a:lstStyle/>
          <a:p>
            <a:pPr algn="ctr"/>
            <a:r>
              <a:rPr lang="hu-HU" dirty="0"/>
              <a:t>Hallható </a:t>
            </a:r>
            <a:r>
              <a:rPr lang="hu-HU" dirty="0" smtClean="0"/>
              <a:t>matematika szoftvercsomag bemutatása</a:t>
            </a:r>
            <a:endParaRPr lang="hu-HU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331640" y="4149080"/>
            <a:ext cx="6400800" cy="1752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hu-HU" sz="2000" dirty="0" smtClean="0">
                <a:latin typeface="+mj-lt"/>
                <a:cs typeface="Vani" pitchFamily="34" charset="0"/>
              </a:rPr>
              <a:t>Dr. Szakácsné Nagy Szilvia</a:t>
            </a:r>
          </a:p>
          <a:p>
            <a:pPr algn="ctr">
              <a:buNone/>
            </a:pPr>
            <a:r>
              <a:rPr lang="hu-HU" sz="1600" dirty="0" smtClean="0">
                <a:cs typeface="Vani" pitchFamily="34" charset="0"/>
              </a:rPr>
              <a:t>SZIE GAEK</a:t>
            </a:r>
          </a:p>
          <a:p>
            <a:pPr algn="ctr">
              <a:buNone/>
            </a:pPr>
            <a:r>
              <a:rPr lang="hu-HU" sz="1600" dirty="0" smtClean="0">
                <a:cs typeface="Vani" pitchFamily="34" charset="0"/>
              </a:rPr>
              <a:t> Alkalmazott Természettudományi Intézet</a:t>
            </a:r>
          </a:p>
          <a:p>
            <a:pPr algn="ctr">
              <a:buNone/>
            </a:pPr>
            <a:r>
              <a:rPr lang="hu-HU" sz="1600" dirty="0" smtClean="0">
                <a:cs typeface="Vani" pitchFamily="34" charset="0"/>
              </a:rPr>
              <a:t>Főiskolai adjunktus</a:t>
            </a:r>
          </a:p>
          <a:p>
            <a:pPr algn="ctr">
              <a:buNone/>
            </a:pPr>
            <a:endParaRPr lang="hu-HU" sz="2400" dirty="0">
              <a:cs typeface="Vani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899592" y="6011996"/>
            <a:ext cx="78277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i="1" dirty="0" smtClean="0"/>
              <a:t>„Az élhető város és vidéke” szimpózium - </a:t>
            </a:r>
            <a:r>
              <a:rPr lang="hu-HU" i="1" dirty="0"/>
              <a:t>Békéscsaba, 2012. </a:t>
            </a:r>
            <a:r>
              <a:rPr lang="hu-HU" i="1" dirty="0" smtClean="0"/>
              <a:t>november 22.</a:t>
            </a:r>
            <a:endParaRPr lang="hu-H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Röviden a tartalomból</a:t>
            </a:r>
            <a:br>
              <a:rPr lang="hu-HU" dirty="0" smtClean="0"/>
            </a:br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1475656" y="5661248"/>
            <a:ext cx="5976664" cy="365760"/>
          </a:xfrm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2</a:t>
            </a:fld>
            <a:endParaRPr lang="hu-HU"/>
          </a:p>
        </p:txBody>
      </p:sp>
      <p:sp>
        <p:nvSpPr>
          <p:cNvPr id="5" name="Tartalom helye 4"/>
          <p:cNvSpPr>
            <a:spLocks noGrp="1"/>
          </p:cNvSpPr>
          <p:nvPr>
            <p:ph sz="quarter" idx="1"/>
          </p:nvPr>
        </p:nvSpPr>
        <p:spPr>
          <a:xfrm>
            <a:off x="755576" y="1268760"/>
            <a:ext cx="8388424" cy="4937760"/>
          </a:xfrm>
        </p:spPr>
        <p:txBody>
          <a:bodyPr>
            <a:normAutofit/>
          </a:bodyPr>
          <a:lstStyle/>
          <a:p>
            <a:pPr marL="571500" indent="-571500">
              <a:spcAft>
                <a:spcPts val="2400"/>
              </a:spcAft>
              <a:buFont typeface="+mj-lt"/>
              <a:buAutoNum type="romanUcPeriod"/>
            </a:pPr>
            <a:endParaRPr lang="hu-HU" dirty="0" smtClean="0"/>
          </a:p>
          <a:p>
            <a:pPr marL="571500" indent="-571500">
              <a:spcAft>
                <a:spcPts val="2400"/>
              </a:spcAft>
              <a:buFont typeface="+mj-lt"/>
              <a:buAutoNum type="romanUcPeriod"/>
            </a:pPr>
            <a:r>
              <a:rPr lang="hu-HU" dirty="0" smtClean="0"/>
              <a:t>Fejlesztendő matematikai alapkompetenciák</a:t>
            </a:r>
          </a:p>
          <a:p>
            <a:pPr marL="571500" indent="-571500">
              <a:spcAft>
                <a:spcPts val="2400"/>
              </a:spcAft>
              <a:buFont typeface="+mj-lt"/>
              <a:buAutoNum type="romanUcPeriod"/>
            </a:pPr>
            <a:r>
              <a:rPr lang="hu-HU" dirty="0" smtClean="0"/>
              <a:t>Észlelés több érzékszerv integrációja alapján</a:t>
            </a:r>
          </a:p>
          <a:p>
            <a:pPr marL="571500" indent="-571500">
              <a:spcAft>
                <a:spcPts val="2400"/>
              </a:spcAft>
              <a:buFont typeface="+mj-lt"/>
              <a:buAutoNum type="romanUcPeriod"/>
            </a:pPr>
            <a:r>
              <a:rPr lang="hu-HU" dirty="0" smtClean="0"/>
              <a:t>Taneszköz bemutatása</a:t>
            </a:r>
            <a:r>
              <a:rPr lang="hu-HU" dirty="0" smtClean="0">
                <a:latin typeface="+mj-lt"/>
              </a:rPr>
              <a:t>	</a:t>
            </a:r>
          </a:p>
          <a:p>
            <a:endParaRPr lang="hu-HU" dirty="0" smtClean="0"/>
          </a:p>
          <a:p>
            <a:pPr lvl="1"/>
            <a:endParaRPr lang="hu-HU" dirty="0" smtClean="0"/>
          </a:p>
          <a:p>
            <a:pPr lvl="1"/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3568" y="2780928"/>
            <a:ext cx="8280920" cy="14870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marL="571500" indent="-571500" algn="ctr">
              <a:buFont typeface="+mj-lt"/>
              <a:buAutoNum type="romanUcPeriod"/>
            </a:pPr>
            <a:r>
              <a:rPr lang="hu-HU" dirty="0" smtClean="0"/>
              <a:t>Fejlesztendő matematikai alapkompetenciák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8382000" cy="1143000"/>
          </a:xfrm>
        </p:spPr>
        <p:txBody>
          <a:bodyPr/>
          <a:lstStyle/>
          <a:p>
            <a:pPr eaLnBrk="1" hangingPunct="1"/>
            <a:r>
              <a:rPr lang="hu-HU" dirty="0" smtClean="0"/>
              <a:t>Hallható matematika, mint taneszköz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28800"/>
            <a:ext cx="7981950" cy="4457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u-HU" sz="2400" dirty="0" smtClean="0"/>
              <a:t>Célcsoport: nagycsoportos óvodások, első osztályos 	tanulók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hu-HU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u-HU" sz="2400" dirty="0" smtClean="0"/>
              <a:t>Cél: matematikai struktúrák hanggal történő prezentálása</a:t>
            </a:r>
          </a:p>
          <a:p>
            <a:pPr lvl="1" eaLnBrk="1" hangingPunct="1">
              <a:lnSpc>
                <a:spcPct val="90000"/>
              </a:lnSpc>
            </a:pPr>
            <a:r>
              <a:rPr lang="hu-HU" dirty="0" smtClean="0"/>
              <a:t>a műveletek értelmezése tárgyi tevékenységgel és az ezt felidéző hangminták alapján</a:t>
            </a:r>
            <a:endParaRPr lang="hu-HU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hu-HU" dirty="0" smtClean="0"/>
              <a:t>összefüggéseket felismerő és rendező képesség fejlesztése a változások, periodikusság, ritmus, növekedés, csökkenés megfigyelésével</a:t>
            </a:r>
          </a:p>
        </p:txBody>
      </p:sp>
      <p:sp>
        <p:nvSpPr>
          <p:cNvPr id="5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67544" y="6165304"/>
            <a:ext cx="3505200" cy="365760"/>
          </a:xfrm>
        </p:spPr>
        <p:txBody>
          <a:bodyPr/>
          <a:lstStyle/>
          <a:p>
            <a:r>
              <a:rPr lang="hu-HU" dirty="0" smtClean="0"/>
              <a:t>„Az élhető város és vidéke” szimpózium - Békéscsaba, 2012. nov. 22.</a:t>
            </a:r>
            <a:endParaRPr lang="hu-H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412776"/>
            <a:ext cx="8229600" cy="4713387"/>
          </a:xfrm>
        </p:spPr>
        <p:txBody>
          <a:bodyPr>
            <a:normAutofit lnSpcReduction="10000"/>
          </a:bodyPr>
          <a:lstStyle/>
          <a:p>
            <a:pPr marL="1612900" indent="-273050"/>
            <a:r>
              <a:rPr lang="hu-HU" dirty="0" smtClean="0"/>
              <a:t>Észlelés</a:t>
            </a:r>
          </a:p>
          <a:p>
            <a:pPr marL="1612900" indent="-273050">
              <a:buNone/>
            </a:pPr>
            <a:endParaRPr lang="hu-HU" dirty="0" smtClean="0"/>
          </a:p>
          <a:p>
            <a:pPr marL="1887220" lvl="2" indent="-273050"/>
            <a:r>
              <a:rPr lang="hu-HU" dirty="0" err="1" smtClean="0"/>
              <a:t>Taktilis-kinesztikus</a:t>
            </a:r>
            <a:endParaRPr lang="hu-HU" dirty="0" smtClean="0"/>
          </a:p>
          <a:p>
            <a:pPr marL="1887220" lvl="2" indent="-273050"/>
            <a:r>
              <a:rPr lang="hu-HU" dirty="0" err="1" smtClean="0"/>
              <a:t>Aiditív</a:t>
            </a:r>
            <a:endParaRPr lang="hu-HU" dirty="0" smtClean="0"/>
          </a:p>
          <a:p>
            <a:pPr marL="1887220" lvl="2" indent="-273050"/>
            <a:r>
              <a:rPr lang="hu-HU" dirty="0" smtClean="0"/>
              <a:t>Vizuális</a:t>
            </a:r>
          </a:p>
          <a:p>
            <a:pPr marL="1612900" lvl="1" indent="-273050">
              <a:buNone/>
            </a:pPr>
            <a:endParaRPr lang="hu-HU" dirty="0"/>
          </a:p>
          <a:p>
            <a:pPr marL="1612900" indent="-273050"/>
            <a:r>
              <a:rPr lang="hu-HU" dirty="0" smtClean="0"/>
              <a:t>Emlékezeti funkciók</a:t>
            </a:r>
            <a:endParaRPr lang="hu-HU" dirty="0"/>
          </a:p>
          <a:p>
            <a:pPr marL="1612900" indent="-273050"/>
            <a:endParaRPr lang="hu-HU" dirty="0"/>
          </a:p>
          <a:p>
            <a:pPr marL="1612900" indent="-273050"/>
            <a:r>
              <a:rPr lang="hu-HU" dirty="0" smtClean="0"/>
              <a:t>Gondolkodás</a:t>
            </a:r>
            <a:endParaRPr lang="hu-HU" dirty="0"/>
          </a:p>
          <a:p>
            <a:pPr marL="1612900" indent="-273050"/>
            <a:endParaRPr lang="hu-HU" dirty="0"/>
          </a:p>
          <a:p>
            <a:pPr marL="1612900" indent="-273050"/>
            <a:r>
              <a:rPr lang="hu-HU" dirty="0" smtClean="0"/>
              <a:t>Motorikus tünetek </a:t>
            </a:r>
            <a:endParaRPr lang="hu-HU" dirty="0"/>
          </a:p>
          <a:p>
            <a:pPr algn="ctr"/>
            <a:endParaRPr lang="hu-HU" dirty="0"/>
          </a:p>
        </p:txBody>
      </p:sp>
      <p:sp>
        <p:nvSpPr>
          <p:cNvPr id="5" name="Cím 5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229600" cy="990600"/>
          </a:xfrm>
        </p:spPr>
        <p:txBody>
          <a:bodyPr>
            <a:normAutofit/>
          </a:bodyPr>
          <a:lstStyle/>
          <a:p>
            <a:pPr marL="5649913" indent="-5649913"/>
            <a:r>
              <a:rPr lang="hu-HU" sz="2400" dirty="0" smtClean="0"/>
              <a:t> </a:t>
            </a:r>
            <a:r>
              <a:rPr lang="hu-HU" sz="2900" dirty="0" smtClean="0"/>
              <a:t>Főbb fejlesztendő területek</a:t>
            </a:r>
            <a:r>
              <a:rPr lang="hu-HU" sz="2400" dirty="0" smtClean="0"/>
              <a:t/>
            </a:r>
            <a:br>
              <a:rPr lang="hu-HU" sz="2400" dirty="0" smtClean="0"/>
            </a:br>
            <a:endParaRPr lang="hu-HU" sz="2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5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Matematikai alapkompetenciák</a:t>
            </a:r>
            <a:br>
              <a:rPr lang="hu-HU" dirty="0" smtClean="0"/>
            </a:b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6</a:t>
            </a:fld>
            <a:endParaRPr lang="hu-HU"/>
          </a:p>
        </p:txBody>
      </p:sp>
      <p:sp>
        <p:nvSpPr>
          <p:cNvPr id="5" name="Tartalom helye 4"/>
          <p:cNvSpPr>
            <a:spLocks noGrp="1"/>
          </p:cNvSpPr>
          <p:nvPr>
            <p:ph sz="quarter" idx="1"/>
          </p:nvPr>
        </p:nvSpPr>
        <p:spPr>
          <a:xfrm>
            <a:off x="755576" y="1196752"/>
            <a:ext cx="8388424" cy="5472608"/>
          </a:xfrm>
        </p:spPr>
        <p:txBody>
          <a:bodyPr>
            <a:normAutofit lnSpcReduction="10000"/>
          </a:bodyPr>
          <a:lstStyle/>
          <a:p>
            <a:pPr marL="571500" indent="-571500">
              <a:spcAft>
                <a:spcPts val="600"/>
              </a:spcAft>
              <a:buFont typeface="+mj-lt"/>
              <a:buAutoNum type="romanUcPeriod"/>
            </a:pPr>
            <a:r>
              <a:rPr lang="hu-HU" dirty="0" smtClean="0">
                <a:solidFill>
                  <a:srgbClr val="FF0000"/>
                </a:solidFill>
              </a:rPr>
              <a:t>Ráismerés</a:t>
            </a:r>
            <a:r>
              <a:rPr lang="hu-HU" dirty="0" smtClean="0"/>
              <a:t>: a közvetlen és az előző  tapasztalat azonosítása</a:t>
            </a:r>
          </a:p>
          <a:p>
            <a:pPr marL="571500" indent="-571500">
              <a:spcAft>
                <a:spcPts val="600"/>
              </a:spcAft>
              <a:buFont typeface="+mj-lt"/>
              <a:buAutoNum type="romanUcPeriod"/>
            </a:pPr>
            <a:r>
              <a:rPr lang="hu-HU" dirty="0" smtClean="0">
                <a:solidFill>
                  <a:srgbClr val="FF0000"/>
                </a:solidFill>
              </a:rPr>
              <a:t>Kiválogatás</a:t>
            </a:r>
            <a:r>
              <a:rPr lang="hu-HU" dirty="0" smtClean="0"/>
              <a:t>: egy meglévő halmazból egy részének elkülönítése adott vagy választott szempont alapján</a:t>
            </a:r>
          </a:p>
          <a:p>
            <a:pPr marL="571500" indent="-571500">
              <a:spcAft>
                <a:spcPts val="600"/>
              </a:spcAft>
              <a:buFont typeface="+mj-lt"/>
              <a:buAutoNum type="romanUcPeriod"/>
            </a:pPr>
            <a:r>
              <a:rPr lang="hu-HU" dirty="0" smtClean="0">
                <a:solidFill>
                  <a:srgbClr val="FF0000"/>
                </a:solidFill>
              </a:rPr>
              <a:t>Csoportosítás</a:t>
            </a:r>
            <a:r>
              <a:rPr lang="hu-HU" dirty="0" smtClean="0"/>
              <a:t>: egy szempontú csoportosítás</a:t>
            </a:r>
          </a:p>
          <a:p>
            <a:pPr marL="571500" indent="-571500">
              <a:spcAft>
                <a:spcPts val="600"/>
              </a:spcAft>
              <a:buFont typeface="+mj-lt"/>
              <a:buAutoNum type="romanUcPeriod"/>
            </a:pPr>
            <a:r>
              <a:rPr lang="hu-HU" dirty="0" smtClean="0">
                <a:solidFill>
                  <a:srgbClr val="FF0000"/>
                </a:solidFill>
                <a:latin typeface="+mj-lt"/>
              </a:rPr>
              <a:t>Soralkotás</a:t>
            </a:r>
            <a:r>
              <a:rPr lang="hu-HU" dirty="0" smtClean="0">
                <a:latin typeface="+mj-lt"/>
              </a:rPr>
              <a:t>: t</a:t>
            </a:r>
            <a:r>
              <a:rPr lang="hu-HU" dirty="0" smtClean="0"/>
              <a:t>árgyak sorba rendezése meghatározott szabály alapján</a:t>
            </a:r>
          </a:p>
          <a:p>
            <a:pPr marL="571500" indent="-571500">
              <a:spcAft>
                <a:spcPts val="600"/>
              </a:spcAft>
              <a:buFont typeface="+mj-lt"/>
              <a:buAutoNum type="romanUcPeriod"/>
            </a:pPr>
            <a:r>
              <a:rPr lang="hu-HU" dirty="0" smtClean="0">
                <a:solidFill>
                  <a:srgbClr val="FF0000"/>
                </a:solidFill>
                <a:latin typeface="+mj-lt"/>
              </a:rPr>
              <a:t>Összehasonlítás</a:t>
            </a:r>
            <a:r>
              <a:rPr lang="hu-HU" dirty="0" smtClean="0">
                <a:latin typeface="+mj-lt"/>
              </a:rPr>
              <a:t>: </a:t>
            </a:r>
            <a:r>
              <a:rPr lang="hu-HU" dirty="0" smtClean="0"/>
              <a:t>az összehasonlítandó dolgok eltérő és közös tulajdonságainak megállapítása</a:t>
            </a:r>
          </a:p>
          <a:p>
            <a:pPr marL="571500" indent="-571500">
              <a:spcAft>
                <a:spcPts val="600"/>
              </a:spcAft>
              <a:buFont typeface="+mj-lt"/>
              <a:buAutoNum type="romanUcPeriod"/>
            </a:pPr>
            <a:r>
              <a:rPr lang="hu-HU" dirty="0" smtClean="0">
                <a:solidFill>
                  <a:srgbClr val="FF0000"/>
                </a:solidFill>
                <a:latin typeface="+mj-lt"/>
              </a:rPr>
              <a:t>A szabályalkotás</a:t>
            </a:r>
            <a:r>
              <a:rPr lang="hu-HU" dirty="0" smtClean="0">
                <a:latin typeface="+mj-lt"/>
              </a:rPr>
              <a:t>: a</a:t>
            </a:r>
            <a:r>
              <a:rPr lang="hu-HU" dirty="0" smtClean="0"/>
              <a:t> felismerés szóbeli megfogalmazás</a:t>
            </a:r>
          </a:p>
          <a:p>
            <a:pPr lvl="1"/>
            <a:endParaRPr lang="hu-HU" dirty="0" smtClean="0"/>
          </a:p>
          <a:p>
            <a:pPr lvl="1"/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3568" y="2780928"/>
            <a:ext cx="8280920" cy="14870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marL="571500" indent="-571500" algn="ctr">
              <a:spcAft>
                <a:spcPts val="2400"/>
              </a:spcAft>
              <a:buFont typeface="+mj-lt"/>
              <a:buAutoNum type="romanUcPeriod" startAt="2"/>
            </a:pPr>
            <a:r>
              <a:rPr lang="hu-HU" dirty="0" smtClean="0"/>
              <a:t>Észlelés több érzékszerv integrációja alapján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3568" y="1628800"/>
            <a:ext cx="7634932" cy="4536504"/>
          </a:xfrm>
        </p:spPr>
        <p:txBody>
          <a:bodyPr>
            <a:normAutofit/>
          </a:bodyPr>
          <a:lstStyle/>
          <a:p>
            <a:pPr marL="609600" lvl="0" indent="-609600">
              <a:buNone/>
            </a:pPr>
            <a:r>
              <a:rPr lang="hu-HU" sz="2800" dirty="0" smtClean="0"/>
              <a:t> </a:t>
            </a:r>
            <a:r>
              <a:rPr lang="hu-HU" sz="2400" dirty="0" smtClean="0"/>
              <a:t>Célszerű a fogalmi struktúrákat többféle észlelési formában bemutatni:</a:t>
            </a:r>
          </a:p>
          <a:p>
            <a:pPr marL="609600" lvl="0" indent="-609600">
              <a:buNone/>
            </a:pPr>
            <a:endParaRPr lang="hu-HU" sz="2000" dirty="0" smtClean="0"/>
          </a:p>
          <a:p>
            <a:pPr marL="609600" indent="-609600">
              <a:spcAft>
                <a:spcPts val="2400"/>
              </a:spcAft>
              <a:buSzPct val="120000"/>
              <a:buBlip>
                <a:blip r:embed="rId3"/>
              </a:buBlip>
            </a:pPr>
            <a:r>
              <a:rPr lang="hu-HU" sz="2400" dirty="0" smtClean="0"/>
              <a:t>Egyéni különbségek gyorsabb felismerése</a:t>
            </a:r>
          </a:p>
          <a:p>
            <a:pPr marL="609600" indent="-609600">
              <a:spcAft>
                <a:spcPts val="2400"/>
              </a:spcAft>
              <a:buSzPct val="120000"/>
              <a:buBlip>
                <a:blip r:embed="rId3"/>
              </a:buBlip>
            </a:pPr>
            <a:r>
              <a:rPr lang="hu-HU" sz="2400" dirty="0" smtClean="0"/>
              <a:t>Gazdag tapasztalatszerzés </a:t>
            </a:r>
          </a:p>
          <a:p>
            <a:pPr marL="609600" lvl="0" indent="-609600">
              <a:spcAft>
                <a:spcPts val="2400"/>
              </a:spcAft>
              <a:buSzPct val="120000"/>
              <a:buBlip>
                <a:blip r:embed="rId3"/>
              </a:buBlip>
            </a:pPr>
            <a:r>
              <a:rPr lang="hu-HU" sz="2400" dirty="0" smtClean="0"/>
              <a:t>Egy-egy modell a fogalomnak különböző  aspektusait világítja meg</a:t>
            </a:r>
          </a:p>
          <a:p>
            <a:pPr marL="609600" indent="-609600">
              <a:spcAft>
                <a:spcPts val="2400"/>
              </a:spcAft>
              <a:buSzPct val="120000"/>
              <a:buBlip>
                <a:blip r:embed="rId3"/>
              </a:buBlip>
            </a:pPr>
            <a:endParaRPr lang="hu-HU" sz="2400" dirty="0" smtClean="0"/>
          </a:p>
          <a:p>
            <a:pPr marL="609600" indent="-609600" eaLnBrk="1" hangingPunct="1">
              <a:buFontTx/>
              <a:buAutoNum type="arabicPeriod"/>
            </a:pPr>
            <a:endParaRPr lang="hu-HU" dirty="0" smtClean="0"/>
          </a:p>
          <a:p>
            <a:pPr marL="609600" indent="-609600" algn="ctr" eaLnBrk="1" hangingPunct="1">
              <a:buFontTx/>
              <a:buNone/>
            </a:pPr>
            <a:endParaRPr lang="hu-HU" dirty="0" smtClean="0"/>
          </a:p>
          <a:p>
            <a:pPr marL="609600" indent="-609600" algn="ctr" eaLnBrk="1" hangingPunct="1">
              <a:buFontTx/>
              <a:buNone/>
            </a:pPr>
            <a:endParaRPr lang="hu-HU" dirty="0" smtClean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8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67544" y="6165304"/>
            <a:ext cx="3505200" cy="365760"/>
          </a:xfrm>
        </p:spPr>
        <p:txBody>
          <a:bodyPr/>
          <a:lstStyle/>
          <a:p>
            <a:r>
              <a:rPr lang="hu-HU" dirty="0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7" name="Cím 3"/>
          <p:cNvSpPr>
            <a:spLocks noGrp="1"/>
          </p:cNvSpPr>
          <p:nvPr>
            <p:ph type="title"/>
          </p:nvPr>
        </p:nvSpPr>
        <p:spPr>
          <a:xfrm>
            <a:off x="1115616" y="188640"/>
            <a:ext cx="8244408" cy="1728192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perceptív</a:t>
            </a:r>
            <a:r>
              <a:rPr lang="hu-HU" dirty="0" smtClean="0"/>
              <a:t> (észlelési) változatosság </a:t>
            </a:r>
            <a:br>
              <a:rPr lang="hu-HU" dirty="0" smtClean="0"/>
            </a:br>
            <a:r>
              <a:rPr lang="hu-HU" dirty="0" smtClean="0"/>
              <a:t>vagy többszörös konkretizálás elve</a:t>
            </a:r>
            <a:br>
              <a:rPr lang="hu-HU" dirty="0" smtClean="0"/>
            </a:br>
            <a:r>
              <a:rPr lang="hu-HU" dirty="0" smtClean="0"/>
              <a:t/>
            </a:r>
            <a:br>
              <a:rPr lang="hu-HU" dirty="0" smtClean="0"/>
            </a:br>
            <a:r>
              <a:rPr lang="hu-HU" sz="2700" dirty="0" smtClean="0"/>
              <a:t> </a:t>
            </a:r>
            <a:endParaRPr lang="hu-HU" sz="2700" dirty="0"/>
          </a:p>
        </p:txBody>
      </p:sp>
      <p:sp>
        <p:nvSpPr>
          <p:cNvPr id="8" name="Szövegdoboz 7"/>
          <p:cNvSpPr txBox="1"/>
          <p:nvPr/>
        </p:nvSpPr>
        <p:spPr>
          <a:xfrm>
            <a:off x="1259632" y="1196752"/>
            <a:ext cx="72728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200" dirty="0" smtClean="0">
                <a:latin typeface="+mj-lt"/>
              </a:rPr>
              <a:t>(Dienes 1973)</a:t>
            </a:r>
            <a:endParaRPr lang="hu-HU" sz="2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hu-HU" smtClean="0"/>
              <a:t>A spontán képszerveződés típusai a következők:</a:t>
            </a:r>
          </a:p>
        </p:txBody>
      </p:sp>
      <p:sp>
        <p:nvSpPr>
          <p:cNvPr id="1536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/>
            <a:r>
              <a:rPr lang="hu-HU" dirty="0" smtClean="0"/>
              <a:t> A közelség</a:t>
            </a:r>
          </a:p>
          <a:p>
            <a:pPr eaLnBrk="1" hangingPunct="1"/>
            <a:r>
              <a:rPr lang="hu-HU" dirty="0" smtClean="0"/>
              <a:t>A térben vagy időben egymáshoz közel eső alakzatokat együttesen észleljük. (Az ábrán nem hat függőleges vonalat, hanem három vonalpárt látunk.)</a:t>
            </a:r>
          </a:p>
          <a:p>
            <a:pPr eaLnBrk="1" hangingPunct="1"/>
            <a:r>
              <a:rPr lang="hu-HU" dirty="0" smtClean="0"/>
              <a:t> A hasonlóság</a:t>
            </a:r>
          </a:p>
          <a:p>
            <a:pPr eaLnBrk="1" hangingPunct="1"/>
            <a:r>
              <a:rPr lang="hu-HU" dirty="0" smtClean="0"/>
              <a:t>A mintán belül a hasonló elemeket csoportba szervezzük. (Nyolc pont helyett két fekete és két fehér pontpárt látunk.)</a:t>
            </a:r>
          </a:p>
          <a:p>
            <a:pPr eaLnBrk="1" hangingPunct="1"/>
            <a:r>
              <a:rPr lang="hu-HU" dirty="0" smtClean="0"/>
              <a:t> Az irány</a:t>
            </a:r>
          </a:p>
          <a:p>
            <a:pPr eaLnBrk="1" hangingPunct="1"/>
            <a:r>
              <a:rPr lang="hu-HU" dirty="0" smtClean="0"/>
              <a:t>Azokat az elemeket, amelyek valamilyen vonal mentén helyezkednek el, összetartozónak érezzük.</a:t>
            </a:r>
          </a:p>
          <a:p>
            <a:pPr eaLnBrk="1" hangingPunct="1"/>
            <a:r>
              <a:rPr lang="hu-HU" dirty="0" smtClean="0"/>
              <a:t> A sorozatképzés</a:t>
            </a:r>
          </a:p>
          <a:p>
            <a:pPr eaLnBrk="1" hangingPunct="1"/>
            <a:r>
              <a:rPr lang="hu-HU" dirty="0" smtClean="0"/>
              <a:t>Valamely mintában észlelt szerveződést hajlamosak vagyunk átvinni a következő, hasonló esetre. Az  ábrán balról jobbra haladva a jobb oldali ábránál is páronként elrendezettnek érezzük a pontokat, pedig a távolságuk egyenlő.</a:t>
            </a:r>
          </a:p>
          <a:p>
            <a:pPr eaLnBrk="1" hangingPunct="1"/>
            <a:r>
              <a:rPr lang="hu-HU" dirty="0" smtClean="0"/>
              <a:t> ”Előélet"</a:t>
            </a:r>
          </a:p>
          <a:p>
            <a:pPr eaLnBrk="1" hangingPunct="1"/>
            <a:r>
              <a:rPr lang="hu-HU" dirty="0" smtClean="0"/>
              <a:t>Két hasonló ábra esetén úgy érezzük, hogy a második az elsőből alakult ki, a helyüket azonos módon megváltoztató elemeket összetartozónak érezzük.</a:t>
            </a:r>
          </a:p>
          <a:p>
            <a:pPr eaLnBrk="1" hangingPunct="1"/>
            <a:r>
              <a:rPr lang="hu-HU" dirty="0" smtClean="0"/>
              <a:t> A hibátlanság</a:t>
            </a:r>
          </a:p>
          <a:p>
            <a:pPr eaLnBrk="1" hangingPunct="1"/>
            <a:r>
              <a:rPr lang="hu-HU" dirty="0" smtClean="0"/>
              <a:t>Ha az alakzat valamely szabályos formához hasonló, gyakran észre sem vesszük, hogy nem tökéletes, például a körvonala nem folytonos.</a:t>
            </a:r>
          </a:p>
          <a:p>
            <a:pPr eaLnBrk="1" hangingPunct="1"/>
            <a:endParaRPr lang="hu-HU" dirty="0" smtClean="0"/>
          </a:p>
        </p:txBody>
      </p:sp>
      <p:sp>
        <p:nvSpPr>
          <p:cNvPr id="5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67544" y="6165304"/>
            <a:ext cx="3505200" cy="365760"/>
          </a:xfrm>
        </p:spPr>
        <p:txBody>
          <a:bodyPr/>
          <a:lstStyle/>
          <a:p>
            <a:r>
              <a:rPr lang="hu-HU" dirty="0" smtClean="0"/>
              <a:t>„Az élhető város és vidéke” szimpózium - Békéscsaba, 2012. nov. 22.</a:t>
            </a:r>
            <a:endParaRPr lang="hu-HU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láb hely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7DC-5FD5-45FD-89E4-4C2DD10BAC25}" type="slidenum">
              <a:rPr lang="hu-HU" smtClean="0"/>
              <a:pPr/>
              <a:t>10</a:t>
            </a:fld>
            <a:endParaRPr lang="hu-HU" dirty="0"/>
          </a:p>
        </p:txBody>
      </p:sp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perceptuális csoportosítás</a:t>
            </a:r>
            <a:endParaRPr lang="hu-HU" dirty="0"/>
          </a:p>
        </p:txBody>
      </p:sp>
      <p:pic>
        <p:nvPicPr>
          <p:cNvPr id="1026" name="Picture 2" descr="http://upload.wikimedia.org/wikipedia/commons/thumb/f/f2/Gestaltalapelvek.JPG/350px-Gestaltalapelve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268760"/>
            <a:ext cx="7200800" cy="51228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Élőláb helye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922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196752"/>
            <a:ext cx="8126413" cy="504056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ts val="2400"/>
              </a:spcBef>
              <a:buSzPct val="120000"/>
              <a:buBlip>
                <a:blip r:embed="rId2"/>
              </a:buBlip>
            </a:pPr>
            <a:r>
              <a:rPr lang="hu-HU" dirty="0" smtClean="0"/>
              <a:t>A halló rendszer működése csak szükséges, de nem elégséges feltétele a hallási élménynek</a:t>
            </a:r>
          </a:p>
          <a:p>
            <a:pPr eaLnBrk="1" hangingPunct="1">
              <a:lnSpc>
                <a:spcPct val="120000"/>
              </a:lnSpc>
              <a:spcBef>
                <a:spcPts val="2400"/>
              </a:spcBef>
              <a:spcAft>
                <a:spcPts val="2400"/>
              </a:spcAft>
              <a:buSzPct val="120000"/>
              <a:buBlip>
                <a:blip r:embed="rId2"/>
              </a:buBlip>
            </a:pPr>
            <a:r>
              <a:rPr lang="hu-HU" dirty="0" smtClean="0"/>
              <a:t>A hallási észlelés alapegysége: hallási lánc</a:t>
            </a:r>
          </a:p>
          <a:p>
            <a:pPr eaLnBrk="1" hangingPunct="1"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hu-HU" dirty="0" smtClean="0"/>
              <a:t>A hallási információ szerveződései: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buSzPct val="120000"/>
              <a:buFont typeface="Wingdings" pitchFamily="2" charset="2"/>
              <a:buChar char="Ø"/>
            </a:pPr>
            <a:r>
              <a:rPr lang="hu-HU" dirty="0" smtClean="0"/>
              <a:t>Szekvenciális (szorosan egymás után)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buSzPct val="120000"/>
              <a:buFont typeface="Wingdings" pitchFamily="2" charset="2"/>
              <a:buChar char="Ø"/>
            </a:pPr>
            <a:r>
              <a:rPr lang="hu-HU" dirty="0" smtClean="0"/>
              <a:t>Spektrális (több hallási lánc </a:t>
            </a:r>
            <a:r>
              <a:rPr lang="hu-HU" dirty="0" err="1" smtClean="0"/>
              <a:t>egyidőben</a:t>
            </a:r>
            <a:r>
              <a:rPr lang="hu-HU" dirty="0" smtClean="0"/>
              <a:t>)</a:t>
            </a:r>
          </a:p>
          <a:p>
            <a:pPr>
              <a:lnSpc>
                <a:spcPct val="120000"/>
              </a:lnSpc>
              <a:spcBef>
                <a:spcPts val="2400"/>
              </a:spcBef>
              <a:buSzPct val="120000"/>
              <a:buBlip>
                <a:blip r:embed="rId2"/>
              </a:buBlip>
            </a:pPr>
            <a:r>
              <a:rPr lang="hu-HU" dirty="0" smtClean="0"/>
              <a:t>A hallható információ csoportosításánál is érvényesülnek a </a:t>
            </a:r>
            <a:r>
              <a:rPr lang="hu-HU" dirty="0" err="1" smtClean="0"/>
              <a:t>Gestalt-elvek</a:t>
            </a:r>
            <a:endParaRPr lang="hu-HU" dirty="0" smtClean="0"/>
          </a:p>
          <a:p>
            <a:pPr lvl="1">
              <a:lnSpc>
                <a:spcPct val="120000"/>
              </a:lnSpc>
              <a:buSzPct val="120000"/>
              <a:buNone/>
            </a:pPr>
            <a:endParaRPr lang="hu-HU" dirty="0" smtClean="0"/>
          </a:p>
          <a:p>
            <a:pPr lvl="1">
              <a:lnSpc>
                <a:spcPct val="120000"/>
              </a:lnSpc>
              <a:buSzPct val="120000"/>
              <a:buNone/>
            </a:pPr>
            <a:endParaRPr lang="hu-HU" dirty="0" smtClean="0"/>
          </a:p>
        </p:txBody>
      </p:sp>
      <p:sp>
        <p:nvSpPr>
          <p:cNvPr id="5" name="Cím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Hallási lánc – matematikai struktúrák (1)</a:t>
            </a:r>
            <a:br>
              <a:rPr lang="hu-HU" dirty="0" smtClean="0"/>
            </a:br>
            <a:r>
              <a:rPr lang="hu-HU" dirty="0" smtClean="0"/>
              <a:t> 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11</a:t>
            </a:fld>
            <a:endParaRPr lang="hu-H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Élőláb helye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922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556792"/>
            <a:ext cx="8126413" cy="4464596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ts val="2400"/>
              </a:spcBef>
              <a:buSzPct val="120000"/>
              <a:buBlip>
                <a:blip r:embed="rId2"/>
              </a:buBlip>
            </a:pPr>
            <a:r>
              <a:rPr lang="hu-HU" dirty="0" smtClean="0"/>
              <a:t>A zenei hangmagasságskála lehetővé teszi a zenei hangok sorba állítását (kb. 20-4000 Hz)</a:t>
            </a:r>
          </a:p>
          <a:p>
            <a:pPr>
              <a:lnSpc>
                <a:spcPct val="120000"/>
              </a:lnSpc>
              <a:spcBef>
                <a:spcPts val="2400"/>
              </a:spcBef>
              <a:buSzPct val="120000"/>
              <a:buBlip>
                <a:blip r:embed="rId2"/>
              </a:buBlip>
            </a:pPr>
            <a:r>
              <a:rPr lang="hu-HU" dirty="0" smtClean="0"/>
              <a:t>A zenében a hangközök szabályos rendszert alkotnak, melynek alapja az oktáv (8 hangköz)</a:t>
            </a:r>
          </a:p>
          <a:p>
            <a:pPr eaLnBrk="1" hangingPunct="1">
              <a:lnSpc>
                <a:spcPct val="120000"/>
              </a:lnSpc>
              <a:spcBef>
                <a:spcPts val="2400"/>
              </a:spcBef>
              <a:buSzPct val="120000"/>
              <a:buBlip>
                <a:blip r:embed="rId2"/>
              </a:buBlip>
            </a:pPr>
            <a:r>
              <a:rPr lang="hu-HU" dirty="0" smtClean="0"/>
              <a:t>A zenei hangmagasság észlelésében nem a hangok pontos hangmagassága, hanem a köztük lévő hangközök a fontosak</a:t>
            </a:r>
          </a:p>
          <a:p>
            <a:pPr eaLnBrk="1" hangingPunct="1">
              <a:lnSpc>
                <a:spcPct val="120000"/>
              </a:lnSpc>
              <a:buBlip>
                <a:blip r:embed="rId2"/>
              </a:buBlip>
            </a:pPr>
            <a:endParaRPr lang="hu-HU" dirty="0" smtClean="0"/>
          </a:p>
        </p:txBody>
      </p:sp>
      <p:sp>
        <p:nvSpPr>
          <p:cNvPr id="5" name="Cím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Hallási lánc – matematikai struktúrák (2)</a:t>
            </a:r>
            <a:br>
              <a:rPr lang="hu-HU" dirty="0" smtClean="0"/>
            </a:br>
            <a:r>
              <a:rPr lang="hu-HU" dirty="0" smtClean="0"/>
              <a:t> 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12</a:t>
            </a:fld>
            <a:endParaRPr lang="hu-H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412776"/>
            <a:ext cx="8229600" cy="4937760"/>
          </a:xfrm>
        </p:spPr>
        <p:txBody>
          <a:bodyPr>
            <a:normAutofit/>
          </a:bodyPr>
          <a:lstStyle/>
          <a:p>
            <a:pPr eaLnBrk="1" hangingPunct="1">
              <a:buSzPct val="120000"/>
              <a:buBlip>
                <a:blip r:embed="rId2"/>
              </a:buBlip>
            </a:pPr>
            <a:r>
              <a:rPr lang="hu-HU" dirty="0" smtClean="0"/>
              <a:t>A ritmus bizonyos események szabályos időrendbeli szerveződése</a:t>
            </a:r>
          </a:p>
          <a:p>
            <a:pPr eaLnBrk="1" hangingPunct="1">
              <a:buSzPct val="120000"/>
              <a:buBlip>
                <a:blip r:embed="rId2"/>
              </a:buBlip>
            </a:pPr>
            <a:endParaRPr lang="hu-HU" dirty="0" smtClean="0"/>
          </a:p>
          <a:p>
            <a:pPr eaLnBrk="1" hangingPunct="1">
              <a:buSzPct val="120000"/>
              <a:buBlip>
                <a:blip r:embed="rId2"/>
              </a:buBlip>
            </a:pPr>
            <a:r>
              <a:rPr lang="hu-HU" dirty="0" smtClean="0"/>
              <a:t>A ritmus észlelésének alapja az események közötti időintervallumok és ezek periodikus ismétlődésének feldolgozása</a:t>
            </a:r>
          </a:p>
          <a:p>
            <a:pPr eaLnBrk="1" hangingPunct="1">
              <a:buSzPct val="120000"/>
              <a:buBlip>
                <a:blip r:embed="rId2"/>
              </a:buBlip>
            </a:pPr>
            <a:endParaRPr lang="hu-HU" dirty="0" smtClean="0"/>
          </a:p>
          <a:p>
            <a:pPr eaLnBrk="1" hangingPunct="1">
              <a:buSzPct val="120000"/>
              <a:buBlip>
                <a:blip r:embed="rId2"/>
              </a:buBlip>
            </a:pPr>
            <a:r>
              <a:rPr lang="hu-HU" dirty="0" smtClean="0"/>
              <a:t>Könnyedén képesek vagyunk mozgásunkat egy szabályos ritmussal rendelkező hangsorhoz szinkronizálni (megpróbáljuk előre megtervezni a mozgás pontos idejét)</a:t>
            </a:r>
          </a:p>
          <a:p>
            <a:pPr eaLnBrk="1" hangingPunct="1"/>
            <a:endParaRPr lang="hu-HU" dirty="0" smtClean="0"/>
          </a:p>
          <a:p>
            <a:pPr eaLnBrk="1" hangingPunct="1"/>
            <a:endParaRPr lang="hu-HU" sz="2400" dirty="0" smtClean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13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  <a:endParaRPr lang="hu-HU"/>
          </a:p>
        </p:txBody>
      </p:sp>
      <p:sp>
        <p:nvSpPr>
          <p:cNvPr id="6" name="Cím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Hallási lánc – matematikai struktúrák (3)</a:t>
            </a:r>
            <a:br>
              <a:rPr lang="hu-HU" dirty="0" smtClean="0"/>
            </a:br>
            <a:r>
              <a:rPr lang="hu-HU" dirty="0" smtClean="0"/>
              <a:t> </a:t>
            </a: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3568" y="2780928"/>
            <a:ext cx="8280920" cy="14870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marL="571500" indent="-571500" algn="ctr">
              <a:buFont typeface="+mj-lt"/>
              <a:buAutoNum type="romanUcPeriod" startAt="3"/>
            </a:pPr>
            <a:r>
              <a:rPr lang="hu-HU" dirty="0" smtClean="0"/>
              <a:t>Taneszköz bemutatása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0648"/>
            <a:ext cx="7632848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hu-HU" dirty="0" smtClean="0"/>
              <a:t>A „Hallható matematika” </a:t>
            </a:r>
            <a:r>
              <a:rPr lang="hu-HU" dirty="0" smtClean="0"/>
              <a:t>szoftver csomag alkalmazási lehetőségei</a:t>
            </a:r>
          </a:p>
        </p:txBody>
      </p:sp>
      <p:sp>
        <p:nvSpPr>
          <p:cNvPr id="12290" name="Dia számának hely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5DC138-5479-46F6-8168-3D7DE6403C74}" type="slidenum">
              <a:rPr lang="hu-HU" smtClean="0"/>
              <a:pPr/>
              <a:t>15</a:t>
            </a:fld>
            <a:endParaRPr lang="hu-HU" smtClean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27584" y="1214422"/>
            <a:ext cx="8135938" cy="5143536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endParaRPr lang="hu-HU" sz="2400" dirty="0" smtClean="0">
              <a:hlinkClick r:id="" action="ppaction://noaction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hu-HU" sz="2400" dirty="0" smtClean="0">
                <a:hlinkClick r:id="rId3" action="ppaction://hlinksldjump"/>
              </a:rPr>
              <a:t>Számegyenes </a:t>
            </a:r>
            <a:r>
              <a:rPr lang="hu-HU" sz="2400" dirty="0" smtClean="0">
                <a:hlinkClick r:id="rId3" action="ppaction://hlinksldjump"/>
              </a:rPr>
              <a:t>előkészítése</a:t>
            </a:r>
            <a:endParaRPr lang="hu-HU" sz="2400" dirty="0" smtClean="0"/>
          </a:p>
          <a:p>
            <a:pPr marL="457200" indent="-457200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endParaRPr lang="hu-HU" sz="2400" dirty="0" smtClean="0">
              <a:hlinkClick r:id="rId4" action="ppaction://hlinksldjump"/>
            </a:endParaRPr>
          </a:p>
          <a:p>
            <a:pPr marL="457200" indent="-457200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hu-HU" sz="2400" dirty="0" smtClean="0">
                <a:hlinkClick r:id="rId5" action="ppaction://hlinksldjump"/>
              </a:rPr>
              <a:t>A </a:t>
            </a:r>
            <a:r>
              <a:rPr lang="hu-HU" sz="2400" dirty="0" smtClean="0">
                <a:hlinkClick r:id="rId5" action="ppaction://hlinksldjump"/>
              </a:rPr>
              <a:t>soralkotás</a:t>
            </a:r>
            <a:endParaRPr lang="hu-HU" sz="2400" dirty="0" smtClean="0"/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endParaRPr lang="hu-HU" sz="2400" dirty="0" smtClean="0">
              <a:hlinkClick r:id="rId4" action="ppaction://hlinksldjump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hu-HU" sz="2400" dirty="0" smtClean="0">
                <a:hlinkClick r:id="rId6" action="ppaction://hlinkfile"/>
              </a:rPr>
              <a:t>A </a:t>
            </a:r>
            <a:r>
              <a:rPr lang="hu-HU" sz="2400" dirty="0" smtClean="0">
                <a:hlinkClick r:id="rId6" action="ppaction://hlinkfile"/>
              </a:rPr>
              <a:t>szám, mint darabszám</a:t>
            </a:r>
            <a:endParaRPr lang="hu-HU" sz="2400" dirty="0" smtClean="0"/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endParaRPr lang="hu-HU" sz="2400" dirty="0" smtClean="0">
              <a:hlinkClick r:id="rId5" action="ppaction://hlinksldjump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hu-HU" sz="2400" dirty="0" smtClean="0">
                <a:hlinkClick r:id="rId7" action="ppaction://hlinksldjump"/>
              </a:rPr>
              <a:t>A szám, mint mértékegység</a:t>
            </a:r>
            <a:endParaRPr lang="hu-HU" sz="2400" dirty="0" smtClean="0"/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endParaRPr lang="hu-HU" sz="2400" dirty="0" smtClean="0">
              <a:hlinkClick r:id="rId7" action="ppaction://hlinksldjump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hu-HU" sz="2400" dirty="0" smtClean="0">
                <a:hlinkClick r:id="rId8" action="ppaction://hlinksldjump"/>
              </a:rPr>
              <a:t>Negatív számok előkészítése</a:t>
            </a:r>
            <a:endParaRPr lang="hu-HU" sz="2400" dirty="0" smtClean="0">
              <a:hlinkClick r:id="rId7" action="ppaction://hlinksldjump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+mj-lt"/>
              <a:buAutoNum type="arabicPeriod"/>
            </a:pPr>
            <a:endParaRPr lang="hu-HU" sz="2400" dirty="0" smtClean="0"/>
          </a:p>
        </p:txBody>
      </p:sp>
      <p:sp>
        <p:nvSpPr>
          <p:cNvPr id="7" name="Szövegdoboz 6"/>
          <p:cNvSpPr txBox="1"/>
          <p:nvPr/>
        </p:nvSpPr>
        <p:spPr>
          <a:xfrm>
            <a:off x="6072198" y="6000768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hlinkClick r:id="rId9" action="ppaction://hlinksldjump"/>
              </a:rPr>
              <a:t>Szoftver elérhetősége</a:t>
            </a: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200"/>
              </a:spcBef>
            </a:pPr>
            <a:r>
              <a:rPr lang="hu-HU" dirty="0" smtClean="0">
                <a:hlinkClick r:id="" action="ppaction://noaction"/>
              </a:rPr>
              <a:t>Számegyenes előkészítése</a:t>
            </a:r>
            <a:endParaRPr lang="hu-HU" dirty="0" smtClean="0"/>
          </a:p>
        </p:txBody>
      </p:sp>
      <p:sp>
        <p:nvSpPr>
          <p:cNvPr id="13314" name="Élőláb helye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</a:p>
        </p:txBody>
      </p:sp>
      <p:sp>
        <p:nvSpPr>
          <p:cNvPr id="13315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967EA0-D28B-455F-8BC5-2CDDBE34CAEC}" type="slidenum">
              <a:rPr lang="hu-HU" smtClean="0"/>
              <a:pPr/>
              <a:t>16</a:t>
            </a:fld>
            <a:endParaRPr lang="hu-HU" smtClean="0"/>
          </a:p>
        </p:txBody>
      </p:sp>
      <p:sp>
        <p:nvSpPr>
          <p:cNvPr id="1331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27584" y="1340768"/>
            <a:ext cx="8208912" cy="493776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hu-HU" dirty="0" smtClean="0">
                <a:sym typeface="Webdings" pitchFamily="18" charset="2"/>
              </a:rPr>
              <a:t> </a:t>
            </a:r>
          </a:p>
        </p:txBody>
      </p:sp>
      <p:sp>
        <p:nvSpPr>
          <p:cNvPr id="7" name="Akciógomb: Visszatérés 6">
            <a:hlinkClick r:id="rId2" action="ppaction://hlinksldjump" highlightClick="1"/>
          </p:cNvPr>
          <p:cNvSpPr/>
          <p:nvPr/>
        </p:nvSpPr>
        <p:spPr>
          <a:xfrm>
            <a:off x="7884368" y="6093296"/>
            <a:ext cx="504056" cy="360040"/>
          </a:xfrm>
          <a:prstGeom prst="actionButtonRetur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5604" name="Picture 4" descr="http://192.168.0.75/hallhato-matematika/images/stories/food/ket_smiley_100.jpg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420888"/>
            <a:ext cx="8439150" cy="2143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Élőláb helye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</a:p>
        </p:txBody>
      </p:sp>
      <p:sp>
        <p:nvSpPr>
          <p:cNvPr id="14339" name="Dia számának hely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21DE43A-3D0B-4269-9979-CBD8D988E619}" type="slidenum">
              <a:rPr lang="hu-HU" smtClean="0"/>
              <a:pPr/>
              <a:t>17</a:t>
            </a:fld>
            <a:endParaRPr lang="hu-HU" smtClean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 szám, mint darabszám</a:t>
            </a:r>
            <a:endParaRPr lang="hu-HU" dirty="0" smtClean="0">
              <a:sym typeface="Webdings" pitchFamily="18" charset="2"/>
            </a:endParaRPr>
          </a:p>
        </p:txBody>
      </p:sp>
      <p:sp>
        <p:nvSpPr>
          <p:cNvPr id="9" name="Akciógomb: Visszatérés 8">
            <a:hlinkClick r:id="rId3" action="ppaction://hlinksldjump" highlightClick="1"/>
          </p:cNvPr>
          <p:cNvSpPr/>
          <p:nvPr/>
        </p:nvSpPr>
        <p:spPr>
          <a:xfrm>
            <a:off x="7956376" y="6165304"/>
            <a:ext cx="504056" cy="360040"/>
          </a:xfrm>
          <a:prstGeom prst="actionButtonRetur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4579" name="Picture 3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/>
          <a:srcRect l="10040" t="9598" r="9636" b="12884"/>
          <a:stretch>
            <a:fillRect/>
          </a:stretch>
        </p:blipFill>
        <p:spPr bwMode="auto">
          <a:xfrm>
            <a:off x="1547664" y="1412776"/>
            <a:ext cx="6192688" cy="47811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Élőláb helye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</a:p>
        </p:txBody>
      </p:sp>
      <p:sp>
        <p:nvSpPr>
          <p:cNvPr id="14339" name="Dia számának hely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21DE43A-3D0B-4269-9979-CBD8D988E619}" type="slidenum">
              <a:rPr lang="hu-HU" smtClean="0"/>
              <a:pPr/>
              <a:t>18</a:t>
            </a:fld>
            <a:endParaRPr lang="hu-HU" smtClean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 </a:t>
            </a:r>
            <a:r>
              <a:rPr lang="hu-HU" dirty="0" smtClean="0"/>
              <a:t>soralkotás</a:t>
            </a:r>
            <a:endParaRPr lang="hu-HU" dirty="0" smtClean="0">
              <a:sym typeface="Webdings" pitchFamily="18" charset="2"/>
            </a:endParaRPr>
          </a:p>
        </p:txBody>
      </p:sp>
      <p:sp>
        <p:nvSpPr>
          <p:cNvPr id="9" name="Akciógomb: Visszatérés 8">
            <a:hlinkClick r:id="rId3" action="ppaction://hlinksldjump" highlightClick="1"/>
          </p:cNvPr>
          <p:cNvSpPr/>
          <p:nvPr/>
        </p:nvSpPr>
        <p:spPr>
          <a:xfrm>
            <a:off x="7956376" y="6165304"/>
            <a:ext cx="504056" cy="360040"/>
          </a:xfrm>
          <a:prstGeom prst="actionButtonRetur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26" name="Picture 2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 l="6592" t="14649" r="6249" b="16992"/>
          <a:stretch>
            <a:fillRect/>
          </a:stretch>
        </p:blipFill>
        <p:spPr bwMode="auto">
          <a:xfrm>
            <a:off x="785786" y="1500174"/>
            <a:ext cx="3857652" cy="22692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28" name="Picture 4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/>
          <a:srcRect l="7324" t="14648" r="7714" b="16992"/>
          <a:stretch>
            <a:fillRect/>
          </a:stretch>
        </p:blipFill>
        <p:spPr bwMode="auto">
          <a:xfrm>
            <a:off x="4929190" y="2500306"/>
            <a:ext cx="3957663" cy="228601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Élőláb helye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</a:p>
        </p:txBody>
      </p:sp>
      <p:sp>
        <p:nvSpPr>
          <p:cNvPr id="14339" name="Dia számának hely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21DE43A-3D0B-4269-9979-CBD8D988E619}" type="slidenum">
              <a:rPr lang="hu-HU" smtClean="0"/>
              <a:pPr/>
              <a:t>19</a:t>
            </a:fld>
            <a:endParaRPr lang="hu-HU" smtClean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 </a:t>
            </a:r>
            <a:r>
              <a:rPr lang="hu-HU" dirty="0" smtClean="0"/>
              <a:t>szám mint mértékegység</a:t>
            </a:r>
            <a:endParaRPr lang="hu-HU" dirty="0" smtClean="0">
              <a:sym typeface="Webdings" pitchFamily="18" charset="2"/>
            </a:endParaRPr>
          </a:p>
        </p:txBody>
      </p:sp>
      <p:sp>
        <p:nvSpPr>
          <p:cNvPr id="9" name="Akciógomb: Visszatérés 8">
            <a:hlinkClick r:id="rId3" action="ppaction://hlinksldjump" highlightClick="1"/>
          </p:cNvPr>
          <p:cNvSpPr/>
          <p:nvPr/>
        </p:nvSpPr>
        <p:spPr>
          <a:xfrm>
            <a:off x="7956376" y="6165304"/>
            <a:ext cx="504056" cy="360040"/>
          </a:xfrm>
          <a:prstGeom prst="actionButtonRetur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050" name="Picture 2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 l="10986" r="6982" b="13085"/>
          <a:stretch>
            <a:fillRect/>
          </a:stretch>
        </p:blipFill>
        <p:spPr bwMode="auto">
          <a:xfrm>
            <a:off x="2285984" y="1714488"/>
            <a:ext cx="4714876" cy="37466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Élőláb helye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hu-HU" smtClean="0"/>
              <a:t>„Az élhető város és vidéke” szimpózium - Békéscsaba, 2012. nov. 22.</a:t>
            </a:r>
          </a:p>
        </p:txBody>
      </p:sp>
      <p:sp>
        <p:nvSpPr>
          <p:cNvPr id="14339" name="Dia számának helye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21DE43A-3D0B-4269-9979-CBD8D988E619}" type="slidenum">
              <a:rPr lang="hu-HU" smtClean="0"/>
              <a:pPr/>
              <a:t>20</a:t>
            </a:fld>
            <a:endParaRPr lang="hu-HU" smtClean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>
                <a:sym typeface="Webdings" pitchFamily="18" charset="2"/>
              </a:rPr>
              <a:t>Negatív számok előkészítése</a:t>
            </a:r>
            <a:endParaRPr lang="hu-HU" dirty="0" smtClean="0">
              <a:sym typeface="Webdings" pitchFamily="18" charset="2"/>
            </a:endParaRPr>
          </a:p>
        </p:txBody>
      </p:sp>
      <p:sp>
        <p:nvSpPr>
          <p:cNvPr id="9" name="Akciógomb: Visszatérés 8">
            <a:hlinkClick r:id="rId3" action="ppaction://hlinksldjump" highlightClick="1"/>
          </p:cNvPr>
          <p:cNvSpPr/>
          <p:nvPr/>
        </p:nvSpPr>
        <p:spPr>
          <a:xfrm>
            <a:off x="7956376" y="6165304"/>
            <a:ext cx="504056" cy="360040"/>
          </a:xfrm>
          <a:prstGeom prst="actionButtonRetur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2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 l="17045"/>
          <a:stretch>
            <a:fillRect/>
          </a:stretch>
        </p:blipFill>
        <p:spPr bwMode="auto">
          <a:xfrm>
            <a:off x="2428860" y="1785926"/>
            <a:ext cx="4286280" cy="38752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 smtClean="0"/>
              <a:t>Audio-vizuális</a:t>
            </a:r>
            <a:r>
              <a:rPr lang="hu-HU" dirty="0" smtClean="0"/>
              <a:t> eszközök a matematika oktatásban </a:t>
            </a:r>
            <a:endParaRPr lang="hu-HU" dirty="0"/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67DC-5FD5-45FD-89E4-4C2DD10BAC25}" type="slidenum">
              <a:rPr lang="hu-HU" smtClean="0"/>
              <a:pPr/>
              <a:t>21</a:t>
            </a:fld>
            <a:endParaRPr lang="hu-HU"/>
          </a:p>
        </p:txBody>
      </p:sp>
      <p:sp>
        <p:nvSpPr>
          <p:cNvPr id="6" name="Tartalom helye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hu-HU" dirty="0" smtClean="0"/>
          </a:p>
          <a:p>
            <a:endParaRPr lang="hu-HU" dirty="0" smtClean="0"/>
          </a:p>
          <a:p>
            <a:pPr algn="ctr">
              <a:buNone/>
            </a:pPr>
            <a:r>
              <a:rPr lang="hu-HU" dirty="0" smtClean="0"/>
              <a:t>„Hallható matematika” </a:t>
            </a:r>
            <a:r>
              <a:rPr lang="hu-HU" dirty="0" smtClean="0"/>
              <a:t>weboldala </a:t>
            </a:r>
            <a:r>
              <a:rPr lang="hu-HU" dirty="0" smtClean="0">
                <a:hlinkClick r:id="rId3"/>
              </a:rPr>
              <a:t>http://gfk.tsf.hu/hallhato-matematika/</a:t>
            </a:r>
            <a:r>
              <a:rPr lang="hu-HU" dirty="0" smtClean="0"/>
              <a:t> </a:t>
            </a:r>
            <a:endParaRPr lang="hu-HU" dirty="0" smtClean="0"/>
          </a:p>
          <a:p>
            <a:pPr algn="ctr">
              <a:buNone/>
            </a:pPr>
            <a:endParaRPr lang="hu-HU" dirty="0" smtClean="0"/>
          </a:p>
          <a:p>
            <a:pPr algn="ctr">
              <a:buNone/>
            </a:pPr>
            <a:endParaRPr lang="hu-HU" dirty="0" smtClean="0"/>
          </a:p>
          <a:p>
            <a:pPr algn="ctr">
              <a:buNone/>
            </a:pPr>
            <a:r>
              <a:rPr lang="hu-HU" dirty="0" smtClean="0"/>
              <a:t>Elérhetőségem:</a:t>
            </a:r>
          </a:p>
          <a:p>
            <a:pPr algn="ctr">
              <a:buNone/>
            </a:pPr>
            <a:r>
              <a:rPr lang="hu-HU" dirty="0" err="1" smtClean="0">
                <a:hlinkClick r:id="rId4"/>
              </a:rPr>
              <a:t>szakacsne.nagy.szilvia</a:t>
            </a:r>
            <a:r>
              <a:rPr lang="hu-HU" dirty="0" smtClean="0">
                <a:hlinkClick r:id="rId4"/>
              </a:rPr>
              <a:t>@</a:t>
            </a:r>
            <a:r>
              <a:rPr lang="hu-HU" dirty="0" err="1" smtClean="0">
                <a:hlinkClick r:id="rId4"/>
              </a:rPr>
              <a:t>gk.szie.hu</a:t>
            </a:r>
            <a:endParaRPr lang="hu-HU" dirty="0" smtClean="0"/>
          </a:p>
          <a:p>
            <a:pPr algn="ctr">
              <a:buNone/>
            </a:pPr>
            <a:endParaRPr lang="hu-HU" dirty="0" smtClean="0"/>
          </a:p>
          <a:p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Felhasznált irodalom</a:t>
            </a:r>
            <a:br>
              <a:rPr lang="hu-HU" dirty="0" smtClean="0"/>
            </a:br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hu-HU" smtClean="0"/>
              <a:t>„Az élhető város és vidéke” szimpózium - Békéscsaba, 2012. nov. 22.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9DB6-5F7D-499C-A599-3478E63C2738}" type="slidenum">
              <a:rPr lang="hu-HU" smtClean="0"/>
              <a:pPr/>
              <a:t>22</a:t>
            </a:fld>
            <a:endParaRPr lang="hu-HU" dirty="0"/>
          </a:p>
        </p:txBody>
      </p:sp>
      <p:sp>
        <p:nvSpPr>
          <p:cNvPr id="5" name="Tartalom helye 4"/>
          <p:cNvSpPr>
            <a:spLocks noGrp="1"/>
          </p:cNvSpPr>
          <p:nvPr>
            <p:ph sz="quarter" idx="1"/>
          </p:nvPr>
        </p:nvSpPr>
        <p:spPr>
          <a:xfrm>
            <a:off x="914400" y="1268760"/>
            <a:ext cx="8229600" cy="5328592"/>
          </a:xfrm>
        </p:spPr>
        <p:txBody>
          <a:bodyPr>
            <a:normAutofit fontScale="92500" lnSpcReduction="10000"/>
          </a:bodyPr>
          <a:lstStyle/>
          <a:p>
            <a:r>
              <a:rPr lang="hu-HU" sz="1800" dirty="0" smtClean="0"/>
              <a:t>Pléh Csaba (1998). Bevezetés a </a:t>
            </a:r>
            <a:r>
              <a:rPr lang="hu-HU" sz="1800" dirty="0" err="1" smtClean="0"/>
              <a:t>megismeréstudományba</a:t>
            </a:r>
            <a:r>
              <a:rPr lang="hu-HU" sz="1800" dirty="0" smtClean="0"/>
              <a:t>. </a:t>
            </a:r>
            <a:r>
              <a:rPr lang="hu-HU" sz="1800" dirty="0" err="1" smtClean="0"/>
              <a:t>Typotex</a:t>
            </a:r>
            <a:r>
              <a:rPr lang="hu-HU" sz="1800" dirty="0" smtClean="0"/>
              <a:t> Kiadó, Budapest.</a:t>
            </a:r>
          </a:p>
          <a:p>
            <a:r>
              <a:rPr lang="hu-HU" sz="1800" dirty="0" err="1" smtClean="0"/>
              <a:t>Ulric</a:t>
            </a:r>
            <a:r>
              <a:rPr lang="hu-HU" sz="1800" dirty="0" smtClean="0"/>
              <a:t> </a:t>
            </a:r>
            <a:r>
              <a:rPr lang="hu-HU" sz="1800" dirty="0" err="1" smtClean="0"/>
              <a:t>Neisser</a:t>
            </a:r>
            <a:r>
              <a:rPr lang="hu-HU" sz="1800" dirty="0" smtClean="0"/>
              <a:t> (1984). Megismerés és valóság. Gondolat Kiadó, Budapest.</a:t>
            </a:r>
          </a:p>
          <a:p>
            <a:r>
              <a:rPr lang="hu-HU" sz="1800" dirty="0" smtClean="0"/>
              <a:t>Dohány Gabriella (2010). A zenei műveltség értelmezésének lehetőségei. </a:t>
            </a:r>
            <a:r>
              <a:rPr lang="hu-HU" sz="1800" dirty="0" smtClean="0">
                <a:hlinkClick r:id="rId2"/>
              </a:rPr>
              <a:t>Magyar Pedagógia 110. évf. 3. szám 185–210.</a:t>
            </a:r>
            <a:endParaRPr lang="hu-HU" sz="1800" dirty="0" smtClean="0"/>
          </a:p>
          <a:p>
            <a:r>
              <a:rPr lang="hu-HU" sz="1800" dirty="0" smtClean="0"/>
              <a:t>Csépe Valéria – Győri Miklós – Ragó Anett szerkesztésében (2007). Általános pszichológia 1. – Észlelés és figyelem. Osiris Kiadó, Budapest.</a:t>
            </a:r>
          </a:p>
          <a:p>
            <a:r>
              <a:rPr lang="hu-HU" sz="1800" dirty="0" smtClean="0"/>
              <a:t>Ambrus András (2003). Feladatok osztályozása az oktatási folyamatban játszott funkciójuk alapján.</a:t>
            </a:r>
            <a:br>
              <a:rPr lang="hu-HU" sz="1800" dirty="0" smtClean="0"/>
            </a:br>
            <a:r>
              <a:rPr lang="hu-HU" sz="1800" dirty="0" smtClean="0">
                <a:hlinkClick r:id="rId3"/>
              </a:rPr>
              <a:t>http://xml.inf.elte.hu/~mathdid/</a:t>
            </a:r>
            <a:endParaRPr lang="hu-HU" sz="1800" dirty="0" smtClean="0"/>
          </a:p>
          <a:p>
            <a:r>
              <a:rPr lang="hu-HU" sz="1800" dirty="0" smtClean="0"/>
              <a:t>Peller József  (2003). A matematikai ismeretszerzés folyamatáról. Eötvös Kiadó – Budapest. </a:t>
            </a:r>
          </a:p>
          <a:p>
            <a:r>
              <a:rPr lang="hu-HU" sz="1800" dirty="0" err="1" smtClean="0"/>
              <a:t>Pálhegyi</a:t>
            </a:r>
            <a:r>
              <a:rPr lang="hu-HU" sz="1800" dirty="0" smtClean="0"/>
              <a:t> Ferenc szerkesztésében(1980). Látássérültek kognitív funkciói. Tankönyv Kiadó, Budapest.</a:t>
            </a:r>
          </a:p>
          <a:p>
            <a:r>
              <a:rPr lang="hu-HU" sz="1800" dirty="0" err="1" smtClean="0"/>
              <a:t>R.Skemp</a:t>
            </a:r>
            <a:r>
              <a:rPr lang="hu-HU" sz="1800" dirty="0" smtClean="0"/>
              <a:t>: A matematikai tanulás pszichológiája, Budapest, 1975. </a:t>
            </a:r>
          </a:p>
          <a:p>
            <a:r>
              <a:rPr lang="hu-HU" sz="1800" dirty="0" smtClean="0"/>
              <a:t>http://</a:t>
            </a:r>
            <a:r>
              <a:rPr lang="hu-HU" sz="1800" dirty="0" smtClean="0">
                <a:hlinkClick r:id="rId4"/>
              </a:rPr>
              <a:t>www.viewplus.eu</a:t>
            </a:r>
            <a:endParaRPr lang="hu-HU" sz="1800" dirty="0" smtClean="0"/>
          </a:p>
          <a:p>
            <a:r>
              <a:rPr lang="hu-HU" sz="1800" dirty="0" smtClean="0"/>
              <a:t>Vásárhelyi Éva (2003). Fogalomalkotás és reprezentációk. </a:t>
            </a:r>
            <a:r>
              <a:rPr lang="hu-HU" sz="1800" dirty="0" smtClean="0">
                <a:hlinkClick r:id="rId3"/>
              </a:rPr>
              <a:t>http://xml.inf.elte.hu/~mathdid/</a:t>
            </a:r>
            <a:endParaRPr lang="hu-HU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ó">
  <a:themeElements>
    <a:clrScheme name="Egyéni 4. séma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352145"/>
      </a:hlink>
      <a:folHlink>
        <a:srgbClr val="8959AF"/>
      </a:folHlink>
    </a:clrScheme>
    <a:fontScheme name="Origó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ó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gó">
  <a:themeElements>
    <a:clrScheme name="Egyéni 5. séma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5B3875"/>
      </a:hlink>
      <a:folHlink>
        <a:srgbClr val="7D8524"/>
      </a:folHlink>
    </a:clrScheme>
    <a:fontScheme name="Origó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ó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1659</TotalTime>
  <Words>852</Words>
  <Application>Microsoft Office PowerPoint</Application>
  <PresentationFormat>Diavetítés a képernyőre (4:3 oldalarány)</PresentationFormat>
  <Paragraphs>164</Paragraphs>
  <Slides>22</Slides>
  <Notes>7</Notes>
  <HiddenSlides>1</HiddenSlides>
  <MMClips>0</MMClips>
  <ScaleCrop>false</ScaleCrop>
  <HeadingPairs>
    <vt:vector size="4" baseType="variant">
      <vt:variant>
        <vt:lpstr>Téma</vt:lpstr>
      </vt:variant>
      <vt:variant>
        <vt:i4>2</vt:i4>
      </vt:variant>
      <vt:variant>
        <vt:lpstr>Diacímek</vt:lpstr>
      </vt:variant>
      <vt:variant>
        <vt:i4>22</vt:i4>
      </vt:variant>
    </vt:vector>
  </HeadingPairs>
  <TitlesOfParts>
    <vt:vector size="24" baseType="lpstr">
      <vt:lpstr>Origó</vt:lpstr>
      <vt:lpstr>1_Origó</vt:lpstr>
      <vt:lpstr>Hallható matematika szoftvercsomag bemutatása</vt:lpstr>
      <vt:lpstr>Röviden a tartalomból </vt:lpstr>
      <vt:lpstr>Fejlesztendő matematikai alapkompetenciák</vt:lpstr>
      <vt:lpstr>Hallható matematika, mint taneszköz</vt:lpstr>
      <vt:lpstr> Főbb fejlesztendő területek </vt:lpstr>
      <vt:lpstr>Matematikai alapkompetenciák </vt:lpstr>
      <vt:lpstr>Észlelés több érzékszerv integrációja alapján</vt:lpstr>
      <vt:lpstr>A perceptív (észlelési) változatosság  vagy többszörös konkretizálás elve   </vt:lpstr>
      <vt:lpstr>A spontán képszerveződés típusai a következők:</vt:lpstr>
      <vt:lpstr>A perceptuális csoportosítás</vt:lpstr>
      <vt:lpstr>Hallási lánc – matematikai struktúrák (1)  </vt:lpstr>
      <vt:lpstr>Hallási lánc – matematikai struktúrák (2)  </vt:lpstr>
      <vt:lpstr>Hallási lánc – matematikai struktúrák (3)  </vt:lpstr>
      <vt:lpstr>Taneszköz bemutatása</vt:lpstr>
      <vt:lpstr>A „Hallható matematika” szoftver csomag alkalmazási lehetőségei</vt:lpstr>
      <vt:lpstr>Számegyenes előkészítése</vt:lpstr>
      <vt:lpstr>A szám, mint darabszám</vt:lpstr>
      <vt:lpstr>A soralkotás</vt:lpstr>
      <vt:lpstr>A szám mint mértékegység</vt:lpstr>
      <vt:lpstr>Negatív számok előkészítése</vt:lpstr>
      <vt:lpstr>Audio-vizuális eszközök a matematika oktatásban </vt:lpstr>
      <vt:lpstr>Felhasznált irodalom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Hallható matematika – a XXI. sz.-i Descartes koordinátarendszere</dc:title>
  <dc:subject>Matematika oktatás jelene és jövője</dc:subject>
  <dc:creator>Szakácsné Nagy Szilvia</dc:creator>
  <cp:keywords>függvény "hallható matematika"</cp:keywords>
  <dc:description>Közzététel Közgé és a saját weboldalamon is</dc:description>
  <cp:lastModifiedBy>TSF GFK</cp:lastModifiedBy>
  <cp:revision>353</cp:revision>
  <dcterms:created xsi:type="dcterms:W3CDTF">2012-10-07T07:10:29Z</dcterms:created>
  <dcterms:modified xsi:type="dcterms:W3CDTF">2012-11-22T12:52:22Z</dcterms:modified>
  <cp:category>előadás anyaga</cp:category>
  <cp:contentStatus>interneten közzétett végleges</cp:contentStatus>
</cp:coreProperties>
</file>