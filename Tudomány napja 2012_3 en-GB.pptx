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2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 id="2147483712" r:id="rId2"/>
  </p:sldMasterIdLst>
  <p:notesMasterIdLst>
    <p:notesMasterId r:id="rId25"/>
  </p:notesMasterIdLst>
  <p:sldIdLst>
    <p:sldId xmlns:deepml="http://www.deepl.com/document-translation/deepml" id="319" r:id="Ra5f1511f830e4f66" deepml:banner=""/>
    <p:sldId id="256" r:id="rId3"/>
    <p:sldId id="276" r:id="rId4"/>
    <p:sldId id="293" r:id="rId5"/>
    <p:sldId id="312" r:id="rId6"/>
    <p:sldId id="299" r:id="rId7"/>
    <p:sldId id="314" r:id="rId8"/>
    <p:sldId id="308" r:id="rId9"/>
    <p:sldId id="311" r:id="rId10"/>
    <p:sldId id="313" r:id="rId11"/>
    <p:sldId id="315" r:id="rId12"/>
    <p:sldId id="279" r:id="rId13"/>
    <p:sldId id="273" r:id="rId14"/>
    <p:sldId id="274" r:id="rId15"/>
    <p:sldId id="309" r:id="rId16"/>
    <p:sldId id="261" r:id="rId17"/>
    <p:sldId id="262" r:id="rId18"/>
    <p:sldId id="263" r:id="rId19"/>
    <p:sldId id="316" r:id="rId20"/>
    <p:sldId id="317" r:id="rId21"/>
    <p:sldId id="318" r:id="rId22"/>
    <p:sldId id="277" r:id="rId23"/>
    <p:sldId id="298" r:id="rId24"/>
  </p:sldIdLst>
  <p:sldSz cx="9144000" cy="6858000" type="screen4x3"/>
  <p:notesSz cx="6640513" cy="9904413"/>
  <p:defaultTextStyle>
    <a:defPPr>
      <a:defRPr lang="hu-H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modifyVerifier cryptProviderType="rsaAES" cryptAlgorithmClass="hash" cryptAlgorithmType="typeAny" cryptAlgorithmSid="14" spinCount="100000" saltData="rLc289m98e2nu1rZwxn8RQ==" hashData="jl31I+FZfeL3Da0RWjDsWJ2KAcjcNQYNNNRC5PJm8VIGc75Z01xRsS7AMK0y6Q/BGsMylPB72fPI5Y8B5FFi7w=="/>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A5E5"/>
    <a:srgbClr val="000000"/>
    <a:srgbClr val="FEF8A2"/>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181" autoAdjust="0"/>
    <p:restoredTop sz="93623" autoAdjust="0"/>
  </p:normalViewPr>
  <p:slideViewPr>
    <p:cSldViewPr>
      <p:cViewPr>
        <p:scale>
          <a:sx n="60" d="100"/>
          <a:sy n="60" d="100"/>
        </p:scale>
        <p:origin x="-810" y="-21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&#65279;<?xml version="1.0" encoding="utf-8"?><Relationships xmlns="http://schemas.openxmlformats.org/package/2006/relationships"><Relationship Type="http://schemas.openxmlformats.org/officeDocument/2006/relationships/slide" Target="slides/slide6.xml" Id="rId8" /><Relationship Type="http://schemas.openxmlformats.org/officeDocument/2006/relationships/slide" Target="slides/slide11.xml" Id="rId13" /><Relationship Type="http://schemas.openxmlformats.org/officeDocument/2006/relationships/slide" Target="slides/slide16.xml" Id="rId18" /><Relationship Type="http://schemas.openxmlformats.org/officeDocument/2006/relationships/presProps" Target="presProps.xml" Id="rId26" /><Relationship Type="http://schemas.openxmlformats.org/officeDocument/2006/relationships/slide" Target="slides/slide1.xml" Id="rId3" /><Relationship Type="http://schemas.openxmlformats.org/officeDocument/2006/relationships/slide" Target="slides/slide19.xml" Id="rId21" /><Relationship Type="http://schemas.openxmlformats.org/officeDocument/2006/relationships/slide" Target="slides/slide5.xml" Id="rId7" /><Relationship Type="http://schemas.openxmlformats.org/officeDocument/2006/relationships/slide" Target="slides/slide10.xml" Id="rId12" /><Relationship Type="http://schemas.openxmlformats.org/officeDocument/2006/relationships/slide" Target="slides/slide15.xml" Id="rId17" /><Relationship Type="http://schemas.openxmlformats.org/officeDocument/2006/relationships/notesMaster" Target="notesMasters/notesMaster1.xml" Id="rId25" /><Relationship Type="http://schemas.openxmlformats.org/officeDocument/2006/relationships/slideMaster" Target="slideMasters/slideMaster2.xml" Id="rId2" /><Relationship Type="http://schemas.openxmlformats.org/officeDocument/2006/relationships/slide" Target="slides/slide14.xml" Id="rId16" /><Relationship Type="http://schemas.openxmlformats.org/officeDocument/2006/relationships/slide" Target="slides/slide18.xml" Id="rId20" /><Relationship Type="http://schemas.openxmlformats.org/officeDocument/2006/relationships/tableStyles" Target="tableStyles.xml" Id="rId29" /><Relationship Type="http://schemas.openxmlformats.org/officeDocument/2006/relationships/slideMaster" Target="slideMasters/slideMaster1.xml" Id="rId1" /><Relationship Type="http://schemas.openxmlformats.org/officeDocument/2006/relationships/slide" Target="slides/slide4.xml" Id="rId6" /><Relationship Type="http://schemas.openxmlformats.org/officeDocument/2006/relationships/slide" Target="slides/slide9.xml" Id="rId11" /><Relationship Type="http://schemas.openxmlformats.org/officeDocument/2006/relationships/slide" Target="slides/slide22.xml" Id="rId24" /><Relationship Type="http://schemas.openxmlformats.org/officeDocument/2006/relationships/slide" Target="slides/slide3.xml" Id="rId5" /><Relationship Type="http://schemas.openxmlformats.org/officeDocument/2006/relationships/slide" Target="slides/slide13.xml" Id="rId15" /><Relationship Type="http://schemas.openxmlformats.org/officeDocument/2006/relationships/slide" Target="slides/slide21.xml" Id="rId23" /><Relationship Type="http://schemas.openxmlformats.org/officeDocument/2006/relationships/theme" Target="theme/theme1.xml" Id="rId28" /><Relationship Type="http://schemas.openxmlformats.org/officeDocument/2006/relationships/slide" Target="slides/slide8.xml" Id="rId10" /><Relationship Type="http://schemas.openxmlformats.org/officeDocument/2006/relationships/slide" Target="slides/slide17.xml" Id="rId19" /><Relationship Type="http://schemas.openxmlformats.org/officeDocument/2006/relationships/slide" Target="slides/slide2.xml" Id="rId4" /><Relationship Type="http://schemas.openxmlformats.org/officeDocument/2006/relationships/slide" Target="slides/slide7.xml" Id="rId9" /><Relationship Type="http://schemas.openxmlformats.org/officeDocument/2006/relationships/slide" Target="slides/slide12.xml" Id="rId14" /><Relationship Type="http://schemas.openxmlformats.org/officeDocument/2006/relationships/slide" Target="slides/slide20.xml" Id="rId22" /><Relationship Type="http://schemas.openxmlformats.org/officeDocument/2006/relationships/viewProps" Target="viewProps.xml" Id="rId27" /><Relationship Type="http://schemas.openxmlformats.org/officeDocument/2006/relationships/slide" Target="/ppt/slides/slide23.xml" Id="Ra5f1511f830e4f66"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877556" cy="495221"/>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761421" y="0"/>
            <a:ext cx="2877556" cy="495221"/>
          </a:xfrm>
          <a:prstGeom prst="rect">
            <a:avLst/>
          </a:prstGeom>
        </p:spPr>
        <p:txBody>
          <a:bodyPr vert="horz" lIns="91440" tIns="45720" rIns="91440" bIns="45720" rtlCol="0"/>
          <a:lstStyle>
            <a:lvl1pPr algn="r">
              <a:defRPr sz="1200"/>
            </a:lvl1pPr>
          </a:lstStyle>
          <a:p>
            <a:fld id="{DAB09B72-EBAD-4BF4-9B9C-85D38013245F}" type="datetimeFigureOut">
              <a:rPr lang="hu-HU" smtClean="0"/>
              <a:t>22 November 2012</a:t>
            </a:fld>
            <a:endParaRPr lang="hu-HU"/>
          </a:p>
        </p:txBody>
      </p:sp>
      <p:sp>
        <p:nvSpPr>
          <p:cNvPr id="4" name="Diakép helye 3"/>
          <p:cNvSpPr>
            <a:spLocks noGrp="1" noRot="1" noChangeAspect="1"/>
          </p:cNvSpPr>
          <p:nvPr>
            <p:ph type="sldImg" idx="2"/>
          </p:nvPr>
        </p:nvSpPr>
        <p:spPr>
          <a:xfrm>
            <a:off x="844550" y="742950"/>
            <a:ext cx="4951413" cy="371475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64052" y="4704596"/>
            <a:ext cx="5312410" cy="4456986"/>
          </a:xfrm>
          <a:prstGeom prst="rect">
            <a:avLst/>
          </a:prstGeom>
        </p:spPr>
        <p:txBody>
          <a:bodyPr vert="horz" lIns="91440" tIns="45720" rIns="91440" bIns="45720" rtlCol="0">
            <a:normAutofit/>
          </a:bodyPr>
          <a:lstStyle/>
          <a:p>
            <a:pPr lvl="0"/>
            <a:r>
              <a:rPr lang="hu-HU" smtClean="0"/>
              <a:t>Editing sample text</a:t>
            </a:r>
          </a:p>
          <a:p>
            <a:pPr lvl="1"/>
            <a:r>
              <a:rPr lang="hu-HU" smtClean="0"/>
              <a:t>Second level</a:t>
            </a:r>
          </a:p>
          <a:p>
            <a:pPr lvl="2"/>
            <a:r>
              <a:rPr lang="hu-HU" smtClean="0"/>
              <a:t>Third level</a:t>
            </a:r>
          </a:p>
          <a:p>
            <a:pPr lvl="3"/>
            <a:r>
              <a:rPr lang="hu-HU" smtClean="0"/>
              <a:t>Fourth level</a:t>
            </a:r>
          </a:p>
          <a:p>
            <a:pPr lvl="4"/>
            <a:r>
              <a:rPr lang="hu-HU" smtClean="0"/>
              <a:t>Fifth level</a:t>
            </a:r>
            <a:endParaRPr lang="hu-HU"/>
          </a:p>
        </p:txBody>
      </p:sp>
      <p:sp>
        <p:nvSpPr>
          <p:cNvPr id="6" name="Élőláb helye 5"/>
          <p:cNvSpPr>
            <a:spLocks noGrp="1"/>
          </p:cNvSpPr>
          <p:nvPr>
            <p:ph type="ftr" sz="quarter" idx="4"/>
          </p:nvPr>
        </p:nvSpPr>
        <p:spPr>
          <a:xfrm>
            <a:off x="0" y="9407473"/>
            <a:ext cx="2877556" cy="495221"/>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761421" y="9407473"/>
            <a:ext cx="2877556" cy="495221"/>
          </a:xfrm>
          <a:prstGeom prst="rect">
            <a:avLst/>
          </a:prstGeom>
        </p:spPr>
        <p:txBody>
          <a:bodyPr vert="horz" lIns="91440" tIns="45720" rIns="91440" bIns="45720" rtlCol="0" anchor="b"/>
          <a:lstStyle>
            <a:lvl1pPr algn="r">
              <a:defRPr sz="1200"/>
            </a:lvl1pPr>
          </a:lstStyle>
          <a:p>
            <a:fld id="{A1E27EDE-63F0-445D-B9DC-5F8C90FA47CD}" type="slidenum">
              <a:rPr lang="hu-HU" smtClean="0"/>
              <a:t>‹#›</a:t>
            </a:fld>
            <a:endParaRPr lang="hu-H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It is advisable to present conceptual structures to children in as many equivalent forms as possible, yet in ways that appear different to the eye, so that individual differences can be better accommodated in the development of these concepts, and so that children can grasp the abstract mathematical content of each concept as fully as possible.</a:t>
            </a:r>
          </a:p>
          <a:p>
            <a:endParaRPr lang="hu-HU" dirty="0"/>
          </a:p>
        </p:txBody>
      </p:sp>
      <p:sp>
        <p:nvSpPr>
          <p:cNvPr id="4" name="Dia számának helye 3"/>
          <p:cNvSpPr>
            <a:spLocks noGrp="1"/>
          </p:cNvSpPr>
          <p:nvPr>
            <p:ph type="sldNum" sz="quarter" idx="10"/>
          </p:nvPr>
        </p:nvSpPr>
        <p:spPr/>
        <p:txBody>
          <a:bodyPr/>
          <a:lstStyle/>
          <a:p>
            <a:fld id="{A1E27EDE-63F0-445D-B9DC-5F8C90FA47CD}" type="slidenum">
              <a:rPr lang="hu-HU" smtClean="0"/>
              <a:t>8</a:t>
            </a:fld>
            <a:endParaRPr lang="hu-H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664CEB67-BC75-43B5-8F42-B1A7AF0AE23D}" type="slidenum">
              <a:rPr lang="hu-HU" smtClean="0"/>
              <a:t>15</a:t>
            </a:fld>
            <a:endParaRPr lang="hu-HU"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hu-HU"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0D42F2DE-24B5-42CB-96BF-931544822335}" type="slidenum">
              <a:rPr lang="hu-HU" smtClean="0"/>
              <a:t>17</a:t>
            </a:fld>
            <a:endParaRPr lang="hu-HU"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hu-HU" smtClean="0"/>
              <a:t>Convex increasing = accelerating</a:t>
            </a:r>
          </a:p>
          <a:p>
            <a:pPr eaLnBrk="1" hangingPunct="1"/>
            <a:r>
              <a:rPr lang="hu-HU" smtClean="0"/>
              <a:t>Concave increasing = decelerating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0D42F2DE-24B5-42CB-96BF-931544822335}" type="slidenum">
              <a:rPr lang="hu-HU" smtClean="0"/>
              <a:t>18</a:t>
            </a:fld>
            <a:endParaRPr lang="hu-HU"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hu-HU" smtClean="0"/>
              <a:t>Convex increasing = accelerating</a:t>
            </a:r>
          </a:p>
          <a:p>
            <a:pPr eaLnBrk="1" hangingPunct="1"/>
            <a:r>
              <a:rPr lang="hu-HU" smtClean="0"/>
              <a:t>Concave increasing = decelerating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0D42F2DE-24B5-42CB-96BF-931544822335}" type="slidenum">
              <a:rPr lang="hu-HU" smtClean="0"/>
              <a:t>19</a:t>
            </a:fld>
            <a:endParaRPr lang="hu-HU"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hu-HU" smtClean="0"/>
              <a:t>Convex increasing = accelerating</a:t>
            </a:r>
          </a:p>
          <a:p>
            <a:pPr eaLnBrk="1" hangingPunct="1"/>
            <a:r>
              <a:rPr lang="hu-HU" smtClean="0"/>
              <a:t>Concave increasing = decelerating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0D42F2DE-24B5-42CB-96BF-931544822335}" type="slidenum">
              <a:rPr lang="hu-HU" smtClean="0"/>
              <a:t>20</a:t>
            </a:fld>
            <a:endParaRPr lang="hu-HU"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hu-HU" smtClean="0"/>
              <a:t>Convex increasing = accelerating</a:t>
            </a:r>
          </a:p>
          <a:p>
            <a:pPr eaLnBrk="1" hangingPunct="1"/>
            <a:r>
              <a:rPr lang="hu-HU" smtClean="0"/>
              <a:t>Concave increasing = decelerating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fontScale="92500" lnSpcReduction="10000"/>
          </a:bodyPr>
          <a:lstStyle/>
          <a:p>
            <a:endParaRPr lang="hu-HU" dirty="0"/>
          </a:p>
        </p:txBody>
      </p:sp>
      <p:sp>
        <p:nvSpPr>
          <p:cNvPr id="4" name="Dia számának helye 3"/>
          <p:cNvSpPr>
            <a:spLocks noGrp="1"/>
          </p:cNvSpPr>
          <p:nvPr>
            <p:ph type="sldNum" sz="quarter" idx="10"/>
          </p:nvPr>
        </p:nvSpPr>
        <p:spPr/>
        <p:txBody>
          <a:bodyPr/>
          <a:lstStyle/>
          <a:p>
            <a:fld id="{A1E27EDE-63F0-445D-B9DC-5F8C90FA47CD}" type="slidenum">
              <a:rPr lang="hu-HU" smtClean="0"/>
              <a:t>21</a:t>
            </a:fld>
            <a:endParaRPr lang="hu-H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ímdia">
    <p:spTree>
      <p:nvGrpSpPr>
        <p:cNvPr id="1" name=""/>
        <p:cNvGrpSpPr/>
        <p:nvPr/>
      </p:nvGrpSpPr>
      <p:grpSpPr>
        <a:xfrm>
          <a:off x="0" y="0"/>
          <a:ext cx="0" cy="0"/>
          <a:chOff x="0" y="0"/>
          <a:chExt cx="0" cy="0"/>
        </a:xfrm>
      </p:grpSpPr>
      <p:sp>
        <p:nvSpPr>
          <p:cNvPr id="8" name="Cím 7"/>
          <p:cNvSpPr>
            <a:spLocks noGrp="1"/>
          </p:cNvSpPr>
          <p:nvPr>
            <p:ph type="ctrTitle"/>
          </p:nvPr>
        </p:nvSpPr>
        <p:spPr>
          <a:xfrm>
            <a:off x="1219200" y="3523110"/>
            <a:ext cx="6858000" cy="1487016"/>
          </a:xfrm>
        </p:spPr>
        <p:txBody>
          <a:bodyPr anchor="t" anchorCtr="0"/>
          <a:lstStyle>
            <a:lvl1pPr algn="r">
              <a:defRPr sz="3200">
                <a:solidFill>
                  <a:schemeClr val="tx1"/>
                </a:solidFill>
              </a:defRPr>
            </a:lvl1pPr>
          </a:lstStyle>
          <a:p>
            <a:r>
              <a:rPr kumimoji="0" lang="hu-HU" smtClean="0"/>
              <a:t>Mintacím szerkesztése</a:t>
            </a:r>
            <a:endParaRPr kumimoji="0" lang="en-US"/>
          </a:p>
        </p:txBody>
      </p:sp>
      <p:sp>
        <p:nvSpPr>
          <p:cNvPr id="28" name="Dátum helye 27"/>
          <p:cNvSpPr>
            <a:spLocks noGrp="1"/>
          </p:cNvSpPr>
          <p:nvPr>
            <p:ph type="dt" sz="half" idx="10"/>
          </p:nvPr>
        </p:nvSpPr>
        <p:spPr>
          <a:xfrm>
            <a:off x="6400800" y="6355080"/>
            <a:ext cx="2286000" cy="365760"/>
          </a:xfrm>
        </p:spPr>
        <p:txBody>
          <a:bodyPr/>
          <a:lstStyle>
            <a:lvl1pPr>
              <a:defRPr sz="1400"/>
            </a:lvl1pPr>
          </a:lstStyle>
          <a:p>
            <a:endParaRPr lang="hu-HU"/>
          </a:p>
        </p:txBody>
      </p:sp>
      <p:sp>
        <p:nvSpPr>
          <p:cNvPr id="17" name="Élőláb helye 16"/>
          <p:cNvSpPr>
            <a:spLocks noGrp="1"/>
          </p:cNvSpPr>
          <p:nvPr>
            <p:ph type="ftr" sz="quarter" idx="11"/>
          </p:nvPr>
        </p:nvSpPr>
        <p:spPr>
          <a:xfrm>
            <a:off x="2898648" y="6355080"/>
            <a:ext cx="3474720" cy="365760"/>
          </a:xfrm>
        </p:spPr>
        <p:txBody>
          <a:bodyPr/>
          <a:lstStyle/>
          <a:p>
            <a:r>
              <a:rPr lang="hu-HU" smtClean="0"/>
              <a:t>„Az élhető város és vidéke” szimpózium - Békéscsaba, 2012. nov. 22.</a:t>
            </a:r>
            <a:endParaRPr lang="hu-HU"/>
          </a:p>
        </p:txBody>
      </p:sp>
      <p:sp>
        <p:nvSpPr>
          <p:cNvPr id="29" name="Dia számának helye 28"/>
          <p:cNvSpPr>
            <a:spLocks noGrp="1"/>
          </p:cNvSpPr>
          <p:nvPr>
            <p:ph type="sldNum" sz="quarter" idx="12"/>
          </p:nvPr>
        </p:nvSpPr>
        <p:spPr>
          <a:xfrm>
            <a:off x="1216152" y="6355080"/>
            <a:ext cx="1219200" cy="365760"/>
          </a:xfrm>
        </p:spPr>
        <p:txBody>
          <a:bodyPr/>
          <a:lstStyle/>
          <a:p>
            <a:fld id="{83129DFA-9269-405E-8012-2ACF7FC0EE12}" type="slidenum">
              <a:rPr lang="hu-HU" smtClean="0"/>
              <a:pPr/>
              <a:t>‹#›</a:t>
            </a:fld>
            <a:endParaRPr lang="hu-H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kumimoji="0" lang="hu-HU" dirty="0" smtClean="0"/>
              <a:t>Mintacím szerkesztése</a:t>
            </a:r>
            <a:endParaRPr kumimoji="0" lang="en-US" dirty="0"/>
          </a:p>
        </p:txBody>
      </p:sp>
      <p:sp>
        <p:nvSpPr>
          <p:cNvPr id="4" name="Dátum helye 3"/>
          <p:cNvSpPr>
            <a:spLocks noGrp="1"/>
          </p:cNvSpPr>
          <p:nvPr>
            <p:ph type="dt" sz="half" idx="10"/>
          </p:nvPr>
        </p:nvSpPr>
        <p:spPr/>
        <p:txBody>
          <a:bodyPr/>
          <a:lstStyle/>
          <a:p>
            <a:endParaRPr lang="hu-HU"/>
          </a:p>
        </p:txBody>
      </p:sp>
      <p:sp>
        <p:nvSpPr>
          <p:cNvPr id="5" name="Élőláb helye 4"/>
          <p:cNvSpPr>
            <a:spLocks noGrp="1"/>
          </p:cNvSpPr>
          <p:nvPr>
            <p:ph type="ftr" sz="quarter" idx="11"/>
          </p:nvPr>
        </p:nvSpPr>
        <p:spPr/>
        <p:txBody>
          <a:bodyPr/>
          <a:lstStyle/>
          <a:p>
            <a:r>
              <a:rPr lang="hu-HU" smtClean="0"/>
              <a:t>„Az élhető város és vidéke” szimpózium - Békéscsaba, 2012. nov. 22.</a:t>
            </a:r>
            <a:endParaRPr lang="hu-HU"/>
          </a:p>
        </p:txBody>
      </p:sp>
      <p:sp>
        <p:nvSpPr>
          <p:cNvPr id="6" name="Dia számának helye 5"/>
          <p:cNvSpPr>
            <a:spLocks noGrp="1"/>
          </p:cNvSpPr>
          <p:nvPr>
            <p:ph type="sldNum" sz="quarter" idx="12"/>
          </p:nvPr>
        </p:nvSpPr>
        <p:spPr>
          <a:xfrm>
            <a:off x="8676456" y="6453336"/>
            <a:ext cx="432520" cy="365760"/>
          </a:xfrm>
        </p:spPr>
        <p:txBody>
          <a:bodyPr/>
          <a:lstStyle>
            <a:lvl1pPr algn="ctr">
              <a:defRPr/>
            </a:lvl1pPr>
          </a:lstStyle>
          <a:p>
            <a:fld id="{22D59DB6-5F7D-499C-A599-3478E63C2738}" type="slidenum">
              <a:rPr lang="hu-HU" smtClean="0"/>
              <a:pPr/>
              <a:t>‹#›</a:t>
            </a:fld>
            <a:endParaRPr lang="hu-HU"/>
          </a:p>
        </p:txBody>
      </p:sp>
      <p:sp>
        <p:nvSpPr>
          <p:cNvPr id="8" name="Tartalom helye 7"/>
          <p:cNvSpPr>
            <a:spLocks noGrp="1"/>
          </p:cNvSpPr>
          <p:nvPr>
            <p:ph sz="quarter" idx="1"/>
          </p:nvPr>
        </p:nvSpPr>
        <p:spPr>
          <a:xfrm>
            <a:off x="914400" y="1268760"/>
            <a:ext cx="8229600" cy="493776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hu-HU" smtClean="0"/>
              <a:t>Mintacím szerkesztése</a:t>
            </a:r>
            <a:endParaRPr kumimoji="0" lang="en-US"/>
          </a:p>
        </p:txBody>
      </p:sp>
      <p:sp>
        <p:nvSpPr>
          <p:cNvPr id="3" name="Szöveg hely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hu-HU" smtClean="0"/>
              <a:t>Mintaszöveg szerkesztése</a:t>
            </a:r>
          </a:p>
        </p:txBody>
      </p:sp>
      <p:sp>
        <p:nvSpPr>
          <p:cNvPr id="4" name="Dátum helye 3"/>
          <p:cNvSpPr>
            <a:spLocks noGrp="1"/>
          </p:cNvSpPr>
          <p:nvPr>
            <p:ph type="dt" sz="half" idx="10"/>
          </p:nvPr>
        </p:nvSpPr>
        <p:spPr>
          <a:xfrm>
            <a:off x="6400800" y="6355080"/>
            <a:ext cx="2286000" cy="365760"/>
          </a:xfrm>
        </p:spPr>
        <p:txBody>
          <a:bodyPr/>
          <a:lstStyle/>
          <a:p>
            <a:endParaRPr lang="hu-HU"/>
          </a:p>
        </p:txBody>
      </p:sp>
      <p:sp>
        <p:nvSpPr>
          <p:cNvPr id="5" name="Élőláb helye 4"/>
          <p:cNvSpPr>
            <a:spLocks noGrp="1"/>
          </p:cNvSpPr>
          <p:nvPr>
            <p:ph type="ftr" sz="quarter" idx="11"/>
          </p:nvPr>
        </p:nvSpPr>
        <p:spPr>
          <a:xfrm>
            <a:off x="2898648" y="6355080"/>
            <a:ext cx="3474720" cy="365760"/>
          </a:xfrm>
        </p:spPr>
        <p:txBody>
          <a:bodyPr/>
          <a:lstStyle/>
          <a:p>
            <a:r>
              <a:rPr lang="hu-HU" smtClean="0"/>
              <a:t>„Az élhető város és vidéke” szimpózium - Békéscsaba, 2012. nov. 22.</a:t>
            </a:r>
            <a:endParaRPr lang="hu-HU"/>
          </a:p>
        </p:txBody>
      </p:sp>
      <p:sp>
        <p:nvSpPr>
          <p:cNvPr id="6" name="Dia számának helye 5"/>
          <p:cNvSpPr>
            <a:spLocks noGrp="1"/>
          </p:cNvSpPr>
          <p:nvPr>
            <p:ph type="sldNum" sz="quarter" idx="12"/>
          </p:nvPr>
        </p:nvSpPr>
        <p:spPr>
          <a:xfrm>
            <a:off x="1069848" y="6355080"/>
            <a:ext cx="1520952" cy="365760"/>
          </a:xfrm>
        </p:spPr>
        <p:txBody>
          <a:bodyPr/>
          <a:lstStyle/>
          <a:p>
            <a:fld id="{413DE628-EAA1-4E59-8635-4C7079CA0BAD}" type="slidenum">
              <a:rPr lang="hu-HU" smtClean="0"/>
              <a:pPr/>
              <a:t>‹#›</a:t>
            </a:fld>
            <a:endParaRPr lang="hu-HU"/>
          </a:p>
        </p:txBody>
      </p:sp>
      <p:sp>
        <p:nvSpPr>
          <p:cNvPr id="7" name="Téglalap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églalap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artalomrész">
    <p:spTree>
      <p:nvGrpSpPr>
        <p:cNvPr id="1" name=""/>
        <p:cNvGrpSpPr/>
        <p:nvPr/>
      </p:nvGrpSpPr>
      <p:grpSpPr>
        <a:xfrm>
          <a:off x="0" y="0"/>
          <a:ext cx="0" cy="0"/>
          <a:chOff x="0" y="0"/>
          <a:chExt cx="0" cy="0"/>
        </a:xfrm>
      </p:grpSpPr>
      <p:sp>
        <p:nvSpPr>
          <p:cNvPr id="5" name="Dátum helye 4"/>
          <p:cNvSpPr>
            <a:spLocks noGrp="1"/>
          </p:cNvSpPr>
          <p:nvPr>
            <p:ph type="dt" sz="half" idx="10"/>
          </p:nvPr>
        </p:nvSpPr>
        <p:spPr/>
        <p:txBody>
          <a:bodyPr/>
          <a:lstStyle/>
          <a:p>
            <a:endParaRPr lang="hu-HU"/>
          </a:p>
        </p:txBody>
      </p:sp>
      <p:sp>
        <p:nvSpPr>
          <p:cNvPr id="6" name="Élőláb helye 5"/>
          <p:cNvSpPr>
            <a:spLocks noGrp="1"/>
          </p:cNvSpPr>
          <p:nvPr>
            <p:ph type="ftr" sz="quarter" idx="11"/>
          </p:nvPr>
        </p:nvSpPr>
        <p:spPr/>
        <p:txBody>
          <a:bodyPr/>
          <a:lstStyle/>
          <a:p>
            <a:r>
              <a:rPr lang="hu-HU" smtClean="0"/>
              <a:t>„Az élhető város és vidéke” szimpózium - Békéscsaba, 2012. nov. 22.</a:t>
            </a:r>
            <a:endParaRPr lang="hu-HU"/>
          </a:p>
        </p:txBody>
      </p:sp>
      <p:sp>
        <p:nvSpPr>
          <p:cNvPr id="7" name="Dia számának helye 6"/>
          <p:cNvSpPr>
            <a:spLocks noGrp="1"/>
          </p:cNvSpPr>
          <p:nvPr>
            <p:ph type="sldNum" sz="quarter" idx="12"/>
          </p:nvPr>
        </p:nvSpPr>
        <p:spPr/>
        <p:txBody>
          <a:bodyPr/>
          <a:lstStyle/>
          <a:p>
            <a:fld id="{58AC1B34-B858-40F5-AC84-7CFBECED2A98}" type="slidenum">
              <a:rPr lang="hu-HU" smtClean="0"/>
              <a:pPr/>
              <a:t>‹#›</a:t>
            </a:fld>
            <a:endParaRPr lang="hu-HU"/>
          </a:p>
        </p:txBody>
      </p:sp>
      <p:sp>
        <p:nvSpPr>
          <p:cNvPr id="9" name="Tartalom helye 8"/>
          <p:cNvSpPr>
            <a:spLocks noGrp="1"/>
          </p:cNvSpPr>
          <p:nvPr>
            <p:ph sz="quarter" idx="1"/>
          </p:nvPr>
        </p:nvSpPr>
        <p:spPr>
          <a:xfrm>
            <a:off x="611560" y="1268760"/>
            <a:ext cx="4041648" cy="493776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11" name="Tartalom helye 10"/>
          <p:cNvSpPr>
            <a:spLocks noGrp="1"/>
          </p:cNvSpPr>
          <p:nvPr>
            <p:ph sz="quarter" idx="2"/>
          </p:nvPr>
        </p:nvSpPr>
        <p:spPr>
          <a:xfrm>
            <a:off x="4716016" y="1268760"/>
            <a:ext cx="4041648" cy="493776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8"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Összehasonlítás">
    <p:spTree>
      <p:nvGrpSpPr>
        <p:cNvPr id="1" name=""/>
        <p:cNvGrpSpPr/>
        <p:nvPr/>
      </p:nvGrpSpPr>
      <p:grpSpPr>
        <a:xfrm>
          <a:off x="0" y="0"/>
          <a:ext cx="0" cy="0"/>
          <a:chOff x="0" y="0"/>
          <a:chExt cx="0" cy="0"/>
        </a:xfrm>
      </p:grpSpPr>
      <p:sp>
        <p:nvSpPr>
          <p:cNvPr id="3" name="Szöveg helye 2"/>
          <p:cNvSpPr>
            <a:spLocks noGrp="1"/>
          </p:cNvSpPr>
          <p:nvPr>
            <p:ph type="body" idx="1"/>
          </p:nvPr>
        </p:nvSpPr>
        <p:spPr>
          <a:xfrm>
            <a:off x="755576" y="1268760"/>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u-HU" smtClean="0"/>
              <a:t>Mintaszöveg szerkesztése</a:t>
            </a:r>
          </a:p>
        </p:txBody>
      </p:sp>
      <p:sp>
        <p:nvSpPr>
          <p:cNvPr id="4" name="Szöveg helye 3"/>
          <p:cNvSpPr>
            <a:spLocks noGrp="1"/>
          </p:cNvSpPr>
          <p:nvPr>
            <p:ph type="body" sz="half" idx="3"/>
          </p:nvPr>
        </p:nvSpPr>
        <p:spPr>
          <a:xfrm>
            <a:off x="5102225" y="126876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u-HU" smtClean="0"/>
              <a:t>Mintaszöveg szerkesztése</a:t>
            </a:r>
          </a:p>
        </p:txBody>
      </p:sp>
      <p:sp>
        <p:nvSpPr>
          <p:cNvPr id="7" name="Dátum helye 6"/>
          <p:cNvSpPr>
            <a:spLocks noGrp="1"/>
          </p:cNvSpPr>
          <p:nvPr>
            <p:ph type="dt" sz="half" idx="10"/>
          </p:nvPr>
        </p:nvSpPr>
        <p:spPr/>
        <p:txBody>
          <a:bodyPr/>
          <a:lstStyle/>
          <a:p>
            <a:endParaRPr lang="hu-HU"/>
          </a:p>
        </p:txBody>
      </p:sp>
      <p:sp>
        <p:nvSpPr>
          <p:cNvPr id="8" name="Élőláb helye 7"/>
          <p:cNvSpPr>
            <a:spLocks noGrp="1"/>
          </p:cNvSpPr>
          <p:nvPr>
            <p:ph type="ftr" sz="quarter" idx="11"/>
          </p:nvPr>
        </p:nvSpPr>
        <p:spPr/>
        <p:txBody>
          <a:bodyPr/>
          <a:lstStyle/>
          <a:p>
            <a:r>
              <a:rPr lang="hu-HU" smtClean="0"/>
              <a:t>„Az élhető város és vidéke” szimpózium - Békéscsaba, 2012. nov. 22.</a:t>
            </a:r>
            <a:endParaRPr lang="hu-HU"/>
          </a:p>
        </p:txBody>
      </p:sp>
      <p:sp>
        <p:nvSpPr>
          <p:cNvPr id="9" name="Dia számának helye 8"/>
          <p:cNvSpPr>
            <a:spLocks noGrp="1"/>
          </p:cNvSpPr>
          <p:nvPr>
            <p:ph type="sldNum" sz="quarter" idx="12"/>
          </p:nvPr>
        </p:nvSpPr>
        <p:spPr/>
        <p:txBody>
          <a:bodyPr/>
          <a:lstStyle/>
          <a:p>
            <a:fld id="{E3A2FB2A-4C20-4DED-9465-97110247D2E8}" type="slidenum">
              <a:rPr lang="hu-HU" smtClean="0"/>
              <a:pPr/>
              <a:t>‹#›</a:t>
            </a:fld>
            <a:endParaRPr lang="hu-HU"/>
          </a:p>
        </p:txBody>
      </p:sp>
      <p:sp>
        <p:nvSpPr>
          <p:cNvPr id="11" name="Tartalom helye 10"/>
          <p:cNvSpPr>
            <a:spLocks noGrp="1"/>
          </p:cNvSpPr>
          <p:nvPr>
            <p:ph sz="quarter" idx="2"/>
          </p:nvPr>
        </p:nvSpPr>
        <p:spPr>
          <a:xfrm>
            <a:off x="755576" y="2132856"/>
            <a:ext cx="4038600" cy="403860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13" name="Tartalom helye 12"/>
          <p:cNvSpPr>
            <a:spLocks noGrp="1"/>
          </p:cNvSpPr>
          <p:nvPr>
            <p:ph sz="quarter" idx="4"/>
          </p:nvPr>
        </p:nvSpPr>
        <p:spPr>
          <a:xfrm>
            <a:off x="5105400" y="2132856"/>
            <a:ext cx="4038600" cy="403860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10"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sak cím">
    <p:spTree>
      <p:nvGrpSpPr>
        <p:cNvPr id="1" name=""/>
        <p:cNvGrpSpPr/>
        <p:nvPr/>
      </p:nvGrpSpPr>
      <p:grpSpPr>
        <a:xfrm>
          <a:off x="0" y="0"/>
          <a:ext cx="0" cy="0"/>
          <a:chOff x="0" y="0"/>
          <a:chExt cx="0" cy="0"/>
        </a:xfrm>
      </p:grpSpPr>
      <p:sp>
        <p:nvSpPr>
          <p:cNvPr id="3" name="Dátum helye 2"/>
          <p:cNvSpPr>
            <a:spLocks noGrp="1"/>
          </p:cNvSpPr>
          <p:nvPr>
            <p:ph type="dt" sz="half" idx="10"/>
          </p:nvPr>
        </p:nvSpPr>
        <p:spPr/>
        <p:txBody>
          <a:bodyPr/>
          <a:lstStyle/>
          <a:p>
            <a:endParaRPr lang="hu-HU"/>
          </a:p>
        </p:txBody>
      </p:sp>
      <p:sp>
        <p:nvSpPr>
          <p:cNvPr id="4" name="Élőláb helye 3"/>
          <p:cNvSpPr>
            <a:spLocks noGrp="1"/>
          </p:cNvSpPr>
          <p:nvPr>
            <p:ph type="ftr" sz="quarter" idx="11"/>
          </p:nvPr>
        </p:nvSpPr>
        <p:spPr/>
        <p:txBody>
          <a:bodyPr/>
          <a:lstStyle/>
          <a:p>
            <a:r>
              <a:rPr lang="hu-HU" smtClean="0"/>
              <a:t>„Az élhető város és vidéke” szimpózium - Békéscsaba, 2012. nov. 22.</a:t>
            </a:r>
            <a:endParaRPr lang="hu-HU"/>
          </a:p>
        </p:txBody>
      </p:sp>
      <p:sp>
        <p:nvSpPr>
          <p:cNvPr id="5" name="Dia számának helye 4"/>
          <p:cNvSpPr>
            <a:spLocks noGrp="1"/>
          </p:cNvSpPr>
          <p:nvPr>
            <p:ph type="sldNum" sz="quarter" idx="12"/>
          </p:nvPr>
        </p:nvSpPr>
        <p:spPr/>
        <p:txBody>
          <a:bodyPr/>
          <a:lstStyle/>
          <a:p>
            <a:fld id="{CE7567DC-5FD5-45FD-89E4-4C2DD10BAC25}" type="slidenum">
              <a:rPr lang="hu-HU" smtClean="0"/>
              <a:pPr/>
              <a:t>‹#›</a:t>
            </a:fld>
            <a:endParaRPr lang="hu-HU"/>
          </a:p>
        </p:txBody>
      </p:sp>
      <p:sp>
        <p:nvSpPr>
          <p:cNvPr id="7"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endParaRPr lang="hu-HU"/>
          </a:p>
        </p:txBody>
      </p:sp>
      <p:sp>
        <p:nvSpPr>
          <p:cNvPr id="3" name="Élőláb helye 2"/>
          <p:cNvSpPr>
            <a:spLocks noGrp="1"/>
          </p:cNvSpPr>
          <p:nvPr>
            <p:ph type="ftr" sz="quarter" idx="11"/>
          </p:nvPr>
        </p:nvSpPr>
        <p:spPr/>
        <p:txBody>
          <a:bodyPr/>
          <a:lstStyle/>
          <a:p>
            <a:r>
              <a:rPr lang="hu-HU" smtClean="0"/>
              <a:t>„Az élhető város és vidéke” szimpózium - Békéscsaba, 2012. nov. 22.</a:t>
            </a:r>
            <a:endParaRPr lang="hu-HU"/>
          </a:p>
        </p:txBody>
      </p:sp>
      <p:sp>
        <p:nvSpPr>
          <p:cNvPr id="4" name="Dia számának helye 3"/>
          <p:cNvSpPr>
            <a:spLocks noGrp="1"/>
          </p:cNvSpPr>
          <p:nvPr>
            <p:ph type="sldNum" sz="quarter" idx="12"/>
          </p:nvPr>
        </p:nvSpPr>
        <p:spPr/>
        <p:txBody>
          <a:bodyPr/>
          <a:lstStyle/>
          <a:p>
            <a:fld id="{02708230-3BD7-4EB2-A2E0-C5E597A61617}" type="slidenum">
              <a:rPr lang="hu-HU" smtClean="0"/>
              <a:pPr/>
              <a:t>‹#›</a:t>
            </a:fld>
            <a:endParaRPr lang="hu-HU"/>
          </a:p>
        </p:txBody>
      </p:sp>
      <p:sp>
        <p:nvSpPr>
          <p:cNvPr id="5" name="Egyenes összekötő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Háromszög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hu-HU" smtClean="0"/>
              <a:t>Mintacím szerkesztése</a:t>
            </a:r>
            <a:endParaRPr kumimoji="0" lang="en-US"/>
          </a:p>
        </p:txBody>
      </p:sp>
      <p:sp>
        <p:nvSpPr>
          <p:cNvPr id="3" name="Szöveg hely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hu-HU" smtClean="0"/>
              <a:t>Mintaszöveg szerkesztése</a:t>
            </a:r>
          </a:p>
        </p:txBody>
      </p:sp>
      <p:sp>
        <p:nvSpPr>
          <p:cNvPr id="5" name="Dátum helye 4"/>
          <p:cNvSpPr>
            <a:spLocks noGrp="1"/>
          </p:cNvSpPr>
          <p:nvPr>
            <p:ph type="dt" sz="half" idx="10"/>
          </p:nvPr>
        </p:nvSpPr>
        <p:spPr/>
        <p:txBody>
          <a:bodyPr/>
          <a:lstStyle/>
          <a:p>
            <a:endParaRPr lang="hu-HU"/>
          </a:p>
        </p:txBody>
      </p:sp>
      <p:sp>
        <p:nvSpPr>
          <p:cNvPr id="6" name="Élőláb helye 5"/>
          <p:cNvSpPr>
            <a:spLocks noGrp="1"/>
          </p:cNvSpPr>
          <p:nvPr>
            <p:ph type="ftr" sz="quarter" idx="11"/>
          </p:nvPr>
        </p:nvSpPr>
        <p:spPr/>
        <p:txBody>
          <a:bodyPr/>
          <a:lstStyle/>
          <a:p>
            <a:r>
              <a:rPr lang="hu-HU" smtClean="0"/>
              <a:t>„Az élhető város és vidéke” szimpózium - Békéscsaba, 2012. nov. 22.</a:t>
            </a:r>
            <a:endParaRPr lang="hu-HU"/>
          </a:p>
        </p:txBody>
      </p:sp>
      <p:sp>
        <p:nvSpPr>
          <p:cNvPr id="7" name="Dia számának helye 6"/>
          <p:cNvSpPr>
            <a:spLocks noGrp="1"/>
          </p:cNvSpPr>
          <p:nvPr>
            <p:ph type="sldNum" sz="quarter" idx="12"/>
          </p:nvPr>
        </p:nvSpPr>
        <p:spPr/>
        <p:txBody>
          <a:bodyPr/>
          <a:lstStyle/>
          <a:p>
            <a:fld id="{A471FB6C-6ABC-48E6-850C-93CCD54CF77E}" type="slidenum">
              <a:rPr lang="hu-HU" smtClean="0"/>
              <a:pPr/>
              <a:t>‹#›</a:t>
            </a:fld>
            <a:endParaRPr lang="hu-HU"/>
          </a:p>
        </p:txBody>
      </p:sp>
      <p:sp>
        <p:nvSpPr>
          <p:cNvPr id="8" name="Egyenes összekötő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Egyenes összekötő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Háromszög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Tartalom helye 11"/>
          <p:cNvSpPr>
            <a:spLocks noGrp="1"/>
          </p:cNvSpPr>
          <p:nvPr>
            <p:ph sz="quarter" idx="1"/>
          </p:nvPr>
        </p:nvSpPr>
        <p:spPr>
          <a:xfrm>
            <a:off x="304800" y="304800"/>
            <a:ext cx="5715000" cy="571500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ép képaláírással">
    <p:spTree>
      <p:nvGrpSpPr>
        <p:cNvPr id="1" name=""/>
        <p:cNvGrpSpPr/>
        <p:nvPr/>
      </p:nvGrpSpPr>
      <p:grpSpPr>
        <a:xfrm>
          <a:off x="0" y="0"/>
          <a:ext cx="0" cy="0"/>
          <a:chOff x="0" y="0"/>
          <a:chExt cx="0" cy="0"/>
        </a:xfrm>
      </p:grpSpPr>
      <p:sp>
        <p:nvSpPr>
          <p:cNvPr id="3" name="Kép helye 2"/>
          <p:cNvSpPr>
            <a:spLocks noGrp="1"/>
          </p:cNvSpPr>
          <p:nvPr>
            <p:ph type="pic" idx="1"/>
          </p:nvPr>
        </p:nvSpPr>
        <p:spPr>
          <a:xfrm>
            <a:off x="899592" y="1916832"/>
            <a:ext cx="7920880" cy="4104456"/>
          </a:xfrm>
          <a:solidFill>
            <a:schemeClr val="tx1">
              <a:shade val="50000"/>
            </a:schemeClr>
          </a:solidFill>
          <a:ln>
            <a:noFill/>
          </a:ln>
          <a:effectLst/>
        </p:spPr>
        <p:txBody>
          <a:bodyPr/>
          <a:lstStyle>
            <a:lvl1pPr marL="0" indent="0">
              <a:spcBef>
                <a:spcPts val="600"/>
              </a:spcBef>
              <a:buNone/>
              <a:defRPr sz="3200"/>
            </a:lvl1pPr>
          </a:lstStyle>
          <a:p>
            <a:r>
              <a:rPr kumimoji="0" lang="hu-HU" dirty="0" smtClean="0"/>
              <a:t>Kép beszúrásához kattintson az ikonra</a:t>
            </a:r>
            <a:endParaRPr kumimoji="0" lang="en-US" dirty="0"/>
          </a:p>
        </p:txBody>
      </p:sp>
      <p:sp>
        <p:nvSpPr>
          <p:cNvPr id="4" name="Szöveg helye 3"/>
          <p:cNvSpPr>
            <a:spLocks noGrp="1"/>
          </p:cNvSpPr>
          <p:nvPr>
            <p:ph type="body" sz="half" idx="2"/>
          </p:nvPr>
        </p:nvSpPr>
        <p:spPr>
          <a:xfrm>
            <a:off x="1043608" y="1239416"/>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hu-HU" smtClean="0"/>
              <a:t>Mintaszöveg szerkesztése</a:t>
            </a:r>
          </a:p>
        </p:txBody>
      </p:sp>
      <p:sp>
        <p:nvSpPr>
          <p:cNvPr id="5" name="Dátum helye 4"/>
          <p:cNvSpPr>
            <a:spLocks noGrp="1"/>
          </p:cNvSpPr>
          <p:nvPr>
            <p:ph type="dt" sz="half" idx="10"/>
          </p:nvPr>
        </p:nvSpPr>
        <p:spPr/>
        <p:txBody>
          <a:bodyPr/>
          <a:lstStyle/>
          <a:p>
            <a:endParaRPr lang="hu-HU"/>
          </a:p>
        </p:txBody>
      </p:sp>
      <p:sp>
        <p:nvSpPr>
          <p:cNvPr id="6" name="Élőláb helye 5"/>
          <p:cNvSpPr>
            <a:spLocks noGrp="1"/>
          </p:cNvSpPr>
          <p:nvPr>
            <p:ph type="ftr" sz="quarter" idx="11"/>
          </p:nvPr>
        </p:nvSpPr>
        <p:spPr/>
        <p:txBody>
          <a:bodyPr/>
          <a:lstStyle/>
          <a:p>
            <a:r>
              <a:rPr lang="hu-HU" smtClean="0"/>
              <a:t>„Az élhető város és vidéke” szimpózium - Békéscsaba, 2012. nov. 22.</a:t>
            </a:r>
            <a:endParaRPr lang="hu-HU"/>
          </a:p>
        </p:txBody>
      </p:sp>
      <p:sp>
        <p:nvSpPr>
          <p:cNvPr id="7" name="Dia számának helye 6"/>
          <p:cNvSpPr>
            <a:spLocks noGrp="1"/>
          </p:cNvSpPr>
          <p:nvPr>
            <p:ph type="sldNum" sz="quarter" idx="12"/>
          </p:nvPr>
        </p:nvSpPr>
        <p:spPr/>
        <p:txBody>
          <a:bodyPr/>
          <a:lstStyle/>
          <a:p>
            <a:fld id="{97B391F9-3588-44A4-B710-DBFBBF308415}" type="slidenum">
              <a:rPr lang="hu-HU" smtClean="0"/>
              <a:pPr/>
              <a:t>‹#›</a:t>
            </a:fld>
            <a:endParaRPr lang="hu-HU"/>
          </a:p>
        </p:txBody>
      </p:sp>
      <p:sp>
        <p:nvSpPr>
          <p:cNvPr id="8" name="Egyenes összekötő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Háromszög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kumimoji="0" lang="hu-HU" smtClean="0"/>
              <a:t>Mintacím szerkesztése</a:t>
            </a:r>
            <a:endParaRPr kumimoji="0" lang="en-US"/>
          </a:p>
        </p:txBody>
      </p:sp>
      <p:sp>
        <p:nvSpPr>
          <p:cNvPr id="3" name="Függőleges szöveg helye 2"/>
          <p:cNvSpPr>
            <a:spLocks noGrp="1"/>
          </p:cNvSpPr>
          <p:nvPr>
            <p:ph type="body" orient="vert" idx="1"/>
          </p:nvPr>
        </p:nvSpPr>
        <p:spPr/>
        <p:txBody>
          <a:bodyPr vert="eaVert"/>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4" name="Dátum helye 3"/>
          <p:cNvSpPr>
            <a:spLocks noGrp="1"/>
          </p:cNvSpPr>
          <p:nvPr>
            <p:ph type="dt" sz="half" idx="10"/>
          </p:nvPr>
        </p:nvSpPr>
        <p:spPr/>
        <p:txBody>
          <a:bodyPr/>
          <a:lstStyle/>
          <a:p>
            <a:endParaRPr lang="hu-HU"/>
          </a:p>
        </p:txBody>
      </p:sp>
      <p:sp>
        <p:nvSpPr>
          <p:cNvPr id="5" name="Élőláb helye 4"/>
          <p:cNvSpPr>
            <a:spLocks noGrp="1"/>
          </p:cNvSpPr>
          <p:nvPr>
            <p:ph type="ftr" sz="quarter" idx="11"/>
          </p:nvPr>
        </p:nvSpPr>
        <p:spPr/>
        <p:txBody>
          <a:bodyPr/>
          <a:lstStyle/>
          <a:p>
            <a:r>
              <a:rPr lang="hu-HU" smtClean="0"/>
              <a:t>„Az élhető város és vidéke” szimpózium - Békéscsaba, 2012. nov. 22.</a:t>
            </a:r>
            <a:endParaRPr lang="hu-HU" dirty="0"/>
          </a:p>
        </p:txBody>
      </p:sp>
      <p:sp>
        <p:nvSpPr>
          <p:cNvPr id="6" name="Dia számának helye 5"/>
          <p:cNvSpPr>
            <a:spLocks noGrp="1"/>
          </p:cNvSpPr>
          <p:nvPr>
            <p:ph type="sldNum" sz="quarter" idx="12"/>
          </p:nvPr>
        </p:nvSpPr>
        <p:spPr/>
        <p:txBody>
          <a:bodyPr/>
          <a:lstStyle/>
          <a:p>
            <a:fld id="{455B045C-518B-4701-A193-C82D685785BB}" type="slidenum">
              <a:rPr lang="hu-HU" smtClean="0"/>
              <a:pPr/>
              <a:t>‹#›</a:t>
            </a:fld>
            <a:endParaRPr lang="hu-H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6629400" y="274638"/>
            <a:ext cx="2057400" cy="5851525"/>
          </a:xfrm>
        </p:spPr>
        <p:txBody>
          <a:bodyPr vert="eaVert"/>
          <a:lstStyle/>
          <a:p>
            <a:r>
              <a:rPr kumimoji="0" lang="hu-HU" smtClean="0"/>
              <a:t>Mintacím szerkesztése</a:t>
            </a:r>
            <a:endParaRPr kumimoji="0" lang="en-US"/>
          </a:p>
        </p:txBody>
      </p:sp>
      <p:sp>
        <p:nvSpPr>
          <p:cNvPr id="3" name="Függőleges szöveg helye 2"/>
          <p:cNvSpPr>
            <a:spLocks noGrp="1"/>
          </p:cNvSpPr>
          <p:nvPr>
            <p:ph type="body" orient="vert" idx="1"/>
          </p:nvPr>
        </p:nvSpPr>
        <p:spPr>
          <a:xfrm>
            <a:off x="457200" y="274638"/>
            <a:ext cx="6019800" cy="5851525"/>
          </a:xfrm>
        </p:spPr>
        <p:txBody>
          <a:bodyPr vert="eaVert"/>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4" name="Dátum helye 3"/>
          <p:cNvSpPr>
            <a:spLocks noGrp="1"/>
          </p:cNvSpPr>
          <p:nvPr>
            <p:ph type="dt" sz="half" idx="10"/>
          </p:nvPr>
        </p:nvSpPr>
        <p:spPr/>
        <p:txBody>
          <a:bodyPr/>
          <a:lstStyle/>
          <a:p>
            <a:endParaRPr lang="hu-HU"/>
          </a:p>
        </p:txBody>
      </p:sp>
      <p:sp>
        <p:nvSpPr>
          <p:cNvPr id="5" name="Élőláb helye 4"/>
          <p:cNvSpPr>
            <a:spLocks noGrp="1"/>
          </p:cNvSpPr>
          <p:nvPr>
            <p:ph type="ftr" sz="quarter" idx="11"/>
          </p:nvPr>
        </p:nvSpPr>
        <p:spPr/>
        <p:txBody>
          <a:bodyPr/>
          <a:lstStyle/>
          <a:p>
            <a:r>
              <a:rPr lang="hu-HU" smtClean="0"/>
              <a:t>„Az élhető város és vidéke” szimpózium - Békéscsaba, 2012. nov. 22.</a:t>
            </a:r>
            <a:endParaRPr lang="hu-HU"/>
          </a:p>
        </p:txBody>
      </p:sp>
      <p:sp>
        <p:nvSpPr>
          <p:cNvPr id="6" name="Dia számának helye 5"/>
          <p:cNvSpPr>
            <a:spLocks noGrp="1"/>
          </p:cNvSpPr>
          <p:nvPr>
            <p:ph type="sldNum" sz="quarter" idx="12"/>
          </p:nvPr>
        </p:nvSpPr>
        <p:spPr/>
        <p:txBody>
          <a:bodyPr/>
          <a:lstStyle/>
          <a:p>
            <a:fld id="{EDE91608-E16F-4CD8-8DFF-B4A0F77A90E1}" type="slidenum">
              <a:rPr lang="hu-HU" smtClean="0"/>
              <a:pPr/>
              <a:t>‹#›</a:t>
            </a:fld>
            <a:endParaRPr lang="hu-HU"/>
          </a:p>
        </p:txBody>
      </p:sp>
      <p:sp>
        <p:nvSpPr>
          <p:cNvPr id="7" name="Egyenes összekötő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Háromszög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gyenes összekötő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ímdia">
    <p:spTree>
      <p:nvGrpSpPr>
        <p:cNvPr id="1" name=""/>
        <p:cNvGrpSpPr/>
        <p:nvPr/>
      </p:nvGrpSpPr>
      <p:grpSpPr>
        <a:xfrm>
          <a:off x="0" y="0"/>
          <a:ext cx="0" cy="0"/>
          <a:chOff x="0" y="0"/>
          <a:chExt cx="0" cy="0"/>
        </a:xfrm>
      </p:grpSpPr>
      <p:sp>
        <p:nvSpPr>
          <p:cNvPr id="8" name="Cím 7"/>
          <p:cNvSpPr>
            <a:spLocks noGrp="1"/>
          </p:cNvSpPr>
          <p:nvPr>
            <p:ph type="ctrTitle"/>
          </p:nvPr>
        </p:nvSpPr>
        <p:spPr>
          <a:xfrm>
            <a:off x="1219200" y="3523110"/>
            <a:ext cx="6858000" cy="1487016"/>
          </a:xfrm>
        </p:spPr>
        <p:txBody>
          <a:bodyPr anchor="t" anchorCtr="0"/>
          <a:lstStyle>
            <a:lvl1pPr algn="r">
              <a:defRPr sz="3200">
                <a:solidFill>
                  <a:schemeClr val="tx1"/>
                </a:solidFill>
              </a:defRPr>
            </a:lvl1pPr>
          </a:lstStyle>
          <a:p>
            <a:r>
              <a:rPr kumimoji="0" lang="hu-HU" dirty="0" smtClean="0"/>
              <a:t>Mintacím szerkesztése</a:t>
            </a:r>
            <a:endParaRPr kumimoji="0" lang="en-US" dirty="0"/>
          </a:p>
        </p:txBody>
      </p:sp>
      <p:sp>
        <p:nvSpPr>
          <p:cNvPr id="28" name="Dátum helye 27"/>
          <p:cNvSpPr>
            <a:spLocks noGrp="1"/>
          </p:cNvSpPr>
          <p:nvPr>
            <p:ph type="dt" sz="half" idx="10"/>
          </p:nvPr>
        </p:nvSpPr>
        <p:spPr>
          <a:xfrm>
            <a:off x="6400800" y="6355080"/>
            <a:ext cx="2286000" cy="365760"/>
          </a:xfrm>
        </p:spPr>
        <p:txBody>
          <a:bodyPr/>
          <a:lstStyle>
            <a:lvl1pPr>
              <a:defRPr sz="1400"/>
            </a:lvl1pPr>
          </a:lstStyle>
          <a:p>
            <a:endParaRPr lang="hu-HU"/>
          </a:p>
        </p:txBody>
      </p:sp>
      <p:sp>
        <p:nvSpPr>
          <p:cNvPr id="17" name="Élőláb helye 16"/>
          <p:cNvSpPr>
            <a:spLocks noGrp="1"/>
          </p:cNvSpPr>
          <p:nvPr>
            <p:ph type="ftr" sz="quarter" idx="11"/>
          </p:nvPr>
        </p:nvSpPr>
        <p:spPr>
          <a:xfrm>
            <a:off x="2898648" y="6355080"/>
            <a:ext cx="3474720" cy="365760"/>
          </a:xfrm>
        </p:spPr>
        <p:txBody>
          <a:bodyPr/>
          <a:lstStyle/>
          <a:p>
            <a:r>
              <a:rPr lang="hu-HU" smtClean="0"/>
              <a:t>„Az élhető város és vidéke” szimpózium - Békéscsaba, 2012. nov. 22.</a:t>
            </a:r>
            <a:endParaRPr lang="hu-HU" dirty="0"/>
          </a:p>
        </p:txBody>
      </p:sp>
      <p:sp>
        <p:nvSpPr>
          <p:cNvPr id="29" name="Dia számának helye 28"/>
          <p:cNvSpPr>
            <a:spLocks noGrp="1"/>
          </p:cNvSpPr>
          <p:nvPr>
            <p:ph type="sldNum" sz="quarter" idx="12"/>
          </p:nvPr>
        </p:nvSpPr>
        <p:spPr>
          <a:xfrm>
            <a:off x="8748464" y="6453336"/>
            <a:ext cx="1219200" cy="365760"/>
          </a:xfrm>
        </p:spPr>
        <p:txBody>
          <a:bodyPr/>
          <a:lstStyle/>
          <a:p>
            <a:fld id="{83129DFA-9269-405E-8012-2ACF7FC0EE12}" type="slidenum">
              <a:rPr lang="hu-HU" smtClean="0"/>
              <a:pPr/>
              <a:t>‹#›</a:t>
            </a:fld>
            <a:endParaRPr lang="hu-HU"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kumimoji="0" lang="hu-HU" dirty="0" smtClean="0"/>
              <a:t>Mintacím szerkesztése</a:t>
            </a:r>
            <a:endParaRPr kumimoji="0" lang="en-US" dirty="0"/>
          </a:p>
        </p:txBody>
      </p:sp>
      <p:sp>
        <p:nvSpPr>
          <p:cNvPr id="4" name="Dátum helye 3"/>
          <p:cNvSpPr>
            <a:spLocks noGrp="1"/>
          </p:cNvSpPr>
          <p:nvPr>
            <p:ph type="dt" sz="half" idx="10"/>
          </p:nvPr>
        </p:nvSpPr>
        <p:spPr/>
        <p:txBody>
          <a:bodyPr/>
          <a:lstStyle/>
          <a:p>
            <a:endParaRPr lang="hu-HU"/>
          </a:p>
        </p:txBody>
      </p:sp>
      <p:sp>
        <p:nvSpPr>
          <p:cNvPr id="5" name="Élőláb helye 4"/>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6" name="Dia számának helye 5"/>
          <p:cNvSpPr>
            <a:spLocks noGrp="1"/>
          </p:cNvSpPr>
          <p:nvPr>
            <p:ph type="sldNum" sz="quarter" idx="12"/>
          </p:nvPr>
        </p:nvSpPr>
        <p:spPr/>
        <p:txBody>
          <a:bodyPr/>
          <a:lstStyle>
            <a:lvl1pPr algn="ctr">
              <a:defRPr/>
            </a:lvl1pPr>
          </a:lstStyle>
          <a:p>
            <a:fld id="{22D59DB6-5F7D-499C-A599-3478E63C2738}" type="slidenum">
              <a:rPr lang="hu-HU" smtClean="0"/>
              <a:pPr/>
              <a:t>‹#›</a:t>
            </a:fld>
            <a:endParaRPr lang="hu-HU" dirty="0"/>
          </a:p>
        </p:txBody>
      </p:sp>
      <p:sp>
        <p:nvSpPr>
          <p:cNvPr id="8" name="Tartalom helye 7"/>
          <p:cNvSpPr>
            <a:spLocks noGrp="1"/>
          </p:cNvSpPr>
          <p:nvPr>
            <p:ph sz="quarter" idx="1"/>
          </p:nvPr>
        </p:nvSpPr>
        <p:spPr>
          <a:xfrm>
            <a:off x="914400" y="1268760"/>
            <a:ext cx="8229600" cy="493776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hu-HU" smtClean="0"/>
              <a:t>Mintacím szerkesztése</a:t>
            </a:r>
            <a:endParaRPr kumimoji="0" lang="en-US"/>
          </a:p>
        </p:txBody>
      </p:sp>
      <p:sp>
        <p:nvSpPr>
          <p:cNvPr id="3" name="Szöveg hely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hu-HU" smtClean="0"/>
              <a:t>Mintaszöveg szerkesztése</a:t>
            </a:r>
          </a:p>
        </p:txBody>
      </p:sp>
      <p:sp>
        <p:nvSpPr>
          <p:cNvPr id="4" name="Dátum helye 3"/>
          <p:cNvSpPr>
            <a:spLocks noGrp="1"/>
          </p:cNvSpPr>
          <p:nvPr>
            <p:ph type="dt" sz="half" idx="10"/>
          </p:nvPr>
        </p:nvSpPr>
        <p:spPr>
          <a:xfrm>
            <a:off x="6400800" y="6355080"/>
            <a:ext cx="2286000" cy="365760"/>
          </a:xfrm>
        </p:spPr>
        <p:txBody>
          <a:bodyPr/>
          <a:lstStyle/>
          <a:p>
            <a:endParaRPr lang="hu-HU"/>
          </a:p>
        </p:txBody>
      </p:sp>
      <p:sp>
        <p:nvSpPr>
          <p:cNvPr id="5" name="Élőláb helye 4"/>
          <p:cNvSpPr>
            <a:spLocks noGrp="1"/>
          </p:cNvSpPr>
          <p:nvPr>
            <p:ph type="ftr" sz="quarter" idx="11"/>
          </p:nvPr>
        </p:nvSpPr>
        <p:spPr>
          <a:xfrm>
            <a:off x="2898648" y="6355080"/>
            <a:ext cx="3474720" cy="365760"/>
          </a:xfrm>
        </p:spPr>
        <p:txBody>
          <a:bodyPr/>
          <a:lstStyle/>
          <a:p>
            <a:r>
              <a:rPr lang="hu-HU" smtClean="0"/>
              <a:t>„Az élhető város és vidéke” szimpózium - Békéscsaba, 2012. nov. 22.</a:t>
            </a:r>
            <a:endParaRPr lang="hu-HU"/>
          </a:p>
        </p:txBody>
      </p:sp>
      <p:sp>
        <p:nvSpPr>
          <p:cNvPr id="6" name="Dia számának helye 5"/>
          <p:cNvSpPr>
            <a:spLocks noGrp="1"/>
          </p:cNvSpPr>
          <p:nvPr>
            <p:ph type="sldNum" sz="quarter" idx="12"/>
          </p:nvPr>
        </p:nvSpPr>
        <p:spPr>
          <a:xfrm>
            <a:off x="1069848" y="6355080"/>
            <a:ext cx="1520952" cy="365760"/>
          </a:xfrm>
        </p:spPr>
        <p:txBody>
          <a:bodyPr/>
          <a:lstStyle/>
          <a:p>
            <a:fld id="{413DE628-EAA1-4E59-8635-4C7079CA0BAD}" type="slidenum">
              <a:rPr lang="hu-HU" smtClean="0"/>
              <a:pPr/>
              <a:t>‹#›</a:t>
            </a:fld>
            <a:endParaRPr lang="hu-HU"/>
          </a:p>
        </p:txBody>
      </p:sp>
      <p:sp>
        <p:nvSpPr>
          <p:cNvPr id="7" name="Téglalap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églalap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tartalomrész">
    <p:spTree>
      <p:nvGrpSpPr>
        <p:cNvPr id="1" name=""/>
        <p:cNvGrpSpPr/>
        <p:nvPr/>
      </p:nvGrpSpPr>
      <p:grpSpPr>
        <a:xfrm>
          <a:off x="0" y="0"/>
          <a:ext cx="0" cy="0"/>
          <a:chOff x="0" y="0"/>
          <a:chExt cx="0" cy="0"/>
        </a:xfrm>
      </p:grpSpPr>
      <p:sp>
        <p:nvSpPr>
          <p:cNvPr id="5" name="Dátum helye 4"/>
          <p:cNvSpPr>
            <a:spLocks noGrp="1"/>
          </p:cNvSpPr>
          <p:nvPr>
            <p:ph type="dt" sz="half" idx="10"/>
          </p:nvPr>
        </p:nvSpPr>
        <p:spPr/>
        <p:txBody>
          <a:bodyPr/>
          <a:lstStyle/>
          <a:p>
            <a:endParaRPr lang="hu-HU"/>
          </a:p>
        </p:txBody>
      </p:sp>
      <p:sp>
        <p:nvSpPr>
          <p:cNvPr id="6" name="Élőláb helye 5"/>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7" name="Dia számának helye 6"/>
          <p:cNvSpPr>
            <a:spLocks noGrp="1"/>
          </p:cNvSpPr>
          <p:nvPr>
            <p:ph type="sldNum" sz="quarter" idx="12"/>
          </p:nvPr>
        </p:nvSpPr>
        <p:spPr/>
        <p:txBody>
          <a:bodyPr/>
          <a:lstStyle>
            <a:lvl1pPr algn="ctr">
              <a:defRPr/>
            </a:lvl1pPr>
          </a:lstStyle>
          <a:p>
            <a:fld id="{58AC1B34-B858-40F5-AC84-7CFBECED2A98}" type="slidenum">
              <a:rPr lang="hu-HU" smtClean="0"/>
              <a:pPr/>
              <a:t>‹#›</a:t>
            </a:fld>
            <a:endParaRPr lang="hu-HU" dirty="0"/>
          </a:p>
        </p:txBody>
      </p:sp>
      <p:sp>
        <p:nvSpPr>
          <p:cNvPr id="9" name="Tartalom helye 8"/>
          <p:cNvSpPr>
            <a:spLocks noGrp="1"/>
          </p:cNvSpPr>
          <p:nvPr>
            <p:ph sz="quarter" idx="1"/>
          </p:nvPr>
        </p:nvSpPr>
        <p:spPr>
          <a:xfrm>
            <a:off x="611560" y="1268760"/>
            <a:ext cx="4041648" cy="493776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11" name="Tartalom helye 10"/>
          <p:cNvSpPr>
            <a:spLocks noGrp="1"/>
          </p:cNvSpPr>
          <p:nvPr>
            <p:ph sz="quarter" idx="2"/>
          </p:nvPr>
        </p:nvSpPr>
        <p:spPr>
          <a:xfrm>
            <a:off x="4716016" y="1268760"/>
            <a:ext cx="4041648" cy="493776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8"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Összehasonlítás">
    <p:spTree>
      <p:nvGrpSpPr>
        <p:cNvPr id="1" name=""/>
        <p:cNvGrpSpPr/>
        <p:nvPr/>
      </p:nvGrpSpPr>
      <p:grpSpPr>
        <a:xfrm>
          <a:off x="0" y="0"/>
          <a:ext cx="0" cy="0"/>
          <a:chOff x="0" y="0"/>
          <a:chExt cx="0" cy="0"/>
        </a:xfrm>
      </p:grpSpPr>
      <p:sp>
        <p:nvSpPr>
          <p:cNvPr id="3" name="Szöveg helye 2"/>
          <p:cNvSpPr>
            <a:spLocks noGrp="1"/>
          </p:cNvSpPr>
          <p:nvPr>
            <p:ph type="body" idx="1"/>
          </p:nvPr>
        </p:nvSpPr>
        <p:spPr>
          <a:xfrm>
            <a:off x="755576" y="1268760"/>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u-HU" smtClean="0"/>
              <a:t>Mintaszöveg szerkesztése</a:t>
            </a:r>
          </a:p>
        </p:txBody>
      </p:sp>
      <p:sp>
        <p:nvSpPr>
          <p:cNvPr id="4" name="Szöveg helye 3"/>
          <p:cNvSpPr>
            <a:spLocks noGrp="1"/>
          </p:cNvSpPr>
          <p:nvPr>
            <p:ph type="body" sz="half" idx="3"/>
          </p:nvPr>
        </p:nvSpPr>
        <p:spPr>
          <a:xfrm>
            <a:off x="5102225" y="126876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u-HU" smtClean="0"/>
              <a:t>Mintaszöveg szerkesztése</a:t>
            </a:r>
          </a:p>
        </p:txBody>
      </p:sp>
      <p:sp>
        <p:nvSpPr>
          <p:cNvPr id="7" name="Dátum helye 6"/>
          <p:cNvSpPr>
            <a:spLocks noGrp="1"/>
          </p:cNvSpPr>
          <p:nvPr>
            <p:ph type="dt" sz="half" idx="10"/>
          </p:nvPr>
        </p:nvSpPr>
        <p:spPr/>
        <p:txBody>
          <a:bodyPr/>
          <a:lstStyle/>
          <a:p>
            <a:endParaRPr lang="hu-HU"/>
          </a:p>
        </p:txBody>
      </p:sp>
      <p:sp>
        <p:nvSpPr>
          <p:cNvPr id="8" name="Élőláb helye 7"/>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9" name="Dia számának helye 8"/>
          <p:cNvSpPr>
            <a:spLocks noGrp="1"/>
          </p:cNvSpPr>
          <p:nvPr>
            <p:ph type="sldNum" sz="quarter" idx="12"/>
          </p:nvPr>
        </p:nvSpPr>
        <p:spPr/>
        <p:txBody>
          <a:bodyPr/>
          <a:lstStyle>
            <a:lvl1pPr algn="ctr">
              <a:defRPr/>
            </a:lvl1pPr>
          </a:lstStyle>
          <a:p>
            <a:fld id="{E3A2FB2A-4C20-4DED-9465-97110247D2E8}" type="slidenum">
              <a:rPr lang="hu-HU" smtClean="0"/>
              <a:pPr/>
              <a:t>‹#›</a:t>
            </a:fld>
            <a:endParaRPr lang="hu-HU" dirty="0"/>
          </a:p>
        </p:txBody>
      </p:sp>
      <p:sp>
        <p:nvSpPr>
          <p:cNvPr id="11" name="Tartalom helye 10"/>
          <p:cNvSpPr>
            <a:spLocks noGrp="1"/>
          </p:cNvSpPr>
          <p:nvPr>
            <p:ph sz="quarter" idx="2"/>
          </p:nvPr>
        </p:nvSpPr>
        <p:spPr>
          <a:xfrm>
            <a:off x="755576" y="2132856"/>
            <a:ext cx="4038600" cy="403860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13" name="Tartalom helye 12"/>
          <p:cNvSpPr>
            <a:spLocks noGrp="1"/>
          </p:cNvSpPr>
          <p:nvPr>
            <p:ph sz="quarter" idx="4"/>
          </p:nvPr>
        </p:nvSpPr>
        <p:spPr>
          <a:xfrm>
            <a:off x="5105400" y="2132856"/>
            <a:ext cx="4038600" cy="403860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10"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sak cím">
    <p:spTree>
      <p:nvGrpSpPr>
        <p:cNvPr id="1" name=""/>
        <p:cNvGrpSpPr/>
        <p:nvPr/>
      </p:nvGrpSpPr>
      <p:grpSpPr>
        <a:xfrm>
          <a:off x="0" y="0"/>
          <a:ext cx="0" cy="0"/>
          <a:chOff x="0" y="0"/>
          <a:chExt cx="0" cy="0"/>
        </a:xfrm>
      </p:grpSpPr>
      <p:sp>
        <p:nvSpPr>
          <p:cNvPr id="3" name="Dátum helye 2"/>
          <p:cNvSpPr>
            <a:spLocks noGrp="1"/>
          </p:cNvSpPr>
          <p:nvPr>
            <p:ph type="dt" sz="half" idx="10"/>
          </p:nvPr>
        </p:nvSpPr>
        <p:spPr/>
        <p:txBody>
          <a:bodyPr/>
          <a:lstStyle/>
          <a:p>
            <a:endParaRPr lang="hu-HU"/>
          </a:p>
        </p:txBody>
      </p:sp>
      <p:sp>
        <p:nvSpPr>
          <p:cNvPr id="4" name="Élőláb helye 3"/>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5" name="Dia számának helye 4"/>
          <p:cNvSpPr>
            <a:spLocks noGrp="1"/>
          </p:cNvSpPr>
          <p:nvPr>
            <p:ph type="sldNum" sz="quarter" idx="12"/>
          </p:nvPr>
        </p:nvSpPr>
        <p:spPr/>
        <p:txBody>
          <a:bodyPr/>
          <a:lstStyle/>
          <a:p>
            <a:fld id="{CE7567DC-5FD5-45FD-89E4-4C2DD10BAC25}" type="slidenum">
              <a:rPr lang="hu-HU" smtClean="0"/>
              <a:pPr/>
              <a:t>‹#›</a:t>
            </a:fld>
            <a:endParaRPr lang="hu-HU" dirty="0"/>
          </a:p>
        </p:txBody>
      </p:sp>
      <p:sp>
        <p:nvSpPr>
          <p:cNvPr id="6" name="Háromszög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endParaRPr lang="hu-HU"/>
          </a:p>
        </p:txBody>
      </p:sp>
      <p:sp>
        <p:nvSpPr>
          <p:cNvPr id="3" name="Élőláb helye 2"/>
          <p:cNvSpPr>
            <a:spLocks noGrp="1"/>
          </p:cNvSpPr>
          <p:nvPr>
            <p:ph type="ftr" sz="quarter" idx="11"/>
          </p:nvPr>
        </p:nvSpPr>
        <p:spPr/>
        <p:txBody>
          <a:bodyPr/>
          <a:lstStyle/>
          <a:p>
            <a:r>
              <a:rPr lang="hu-HU" smtClean="0"/>
              <a:t>„Az élhető város és vidéke” szimpózium - Békéscsaba, 2012. nov. 22.</a:t>
            </a:r>
            <a:endParaRPr lang="hu-HU"/>
          </a:p>
        </p:txBody>
      </p:sp>
      <p:sp>
        <p:nvSpPr>
          <p:cNvPr id="4" name="Dia számának helye 3"/>
          <p:cNvSpPr>
            <a:spLocks noGrp="1"/>
          </p:cNvSpPr>
          <p:nvPr>
            <p:ph type="sldNum" sz="quarter" idx="12"/>
          </p:nvPr>
        </p:nvSpPr>
        <p:spPr/>
        <p:txBody>
          <a:bodyPr/>
          <a:lstStyle>
            <a:lvl1pPr algn="ctr">
              <a:defRPr/>
            </a:lvl1pPr>
          </a:lstStyle>
          <a:p>
            <a:fld id="{02708230-3BD7-4EB2-A2E0-C5E597A61617}" type="slidenum">
              <a:rPr lang="hu-HU" smtClean="0"/>
              <a:pPr/>
              <a:t>‹#›</a:t>
            </a:fld>
            <a:endParaRPr lang="hu-HU" dirty="0"/>
          </a:p>
        </p:txBody>
      </p:sp>
      <p:sp>
        <p:nvSpPr>
          <p:cNvPr id="5" name="Egyenes összekötő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Háromszög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hu-HU" smtClean="0"/>
              <a:t>Mintacím szerkesztése</a:t>
            </a:r>
            <a:endParaRPr kumimoji="0" lang="en-US"/>
          </a:p>
        </p:txBody>
      </p:sp>
      <p:sp>
        <p:nvSpPr>
          <p:cNvPr id="3" name="Szöveg hely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hu-HU" smtClean="0"/>
              <a:t>Mintaszöveg szerkesztése</a:t>
            </a:r>
          </a:p>
        </p:txBody>
      </p:sp>
      <p:sp>
        <p:nvSpPr>
          <p:cNvPr id="5" name="Dátum helye 4"/>
          <p:cNvSpPr>
            <a:spLocks noGrp="1"/>
          </p:cNvSpPr>
          <p:nvPr>
            <p:ph type="dt" sz="half" idx="10"/>
          </p:nvPr>
        </p:nvSpPr>
        <p:spPr/>
        <p:txBody>
          <a:bodyPr/>
          <a:lstStyle/>
          <a:p>
            <a:endParaRPr lang="hu-HU"/>
          </a:p>
        </p:txBody>
      </p:sp>
      <p:sp>
        <p:nvSpPr>
          <p:cNvPr id="6" name="Élőláb helye 5"/>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7" name="Dia számának helye 6"/>
          <p:cNvSpPr>
            <a:spLocks noGrp="1"/>
          </p:cNvSpPr>
          <p:nvPr>
            <p:ph type="sldNum" sz="quarter" idx="12"/>
          </p:nvPr>
        </p:nvSpPr>
        <p:spPr/>
        <p:txBody>
          <a:bodyPr/>
          <a:lstStyle>
            <a:lvl1pPr algn="ctr">
              <a:defRPr/>
            </a:lvl1pPr>
          </a:lstStyle>
          <a:p>
            <a:fld id="{A471FB6C-6ABC-48E6-850C-93CCD54CF77E}" type="slidenum">
              <a:rPr lang="hu-HU" smtClean="0"/>
              <a:pPr/>
              <a:t>‹#›</a:t>
            </a:fld>
            <a:endParaRPr lang="hu-HU" dirty="0"/>
          </a:p>
        </p:txBody>
      </p:sp>
      <p:sp>
        <p:nvSpPr>
          <p:cNvPr id="8" name="Egyenes összekötő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Egyenes összekötő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Háromszög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Tartalom helye 11"/>
          <p:cNvSpPr>
            <a:spLocks noGrp="1"/>
          </p:cNvSpPr>
          <p:nvPr>
            <p:ph sz="quarter" idx="1"/>
          </p:nvPr>
        </p:nvSpPr>
        <p:spPr>
          <a:xfrm>
            <a:off x="304800" y="304800"/>
            <a:ext cx="5715000" cy="5715000"/>
          </a:xfrm>
        </p:spPr>
        <p:txBody>
          <a:bodyPr/>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ép képaláírással">
    <p:spTree>
      <p:nvGrpSpPr>
        <p:cNvPr id="1" name=""/>
        <p:cNvGrpSpPr/>
        <p:nvPr/>
      </p:nvGrpSpPr>
      <p:grpSpPr>
        <a:xfrm>
          <a:off x="0" y="0"/>
          <a:ext cx="0" cy="0"/>
          <a:chOff x="0" y="0"/>
          <a:chExt cx="0" cy="0"/>
        </a:xfrm>
      </p:grpSpPr>
      <p:sp>
        <p:nvSpPr>
          <p:cNvPr id="3" name="Kép helye 2"/>
          <p:cNvSpPr>
            <a:spLocks noGrp="1"/>
          </p:cNvSpPr>
          <p:nvPr>
            <p:ph type="pic" idx="1"/>
          </p:nvPr>
        </p:nvSpPr>
        <p:spPr>
          <a:xfrm>
            <a:off x="899592" y="1916832"/>
            <a:ext cx="7920880" cy="4104456"/>
          </a:xfrm>
          <a:solidFill>
            <a:schemeClr val="tx1">
              <a:shade val="50000"/>
            </a:schemeClr>
          </a:solidFill>
          <a:ln>
            <a:noFill/>
          </a:ln>
          <a:effectLst/>
        </p:spPr>
        <p:txBody>
          <a:bodyPr/>
          <a:lstStyle>
            <a:lvl1pPr marL="0" indent="0">
              <a:spcBef>
                <a:spcPts val="600"/>
              </a:spcBef>
              <a:buNone/>
              <a:defRPr sz="3200"/>
            </a:lvl1pPr>
          </a:lstStyle>
          <a:p>
            <a:r>
              <a:rPr kumimoji="0" lang="hu-HU" dirty="0" smtClean="0"/>
              <a:t>Kép beszúrásához kattintson az ikonra</a:t>
            </a:r>
            <a:endParaRPr kumimoji="0" lang="en-US" dirty="0"/>
          </a:p>
        </p:txBody>
      </p:sp>
      <p:sp>
        <p:nvSpPr>
          <p:cNvPr id="4" name="Szöveg helye 3"/>
          <p:cNvSpPr>
            <a:spLocks noGrp="1"/>
          </p:cNvSpPr>
          <p:nvPr>
            <p:ph type="body" sz="half" idx="2"/>
          </p:nvPr>
        </p:nvSpPr>
        <p:spPr>
          <a:xfrm>
            <a:off x="1043608" y="1239416"/>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hu-HU" smtClean="0"/>
              <a:t>Mintaszöveg szerkesztése</a:t>
            </a:r>
          </a:p>
        </p:txBody>
      </p:sp>
      <p:sp>
        <p:nvSpPr>
          <p:cNvPr id="5" name="Dátum helye 4"/>
          <p:cNvSpPr>
            <a:spLocks noGrp="1"/>
          </p:cNvSpPr>
          <p:nvPr>
            <p:ph type="dt" sz="half" idx="10"/>
          </p:nvPr>
        </p:nvSpPr>
        <p:spPr/>
        <p:txBody>
          <a:bodyPr/>
          <a:lstStyle/>
          <a:p>
            <a:endParaRPr lang="hu-HU"/>
          </a:p>
        </p:txBody>
      </p:sp>
      <p:sp>
        <p:nvSpPr>
          <p:cNvPr id="6" name="Élőláb helye 5"/>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7" name="Dia számának helye 6"/>
          <p:cNvSpPr>
            <a:spLocks noGrp="1"/>
          </p:cNvSpPr>
          <p:nvPr>
            <p:ph type="sldNum" sz="quarter" idx="12"/>
          </p:nvPr>
        </p:nvSpPr>
        <p:spPr/>
        <p:txBody>
          <a:bodyPr/>
          <a:lstStyle/>
          <a:p>
            <a:fld id="{97B391F9-3588-44A4-B710-DBFBBF308415}" type="slidenum">
              <a:rPr lang="hu-HU" smtClean="0"/>
              <a:pPr/>
              <a:t>‹#›</a:t>
            </a:fld>
            <a:endParaRPr lang="hu-HU" dirty="0"/>
          </a:p>
        </p:txBody>
      </p:sp>
      <p:sp>
        <p:nvSpPr>
          <p:cNvPr id="8" name="Egyenes összekötő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Háromszög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kumimoji="0" lang="hu-HU" smtClean="0"/>
              <a:t>Mintacím szerkesztése</a:t>
            </a:r>
            <a:endParaRPr kumimoji="0" lang="en-US"/>
          </a:p>
        </p:txBody>
      </p:sp>
      <p:sp>
        <p:nvSpPr>
          <p:cNvPr id="3" name="Függőleges szöveg helye 2"/>
          <p:cNvSpPr>
            <a:spLocks noGrp="1"/>
          </p:cNvSpPr>
          <p:nvPr>
            <p:ph type="body" orient="vert" idx="1"/>
          </p:nvPr>
        </p:nvSpPr>
        <p:spPr/>
        <p:txBody>
          <a:bodyPr vert="eaVert"/>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4" name="Dátum helye 3"/>
          <p:cNvSpPr>
            <a:spLocks noGrp="1"/>
          </p:cNvSpPr>
          <p:nvPr>
            <p:ph type="dt" sz="half" idx="10"/>
          </p:nvPr>
        </p:nvSpPr>
        <p:spPr/>
        <p:txBody>
          <a:bodyPr/>
          <a:lstStyle/>
          <a:p>
            <a:endParaRPr lang="hu-HU"/>
          </a:p>
        </p:txBody>
      </p:sp>
      <p:sp>
        <p:nvSpPr>
          <p:cNvPr id="5" name="Élőláb helye 4"/>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6" name="Dia számának helye 5"/>
          <p:cNvSpPr>
            <a:spLocks noGrp="1"/>
          </p:cNvSpPr>
          <p:nvPr>
            <p:ph type="sldNum" sz="quarter" idx="12"/>
          </p:nvPr>
        </p:nvSpPr>
        <p:spPr/>
        <p:txBody>
          <a:bodyPr/>
          <a:lstStyle>
            <a:lvl1pPr algn="ctr">
              <a:defRPr/>
            </a:lvl1pPr>
          </a:lstStyle>
          <a:p>
            <a:fld id="{455B045C-518B-4701-A193-C82D685785BB}" type="slidenum">
              <a:rPr lang="hu-HU" smtClean="0"/>
              <a:pPr/>
              <a:t>‹#›</a:t>
            </a:fld>
            <a:endParaRPr lang="hu-HU"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6629400" y="274638"/>
            <a:ext cx="2057400" cy="5851525"/>
          </a:xfrm>
        </p:spPr>
        <p:txBody>
          <a:bodyPr vert="eaVert"/>
          <a:lstStyle/>
          <a:p>
            <a:r>
              <a:rPr kumimoji="0" lang="hu-HU" smtClean="0"/>
              <a:t>Mintacím szerkesztése</a:t>
            </a:r>
            <a:endParaRPr kumimoji="0" lang="en-US"/>
          </a:p>
        </p:txBody>
      </p:sp>
      <p:sp>
        <p:nvSpPr>
          <p:cNvPr id="3" name="Függőleges szöveg helye 2"/>
          <p:cNvSpPr>
            <a:spLocks noGrp="1"/>
          </p:cNvSpPr>
          <p:nvPr>
            <p:ph type="body" orient="vert" idx="1"/>
          </p:nvPr>
        </p:nvSpPr>
        <p:spPr>
          <a:xfrm>
            <a:off x="457200" y="274638"/>
            <a:ext cx="6019800" cy="5851525"/>
          </a:xfrm>
        </p:spPr>
        <p:txBody>
          <a:bodyPr vert="eaVert"/>
          <a:lstStyle/>
          <a:p>
            <a:pPr lvl="0" eaLnBrk="1" latinLnBrk="0" hangingPunct="1"/>
            <a:r>
              <a:rPr lang="hu-HU" smtClean="0"/>
              <a:t>Mintaszöveg szerkesztése</a:t>
            </a:r>
          </a:p>
          <a:p>
            <a:pPr lvl="1" eaLnBrk="1" latinLnBrk="0" hangingPunct="1"/>
            <a:r>
              <a:rPr lang="hu-HU" smtClean="0"/>
              <a:t>Második szint</a:t>
            </a:r>
          </a:p>
          <a:p>
            <a:pPr lvl="2" eaLnBrk="1" latinLnBrk="0" hangingPunct="1"/>
            <a:r>
              <a:rPr lang="hu-HU" smtClean="0"/>
              <a:t>Harmadik szint</a:t>
            </a:r>
          </a:p>
          <a:p>
            <a:pPr lvl="3" eaLnBrk="1" latinLnBrk="0" hangingPunct="1"/>
            <a:r>
              <a:rPr lang="hu-HU" smtClean="0"/>
              <a:t>Negyedik szint</a:t>
            </a:r>
          </a:p>
          <a:p>
            <a:pPr lvl="4" eaLnBrk="1" latinLnBrk="0" hangingPunct="1"/>
            <a:r>
              <a:rPr lang="hu-HU" smtClean="0"/>
              <a:t>Ötödik szint</a:t>
            </a:r>
            <a:endParaRPr kumimoji="0" lang="en-US"/>
          </a:p>
        </p:txBody>
      </p:sp>
      <p:sp>
        <p:nvSpPr>
          <p:cNvPr id="4" name="Dátum helye 3"/>
          <p:cNvSpPr>
            <a:spLocks noGrp="1"/>
          </p:cNvSpPr>
          <p:nvPr>
            <p:ph type="dt" sz="half" idx="10"/>
          </p:nvPr>
        </p:nvSpPr>
        <p:spPr/>
        <p:txBody>
          <a:bodyPr/>
          <a:lstStyle/>
          <a:p>
            <a:endParaRPr lang="hu-HU"/>
          </a:p>
        </p:txBody>
      </p:sp>
      <p:sp>
        <p:nvSpPr>
          <p:cNvPr id="5" name="Élőláb helye 4"/>
          <p:cNvSpPr>
            <a:spLocks noGrp="1"/>
          </p:cNvSpPr>
          <p:nvPr>
            <p:ph type="ftr" sz="quarter" idx="11"/>
          </p:nvPr>
        </p:nvSpPr>
        <p:spPr/>
        <p:txBody>
          <a:bodyPr/>
          <a:lstStyle/>
          <a:p>
            <a:pPr algn="ctr"/>
            <a:r>
              <a:rPr lang="hu-HU" smtClean="0"/>
              <a:t>„Az élhető város és vidéke” szimpózium - Békéscsaba, 2012. nov. 22.</a:t>
            </a:r>
            <a:endParaRPr lang="hu-HU" dirty="0"/>
          </a:p>
        </p:txBody>
      </p:sp>
      <p:sp>
        <p:nvSpPr>
          <p:cNvPr id="6" name="Dia számának helye 5"/>
          <p:cNvSpPr>
            <a:spLocks noGrp="1"/>
          </p:cNvSpPr>
          <p:nvPr>
            <p:ph type="sldNum" sz="quarter" idx="12"/>
          </p:nvPr>
        </p:nvSpPr>
        <p:spPr/>
        <p:txBody>
          <a:bodyPr/>
          <a:lstStyle>
            <a:lvl1pPr algn="ctr">
              <a:defRPr/>
            </a:lvl1pPr>
          </a:lstStyle>
          <a:p>
            <a:fld id="{EDE91608-E16F-4CD8-8DFF-B4A0F77A90E1}" type="slidenum">
              <a:rPr lang="hu-HU" smtClean="0"/>
              <a:pPr/>
              <a:t>‹#›</a:t>
            </a:fld>
            <a:endParaRPr lang="hu-HU" dirty="0"/>
          </a:p>
        </p:txBody>
      </p:sp>
      <p:sp>
        <p:nvSpPr>
          <p:cNvPr id="7" name="Egyenes összekötő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Háromszög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gyenes összekötő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ím, szöveg és tartalom">
    <p:spTree>
      <p:nvGrpSpPr>
        <p:cNvPr id="1" name=""/>
        <p:cNvGrpSpPr/>
        <p:nvPr/>
      </p:nvGrpSpPr>
      <p:grpSpPr>
        <a:xfrm>
          <a:off x="0" y="0"/>
          <a:ext cx="0" cy="0"/>
          <a:chOff x="0" y="0"/>
          <a:chExt cx="0" cy="0"/>
        </a:xfrm>
      </p:grpSpPr>
      <p:sp>
        <p:nvSpPr>
          <p:cNvPr id="3" name="Szöveg helye 2"/>
          <p:cNvSpPr>
            <a:spLocks noGrp="1"/>
          </p:cNvSpPr>
          <p:nvPr>
            <p:ph type="body" sz="half" idx="1"/>
          </p:nvPr>
        </p:nvSpPr>
        <p:spPr>
          <a:xfrm>
            <a:off x="1182688" y="2017713"/>
            <a:ext cx="3810000" cy="41148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Tartalom helye 3"/>
          <p:cNvSpPr>
            <a:spLocks noGrp="1"/>
          </p:cNvSpPr>
          <p:nvPr>
            <p:ph sz="half" idx="2"/>
          </p:nvPr>
        </p:nvSpPr>
        <p:spPr>
          <a:xfrm>
            <a:off x="5145088" y="2017713"/>
            <a:ext cx="3810000" cy="411480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5" name="Rectangle 11"/>
          <p:cNvSpPr>
            <a:spLocks noGrp="1" noChangeArrowheads="1"/>
          </p:cNvSpPr>
          <p:nvPr>
            <p:ph type="dt" sz="half" idx="10"/>
          </p:nvPr>
        </p:nvSpPr>
        <p:spPr>
          <a:ln/>
        </p:spPr>
        <p:txBody>
          <a:bodyPr/>
          <a:lstStyle>
            <a:lvl1pPr>
              <a:defRPr/>
            </a:lvl1pPr>
          </a:lstStyle>
          <a:p>
            <a:pPr>
              <a:defRPr/>
            </a:pPr>
            <a:endParaRPr lang="hu-HU"/>
          </a:p>
        </p:txBody>
      </p:sp>
      <p:sp>
        <p:nvSpPr>
          <p:cNvPr id="6" name="Rectangle 12"/>
          <p:cNvSpPr>
            <a:spLocks noGrp="1" noChangeArrowheads="1"/>
          </p:cNvSpPr>
          <p:nvPr>
            <p:ph type="ftr" sz="quarter" idx="11"/>
          </p:nvPr>
        </p:nvSpPr>
        <p:spPr>
          <a:ln/>
        </p:spPr>
        <p:txBody>
          <a:bodyPr/>
          <a:lstStyle>
            <a:lvl1pPr>
              <a:defRPr/>
            </a:lvl1pPr>
          </a:lstStyle>
          <a:p>
            <a:pPr algn="ctr">
              <a:defRPr/>
            </a:pPr>
            <a:r>
              <a:rPr lang="hu-HU" smtClean="0"/>
              <a:t>„Az élhető város és vidéke” szimpózium - Békéscsaba, 2012. nov. 22.</a:t>
            </a:r>
            <a:endParaRPr lang="hu-HU" dirty="0"/>
          </a:p>
        </p:txBody>
      </p:sp>
      <p:sp>
        <p:nvSpPr>
          <p:cNvPr id="7" name="Rectangle 13"/>
          <p:cNvSpPr>
            <a:spLocks noGrp="1" noChangeArrowheads="1"/>
          </p:cNvSpPr>
          <p:nvPr>
            <p:ph type="sldNum" sz="quarter" idx="12"/>
          </p:nvPr>
        </p:nvSpPr>
        <p:spPr>
          <a:ln/>
        </p:spPr>
        <p:txBody>
          <a:bodyPr/>
          <a:lstStyle>
            <a:lvl1pPr algn="ctr">
              <a:defRPr/>
            </a:lvl1pPr>
          </a:lstStyle>
          <a:p>
            <a:pPr>
              <a:defRPr/>
            </a:pPr>
            <a:fld id="{350001F5-FD94-457C-A1B5-E617BDE60B2F}" type="slidenum">
              <a:rPr lang="hu-HU" smtClean="0"/>
              <a:pPr>
                <a:defRPr/>
              </a:pPr>
              <a:t>‹#›</a:t>
            </a:fld>
            <a:endParaRPr lang="hu-HU" dirty="0"/>
          </a:p>
        </p:txBody>
      </p:sp>
      <p:sp>
        <p:nvSpPr>
          <p:cNvPr id="8"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smtClean="0"/>
              <a:t>Mintacím szerkesztése</a:t>
            </a:r>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2"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dirty="0" smtClean="0"/>
              <a:t>Edit template name</a:t>
            </a:r>
            <a:endParaRPr kumimoji="0" lang="en-US" dirty="0"/>
          </a:p>
        </p:txBody>
      </p:sp>
      <p:sp>
        <p:nvSpPr>
          <p:cNvPr id="13" name="Szöveg helye 12"/>
          <p:cNvSpPr>
            <a:spLocks noGrp="1"/>
          </p:cNvSpPr>
          <p:nvPr>
            <p:ph type="body" idx="1"/>
          </p:nvPr>
        </p:nvSpPr>
        <p:spPr>
          <a:xfrm>
            <a:off x="914400" y="1268760"/>
            <a:ext cx="8229600" cy="4910328"/>
          </a:xfrm>
          <a:prstGeom prst="rect">
            <a:avLst/>
          </a:prstGeom>
        </p:spPr>
        <p:txBody>
          <a:bodyPr vert="horz">
            <a:normAutofit/>
          </a:bodyPr>
          <a:lstStyle/>
          <a:p>
            <a:pPr lvl="0" eaLnBrk="1" latinLnBrk="0" hangingPunct="1"/>
            <a:r>
              <a:rPr kumimoji="0" lang="hu-HU" dirty="0" smtClean="0"/>
              <a:t>Edit sample text</a:t>
            </a:r>
          </a:p>
          <a:p>
            <a:pPr lvl="1" eaLnBrk="1" latinLnBrk="0" hangingPunct="1"/>
            <a:r>
              <a:rPr kumimoji="0" lang="hu-HU" dirty="0" smtClean="0"/>
              <a:t>Second level</a:t>
            </a:r>
          </a:p>
          <a:p>
            <a:pPr lvl="2" eaLnBrk="1" latinLnBrk="0" hangingPunct="1"/>
            <a:r>
              <a:rPr kumimoji="0" lang="hu-HU" dirty="0" smtClean="0"/>
              <a:t>Third level</a:t>
            </a:r>
          </a:p>
          <a:p>
            <a:pPr lvl="3" eaLnBrk="1" latinLnBrk="0" hangingPunct="1"/>
            <a:r>
              <a:rPr kumimoji="0" lang="hu-HU" dirty="0" smtClean="0"/>
              <a:t>Fourth level</a:t>
            </a:r>
          </a:p>
          <a:p>
            <a:pPr lvl="4" eaLnBrk="1" latinLnBrk="0" hangingPunct="1"/>
            <a:r>
              <a:rPr kumimoji="0" lang="hu-HU" dirty="0" smtClean="0"/>
              <a:t>Fifth level</a:t>
            </a:r>
            <a:endParaRPr kumimoji="0" lang="en-US" dirty="0"/>
          </a:p>
        </p:txBody>
      </p:sp>
      <p:sp>
        <p:nvSpPr>
          <p:cNvPr id="14" name="Dátum hely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hu-HU"/>
          </a:p>
        </p:txBody>
      </p:sp>
      <p:sp>
        <p:nvSpPr>
          <p:cNvPr id="3" name="Élőláb helye 2"/>
          <p:cNvSpPr>
            <a:spLocks noGrp="1"/>
          </p:cNvSpPr>
          <p:nvPr>
            <p:ph type="ftr" sz="quarter" idx="3"/>
          </p:nvPr>
        </p:nvSpPr>
        <p:spPr>
          <a:xfrm>
            <a:off x="323528" y="6309320"/>
            <a:ext cx="3505200" cy="365760"/>
          </a:xfrm>
          <a:prstGeom prst="rect">
            <a:avLst/>
          </a:prstGeom>
        </p:spPr>
        <p:txBody>
          <a:bodyPr vert="horz"/>
          <a:lstStyle>
            <a:lvl1pPr algn="ctr" eaLnBrk="1" latinLnBrk="0" hangingPunct="1">
              <a:defRPr kumimoji="0" sz="1400">
                <a:solidFill>
                  <a:schemeClr val="tx2"/>
                </a:solidFill>
              </a:defRPr>
            </a:lvl1pPr>
          </a:lstStyle>
          <a:p>
            <a:r>
              <a:rPr lang="hu-HU" smtClean="0"/>
              <a:t>“The Liveable City and its Surroundings” Symposium – Békéscsaba, 22 November 2012</a:t>
            </a:r>
            <a:endParaRPr lang="hu-HU" dirty="0"/>
          </a:p>
        </p:txBody>
      </p:sp>
      <p:sp>
        <p:nvSpPr>
          <p:cNvPr id="23" name="Dia számának helye 22"/>
          <p:cNvSpPr>
            <a:spLocks noGrp="1"/>
          </p:cNvSpPr>
          <p:nvPr>
            <p:ph type="sldNum" sz="quarter" idx="4"/>
          </p:nvPr>
        </p:nvSpPr>
        <p:spPr>
          <a:xfrm>
            <a:off x="8711480" y="6453336"/>
            <a:ext cx="432520" cy="365760"/>
          </a:xfrm>
          <a:prstGeom prst="rect">
            <a:avLst/>
          </a:prstGeom>
        </p:spPr>
        <p:txBody>
          <a:bodyPr vert="horz"/>
          <a:lstStyle>
            <a:lvl1pPr algn="l" eaLnBrk="1" latinLnBrk="0" hangingPunct="1">
              <a:defRPr kumimoji="0" sz="1400">
                <a:solidFill>
                  <a:schemeClr val="tx2"/>
                </a:solidFill>
              </a:defRPr>
            </a:lvl1pPr>
          </a:lstStyle>
          <a:p>
            <a:fld id="{D2291C92-F799-4182-B68F-39DB8473989E}" type="slidenum">
              <a:rPr lang="hu-HU" smtClean="0"/>
              <a:t>‹#›</a:t>
            </a:fld>
            <a:endParaRPr lang="hu-HU" dirty="0"/>
          </a:p>
        </p:txBody>
      </p:sp>
      <p:sp>
        <p:nvSpPr>
          <p:cNvPr id="29" name="Egyenes összekötő 28"/>
          <p:cNvSpPr>
            <a:spLocks noChangeShapeType="1"/>
          </p:cNvSpPr>
          <p:nvPr/>
        </p:nvSpPr>
        <p:spPr bwMode="auto">
          <a:xfrm flipV="1">
            <a:off x="1166936" y="1124744"/>
            <a:ext cx="7293496" cy="18256"/>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j-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j-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j-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j-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j-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2" name="Cím helye 21"/>
          <p:cNvSpPr>
            <a:spLocks noGrp="1"/>
          </p:cNvSpPr>
          <p:nvPr>
            <p:ph type="title"/>
          </p:nvPr>
        </p:nvSpPr>
        <p:spPr>
          <a:xfrm>
            <a:off x="1043608" y="188640"/>
            <a:ext cx="8229600" cy="990600"/>
          </a:xfrm>
          <a:prstGeom prst="rect">
            <a:avLst/>
          </a:prstGeom>
        </p:spPr>
        <p:txBody>
          <a:bodyPr vert="horz" anchor="b" anchorCtr="0">
            <a:normAutofit/>
          </a:bodyPr>
          <a:lstStyle/>
          <a:p>
            <a:r>
              <a:rPr kumimoji="0" lang="hu-HU" dirty="0" smtClean="0"/>
              <a:t>Edit template name</a:t>
            </a:r>
            <a:endParaRPr kumimoji="0" lang="en-US" dirty="0"/>
          </a:p>
        </p:txBody>
      </p:sp>
      <p:sp>
        <p:nvSpPr>
          <p:cNvPr id="13" name="Szöveg helye 12"/>
          <p:cNvSpPr>
            <a:spLocks noGrp="1"/>
          </p:cNvSpPr>
          <p:nvPr>
            <p:ph type="body" idx="1"/>
          </p:nvPr>
        </p:nvSpPr>
        <p:spPr>
          <a:xfrm>
            <a:off x="914400" y="1268760"/>
            <a:ext cx="8229600" cy="4910328"/>
          </a:xfrm>
          <a:prstGeom prst="rect">
            <a:avLst/>
          </a:prstGeom>
        </p:spPr>
        <p:txBody>
          <a:bodyPr vert="horz">
            <a:normAutofit/>
          </a:bodyPr>
          <a:lstStyle/>
          <a:p>
            <a:pPr lvl="0" eaLnBrk="1" latinLnBrk="0" hangingPunct="1"/>
            <a:r>
              <a:rPr kumimoji="0" lang="hu-HU" dirty="0" smtClean="0"/>
              <a:t>Edit sample text</a:t>
            </a:r>
          </a:p>
          <a:p>
            <a:pPr lvl="1" eaLnBrk="1" latinLnBrk="0" hangingPunct="1"/>
            <a:r>
              <a:rPr kumimoji="0" lang="hu-HU" dirty="0" smtClean="0"/>
              <a:t>Second level</a:t>
            </a:r>
          </a:p>
          <a:p>
            <a:pPr lvl="2" eaLnBrk="1" latinLnBrk="0" hangingPunct="1"/>
            <a:r>
              <a:rPr kumimoji="0" lang="hu-HU" dirty="0" smtClean="0"/>
              <a:t>Third level</a:t>
            </a:r>
          </a:p>
          <a:p>
            <a:pPr lvl="3" eaLnBrk="1" latinLnBrk="0" hangingPunct="1"/>
            <a:r>
              <a:rPr kumimoji="0" lang="hu-HU" dirty="0" smtClean="0"/>
              <a:t>Fourth level</a:t>
            </a:r>
          </a:p>
          <a:p>
            <a:pPr lvl="4" eaLnBrk="1" latinLnBrk="0" hangingPunct="1"/>
            <a:r>
              <a:rPr kumimoji="0" lang="hu-HU" dirty="0" smtClean="0"/>
              <a:t>Fifth level</a:t>
            </a:r>
            <a:endParaRPr kumimoji="0" lang="en-US" dirty="0"/>
          </a:p>
        </p:txBody>
      </p:sp>
      <p:sp>
        <p:nvSpPr>
          <p:cNvPr id="14" name="Dátum hely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hu-HU"/>
          </a:p>
        </p:txBody>
      </p:sp>
      <p:sp>
        <p:nvSpPr>
          <p:cNvPr id="3" name="Élőláb helye 2"/>
          <p:cNvSpPr>
            <a:spLocks noGrp="1"/>
          </p:cNvSpPr>
          <p:nvPr>
            <p:ph type="ftr" sz="quarter" idx="3"/>
          </p:nvPr>
        </p:nvSpPr>
        <p:spPr>
          <a:xfrm>
            <a:off x="323528" y="6356350"/>
            <a:ext cx="3505200" cy="365760"/>
          </a:xfrm>
          <a:prstGeom prst="rect">
            <a:avLst/>
          </a:prstGeom>
        </p:spPr>
        <p:txBody>
          <a:bodyPr vert="horz"/>
          <a:lstStyle>
            <a:lvl1pPr algn="r" eaLnBrk="1" latinLnBrk="0" hangingPunct="1">
              <a:defRPr kumimoji="0" sz="1400">
                <a:solidFill>
                  <a:schemeClr val="tx2"/>
                </a:solidFill>
              </a:defRPr>
            </a:lvl1pPr>
          </a:lstStyle>
          <a:p>
            <a:pPr algn="ctr"/>
            <a:r>
              <a:rPr lang="hu-HU" smtClean="0"/>
              <a:t>“The Liveable City and its Surroundings” Symposium – Békéscsaba, 22 November 2012</a:t>
            </a:r>
            <a:endParaRPr lang="hu-HU" dirty="0"/>
          </a:p>
        </p:txBody>
      </p:sp>
      <p:sp>
        <p:nvSpPr>
          <p:cNvPr id="23" name="Dia számának helye 22"/>
          <p:cNvSpPr>
            <a:spLocks noGrp="1"/>
          </p:cNvSpPr>
          <p:nvPr>
            <p:ph type="sldNum" sz="quarter" idx="4"/>
          </p:nvPr>
        </p:nvSpPr>
        <p:spPr>
          <a:xfrm>
            <a:off x="8676456" y="6453336"/>
            <a:ext cx="432520" cy="365760"/>
          </a:xfrm>
          <a:prstGeom prst="rect">
            <a:avLst/>
          </a:prstGeom>
        </p:spPr>
        <p:txBody>
          <a:bodyPr vert="horz"/>
          <a:lstStyle>
            <a:lvl1pPr algn="ctr" eaLnBrk="1" latinLnBrk="0" hangingPunct="1">
              <a:defRPr kumimoji="0" sz="1400">
                <a:solidFill>
                  <a:schemeClr val="tx2"/>
                </a:solidFill>
              </a:defRPr>
            </a:lvl1pPr>
          </a:lstStyle>
          <a:p>
            <a:fld id="{D2291C92-F799-4182-B68F-39DB8473989E}" type="slidenum">
              <a:rPr lang="hu-HU" smtClean="0"/>
              <a:t>‹#›</a:t>
            </a:fld>
            <a:endParaRPr lang="hu-HU" dirty="0"/>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j-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j-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j-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j-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j-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slide" Target="slide16.xml"/><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darabszam_sor_oszlop2_gittanak1.exe" TargetMode="External"/><Relationship Id="rId5" Type="http://schemas.openxmlformats.org/officeDocument/2006/relationships/slide" Target="slide18.xml"/><Relationship Id="rId4" Type="http://schemas.openxmlformats.org/officeDocument/2006/relationships/slide" Target="slide17.xml"/><Relationship Id="rId9" Type="http://schemas.openxmlformats.org/officeDocument/2006/relationships/slide" Target="slide21.xml"/></Relationships>
</file>

<file path=ppt/slides/_rels/slide16.xml.rels><?xml version="1.0" encoding="UTF-8" standalone="yes"?>
<Relationships xmlns="http://schemas.openxmlformats.org/package/2006/relationships"><Relationship Id="rId3" Type="http://schemas.openxmlformats.org/officeDocument/2006/relationships/hyperlink" Target="szamegyenes_elokeszitese_2.exe" TargetMode="External"/><Relationship Id="rId2" Type="http://schemas.openxmlformats.org/officeDocument/2006/relationships/slide" Target="slide1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hyperlink" Target="darabszam_sor_oszlop2_gittanak1.exe" TargetMode="External"/></Relationships>
</file>

<file path=ppt/slides/_rels/slide18.xml.rels><?xml version="1.0" encoding="UTF-8" standalone="yes"?>
<Relationships xmlns="http://schemas.openxmlformats.org/package/2006/relationships"><Relationship Id="rId3" Type="http://schemas.openxmlformats.org/officeDocument/2006/relationships/slide" Target="slide15.xml"/><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soralkotas_mintakovetes.exe" TargetMode="External"/><Relationship Id="rId5" Type="http://schemas.openxmlformats.org/officeDocument/2006/relationships/image" Target="../media/image7.png"/><Relationship Id="rId4" Type="http://schemas.openxmlformats.org/officeDocument/2006/relationships/hyperlink" Target="soralkotas_alma_barack_korte.exe" TargetMode="External"/></Relationships>
</file>

<file path=ppt/slides/_rels/slide19.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hyperlink" Target="hangskala_mint_szamskala.exe" TargetMode="External"/></Relationships>
</file>

<file path=ppt/slides/_rels/slide2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hyperlink" Target="negativ_szamok_elokeszitese_liftmodell.exe"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gfk.tsf.hu/hallhato-matematika/"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mailto:szakacsne.nagy.szilvia@gk.szie.hu"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xml.inf.elte.hu/~mathdid/" TargetMode="External"/><Relationship Id="rId2" Type="http://schemas.openxmlformats.org/officeDocument/2006/relationships/hyperlink" Target="http://www.magyarpedagogia.hu/document/Dohany_MP1103.pdf" TargetMode="External"/><Relationship Id="rId1" Type="http://schemas.openxmlformats.org/officeDocument/2006/relationships/slideLayout" Target="../slideLayouts/slideLayout2.xml"/><Relationship Id="rId4" Type="http://schemas.openxmlformats.org/officeDocument/2006/relationships/hyperlink" Target="http://www.viewplus.eu/" TargetMode="External"/></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61dfac0a7d4546bf" /><Relationship Type="http://schemas.openxmlformats.org/officeDocument/2006/relationships/hyperlink" Target="https://www.deepl.com/pro?cta=edit-document" TargetMode="External" Id="R85fbcd7eed644901" /><Relationship Type="http://schemas.openxmlformats.org/officeDocument/2006/relationships/image" Target="/ppt/media/image11.png" Id="Rbf6ed1317f1d4154"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187624" y="1916832"/>
            <a:ext cx="6858000" cy="1487016"/>
          </a:xfrm>
        </p:spPr>
        <p:txBody>
          <a:bodyPr>
            <a:noAutofit/>
          </a:bodyPr>
          <a:lstStyle/>
          <a:p>
            <a:pPr algn="ctr"/>
            <a:r>
              <a:rPr lang="hu-HU" dirty="0" smtClean="0"/>
              <a:t>Presentation of </a:t>
            </a:r>
            <a:r>
              <a:rPr lang="hu-HU" dirty="0" smtClean="0"/>
              <a:t>the </a:t>
            </a:r>
            <a:r>
              <a:rPr lang="hu-HU" dirty="0"/>
              <a:t>‘Audible </a:t>
            </a:r>
            <a:r>
              <a:rPr lang="hu-HU" dirty="0" smtClean="0"/>
              <a:t>Maths’ </a:t>
            </a:r>
            <a:r>
              <a:rPr lang="hu-HU" dirty="0" smtClean="0"/>
              <a:t>software package</a:t>
            </a:r>
            <a:endParaRPr lang="hu-HU" dirty="0"/>
          </a:p>
        </p:txBody>
      </p:sp>
      <p:sp>
        <p:nvSpPr>
          <p:cNvPr id="2051" name="Rectangle 3"/>
          <p:cNvSpPr>
            <a:spLocks noGrp="1" noChangeArrowheads="1"/>
          </p:cNvSpPr>
          <p:nvPr>
            <p:ph type="subTitle" idx="4294967295"/>
          </p:nvPr>
        </p:nvSpPr>
        <p:spPr>
          <a:xfrm>
            <a:off x="1331640" y="4149080"/>
            <a:ext cx="6400800" cy="1752600"/>
          </a:xfrm>
        </p:spPr>
        <p:txBody>
          <a:bodyPr>
            <a:normAutofit/>
          </a:bodyPr>
          <a:lstStyle/>
          <a:p>
            <a:pPr algn="ctr">
              <a:buNone/>
            </a:pPr>
            <a:r>
              <a:rPr lang="hu-HU" sz="2000" dirty="0" smtClean="0">
                <a:latin typeface="+mj-lt"/>
                <a:cs typeface="Vani" pitchFamily="34" charset="0"/>
              </a:rPr>
              <a:t>Dr Szilvia Szakácsné Nagy</a:t>
            </a:r>
          </a:p>
          <a:p>
            <a:pPr algn="ctr">
              <a:buNone/>
            </a:pPr>
            <a:r>
              <a:rPr lang="hu-HU" sz="1600" dirty="0" smtClean="0">
                <a:cs typeface="Vani" pitchFamily="34" charset="0"/>
              </a:rPr>
              <a:t>SZIE GAEK</a:t>
            </a:r>
          </a:p>
          <a:p>
            <a:pPr algn="ctr">
              <a:buNone/>
            </a:pPr>
            <a:r>
              <a:rPr lang="hu-HU" sz="1600" dirty="0" smtClean="0">
                <a:cs typeface="Vani" pitchFamily="34" charset="0"/>
              </a:rPr>
              <a:t> Institute of Applied Natural Sciences</a:t>
            </a:r>
          </a:p>
          <a:p>
            <a:pPr algn="ctr">
              <a:buNone/>
            </a:pPr>
            <a:r>
              <a:rPr lang="hu-HU" sz="1600" dirty="0" smtClean="0">
                <a:cs typeface="Vani" pitchFamily="34" charset="0"/>
              </a:rPr>
              <a:t>Lecturer</a:t>
            </a:r>
          </a:p>
          <a:p>
            <a:pPr algn="ctr">
              <a:buNone/>
            </a:pPr>
            <a:endParaRPr lang="hu-HU" sz="2400" dirty="0">
              <a:cs typeface="Vani" pitchFamily="34" charset="0"/>
            </a:endParaRPr>
          </a:p>
        </p:txBody>
      </p:sp>
      <p:sp>
        <p:nvSpPr>
          <p:cNvPr id="2052" name="Text Box 4"/>
          <p:cNvSpPr txBox="1">
            <a:spLocks noChangeArrowheads="1"/>
          </p:cNvSpPr>
          <p:nvPr/>
        </p:nvSpPr>
        <p:spPr bwMode="auto">
          <a:xfrm>
            <a:off x="899592" y="6011996"/>
            <a:ext cx="7827784" cy="369332"/>
          </a:xfrm>
          <a:prstGeom prst="rect">
            <a:avLst/>
          </a:prstGeom>
          <a:noFill/>
          <a:ln w="9525">
            <a:noFill/>
            <a:miter lim="800000"/>
            <a:headEnd/>
            <a:tailEnd/>
          </a:ln>
          <a:effectLst/>
        </p:spPr>
        <p:txBody>
          <a:bodyPr wrap="none">
            <a:spAutoFit/>
          </a:bodyPr>
          <a:lstStyle/>
          <a:p>
            <a:r>
              <a:rPr lang="hu-HU" i="1" dirty="0" smtClean="0"/>
              <a:t>“The Liveable City and its Surroundings” Symposium – </a:t>
            </a:r>
            <a:r>
              <a:rPr lang="hu-HU" i="1" dirty="0"/>
              <a:t>Békéscsaba,</a:t>
            </a:r>
            <a:r>
              <a:rPr lang="hu-HU" i="1" dirty="0" smtClean="0"/>
              <a:t> 22 November</a:t>
            </a:r>
            <a:r>
              <a:rPr lang="hu-HU" i="1" dirty="0"/>
              <a:t> 2012</a:t>
            </a:r>
            <a:endParaRPr lang="hu-HU" i="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r>
              <a:rPr lang="hu-HU" dirty="0" smtClean="0"/>
              <a:t>A brief summary of the content</a:t>
            </a:r>
            <a:br>
              <a:rPr lang="hu-HU" dirty="0" smtClean="0"/>
            </a:br>
            <a:endParaRPr lang="hu-HU" dirty="0"/>
          </a:p>
        </p:txBody>
      </p:sp>
      <p:sp>
        <p:nvSpPr>
          <p:cNvPr id="3" name="Élőláb helye 2"/>
          <p:cNvSpPr>
            <a:spLocks noGrp="1"/>
          </p:cNvSpPr>
          <p:nvPr>
            <p:ph type="ftr" sz="quarter" idx="11"/>
          </p:nvPr>
        </p:nvSpPr>
        <p:spPr>
          <a:xfrm>
            <a:off x="1475656" y="5661248"/>
            <a:ext cx="5976664" cy="365760"/>
          </a:xfrm>
        </p:spPr>
        <p:txBody>
          <a:bodyPr/>
          <a:lstStyle/>
          <a:p>
            <a:r>
              <a:rPr lang="hu-HU" smtClean="0"/>
              <a:t>“The Liveable City and its Surroundings” Symposium – Békéscsaba, 22 November 2012</a:t>
            </a:r>
            <a:endParaRPr lang="hu-HU" dirty="0"/>
          </a:p>
        </p:txBody>
      </p:sp>
      <p:sp>
        <p:nvSpPr>
          <p:cNvPr id="4" name="Dia számának helye 3"/>
          <p:cNvSpPr>
            <a:spLocks noGrp="1"/>
          </p:cNvSpPr>
          <p:nvPr>
            <p:ph type="sldNum" sz="quarter" idx="12"/>
          </p:nvPr>
        </p:nvSpPr>
        <p:spPr/>
        <p:txBody>
          <a:bodyPr/>
          <a:lstStyle/>
          <a:p>
            <a:fld id="{22D59DB6-5F7D-499C-A599-3478E63C2738}" type="slidenum">
              <a:rPr lang="hu-HU" smtClean="0"/>
              <a:t>2</a:t>
            </a:fld>
            <a:endParaRPr lang="hu-HU"/>
          </a:p>
        </p:txBody>
      </p:sp>
      <p:sp>
        <p:nvSpPr>
          <p:cNvPr id="5" name="Tartalom helye 4"/>
          <p:cNvSpPr>
            <a:spLocks noGrp="1"/>
          </p:cNvSpPr>
          <p:nvPr>
            <p:ph sz="quarter" idx="1"/>
          </p:nvPr>
        </p:nvSpPr>
        <p:spPr>
          <a:xfrm>
            <a:off x="755576" y="1268760"/>
            <a:ext cx="8388424" cy="4937760"/>
          </a:xfrm>
        </p:spPr>
        <p:txBody>
          <a:bodyPr>
            <a:normAutofit/>
          </a:bodyPr>
          <a:lstStyle/>
          <a:p>
            <a:pPr marL="571500" indent="-571500">
              <a:spcAft>
                <a:spcPts val="2400"/>
              </a:spcAft>
              <a:buFont typeface="+mj-lt"/>
              <a:buAutoNum type="romanUcPeriod"/>
            </a:pPr>
            <a:endParaRPr lang="hu-HU" dirty="0" smtClean="0"/>
          </a:p>
          <a:p>
            <a:pPr marL="571500" indent="-571500">
              <a:spcAft>
                <a:spcPts val="2400"/>
              </a:spcAft>
              <a:buFont typeface="+mj-lt"/>
              <a:buAutoNum type="romanUcPeriod"/>
            </a:pPr>
            <a:r>
              <a:rPr lang="hu-HU" dirty="0" smtClean="0"/>
              <a:t>Basic mathematical competences to be developed</a:t>
            </a:r>
          </a:p>
          <a:p>
            <a:pPr marL="571500" indent="-571500">
              <a:spcAft>
                <a:spcPts val="2400"/>
              </a:spcAft>
              <a:buFont typeface="+mj-lt"/>
              <a:buAutoNum type="romanUcPeriod"/>
            </a:pPr>
            <a:r>
              <a:rPr lang="hu-HU" dirty="0" smtClean="0"/>
              <a:t>Perception based on the integration of multiple senses</a:t>
            </a:r>
          </a:p>
          <a:p>
            <a:pPr marL="571500" indent="-571500">
              <a:spcAft>
                <a:spcPts val="2400"/>
              </a:spcAft>
              <a:buFont typeface="+mj-lt"/>
              <a:buAutoNum type="romanUcPeriod"/>
            </a:pPr>
            <a:r>
              <a:rPr lang="hu-HU" dirty="0" smtClean="0"/>
              <a:t>Presentation of teaching aids</a:t>
            </a:r>
            <a:r>
              <a:rPr lang="hu-HU" dirty="0" smtClean="0">
                <a:latin typeface="+mj-lt"/>
              </a:rPr>
              <a:t>	</a:t>
            </a:r>
          </a:p>
          <a:p>
            <a:endParaRPr lang="hu-HU" dirty="0" smtClean="0"/>
          </a:p>
          <a:p>
            <a:pPr lvl="1"/>
            <a:endParaRPr lang="hu-HU" dirty="0" smtClean="0"/>
          </a:p>
          <a:p>
            <a:pPr lvl="1"/>
            <a:endParaRPr lang="hu-HU"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683568" y="2780928"/>
            <a:ext cx="8280920" cy="1487016"/>
          </a:xfrm>
          <a:prstGeom prst="roundRect">
            <a:avLst/>
          </a:prstGeom>
          <a:solidFill>
            <a:schemeClr val="tx2">
              <a:lumMod val="20000"/>
              <a:lumOff val="80000"/>
            </a:schemeClr>
          </a:solidFill>
          <a:scene3d>
            <a:camera prst="orthographicFront"/>
            <a:lightRig rig="threePt" dir="t"/>
          </a:scene3d>
          <a:sp3d>
            <a:bevelT/>
          </a:sp3d>
        </p:spPr>
        <p:txBody>
          <a:bodyPr anchor="ctr">
            <a:normAutofit/>
          </a:bodyPr>
          <a:lstStyle/>
          <a:p>
            <a:pPr marL="571500" indent="-571500" algn="ctr">
              <a:buFont typeface="+mj-lt"/>
              <a:buAutoNum type="romanUcPeriod"/>
            </a:pPr>
            <a:r>
              <a:rPr lang="hu-HU" dirty="0" smtClean="0"/>
              <a:t>Basic mathematical skills to be developed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2"/>
          <p:cNvSpPr>
            <a:spLocks noGrp="1" noChangeArrowheads="1"/>
          </p:cNvSpPr>
          <p:nvPr>
            <p:ph type="title"/>
          </p:nvPr>
        </p:nvSpPr>
        <p:spPr>
          <a:xfrm>
            <a:off x="1043608" y="0"/>
            <a:ext cx="8382000" cy="1143000"/>
          </a:xfrm>
        </p:spPr>
        <p:txBody>
          <a:bodyPr/>
          <a:lstStyle/>
          <a:p>
            <a:pPr eaLnBrk="1" hangingPunct="1"/>
            <a:r>
              <a:rPr lang="hu-HU" dirty="0" smtClean="0"/>
              <a:t>Auditory maths as a teaching tool</a:t>
            </a:r>
          </a:p>
        </p:txBody>
      </p:sp>
      <p:sp>
        <p:nvSpPr>
          <p:cNvPr id="6148" name="Rectangle 3"/>
          <p:cNvSpPr>
            <a:spLocks noGrp="1" noChangeArrowheads="1"/>
          </p:cNvSpPr>
          <p:nvPr>
            <p:ph type="body" idx="1"/>
          </p:nvPr>
        </p:nvSpPr>
        <p:spPr>
          <a:xfrm>
            <a:off x="838200" y="1628800"/>
            <a:ext cx="7981950" cy="4457675"/>
          </a:xfrm>
        </p:spPr>
        <p:txBody>
          <a:bodyPr/>
          <a:lstStyle/>
          <a:p>
            <a:pPr eaLnBrk="1" hangingPunct="1">
              <a:lnSpc>
                <a:spcPct val="90000"/>
              </a:lnSpc>
              <a:buFont typeface="Wingdings" pitchFamily="2" charset="2"/>
              <a:buNone/>
            </a:pPr>
            <a:r>
              <a:rPr lang="hu-HU" sz="2400" dirty="0" smtClean="0"/>
              <a:t>Target group: older nursery children, Year 1 pupils</a:t>
            </a:r>
          </a:p>
          <a:p>
            <a:pPr eaLnBrk="1" hangingPunct="1">
              <a:lnSpc>
                <a:spcPct val="90000"/>
              </a:lnSpc>
              <a:buFont typeface="Wingdings" pitchFamily="2" charset="2"/>
              <a:buNone/>
            </a:pPr>
            <a:endParaRPr lang="hu-HU" sz="2400" dirty="0" smtClean="0"/>
          </a:p>
          <a:p>
            <a:pPr eaLnBrk="1" hangingPunct="1">
              <a:lnSpc>
                <a:spcPct val="90000"/>
              </a:lnSpc>
              <a:buFont typeface="Wingdings" pitchFamily="2" charset="2"/>
              <a:buNone/>
            </a:pPr>
            <a:r>
              <a:rPr lang="hu-HU" sz="2400" dirty="0" smtClean="0"/>
              <a:t>Objective: to present mathematical structures through sound</a:t>
            </a:r>
          </a:p>
          <a:p>
            <a:pPr lvl="1" eaLnBrk="1" hangingPunct="1">
              <a:lnSpc>
                <a:spcPct val="90000"/>
              </a:lnSpc>
            </a:pPr>
            <a:r>
              <a:rPr lang="hu-HU" dirty="0" smtClean="0"/>
              <a:t>interpreting operations through hands-on activities and sound patterns that evoke them</a:t>
            </a:r>
            <a:endParaRPr lang="hu-HU" sz="2000" dirty="0" smtClean="0"/>
          </a:p>
          <a:p>
            <a:pPr lvl="1" eaLnBrk="1" hangingPunct="1">
              <a:lnSpc>
                <a:spcPct val="90000"/>
              </a:lnSpc>
            </a:pPr>
            <a:r>
              <a:rPr lang="hu-HU" dirty="0" smtClean="0"/>
              <a:t>Developing the ability to recognise and organise relationships by observing changes, periodicity, rhythm, growth and decline</a:t>
            </a:r>
          </a:p>
        </p:txBody>
      </p:sp>
      <p:sp>
        <p:nvSpPr>
          <p:cNvPr id="5" name="Élőláb helye 5"/>
          <p:cNvSpPr>
            <a:spLocks noGrp="1"/>
          </p:cNvSpPr>
          <p:nvPr>
            <p:ph type="ftr" sz="quarter" idx="11"/>
          </p:nvPr>
        </p:nvSpPr>
        <p:spPr>
          <a:xfrm>
            <a:off x="467544" y="6165304"/>
            <a:ext cx="3505200" cy="365760"/>
          </a:xfrm>
        </p:spPr>
        <p:txBody>
          <a:bodyPr/>
          <a:lstStyle/>
          <a:p>
            <a:r>
              <a:rPr lang="hu-HU" dirty="0" smtClean="0"/>
              <a:t>“The Liveable City and its Surroundings” Symposium – Békéscsaba, 22 November 2012</a:t>
            </a:r>
            <a:endParaRPr lang="hu-HU"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683568" y="1412776"/>
            <a:ext cx="8229600" cy="4713387"/>
          </a:xfrm>
        </p:spPr>
        <p:txBody>
          <a:bodyPr>
            <a:normAutofit lnSpcReduction="10000"/>
          </a:bodyPr>
          <a:lstStyle/>
          <a:p>
            <a:pPr marL="1612900" indent="-273050"/>
            <a:r>
              <a:rPr lang="hu-HU" dirty="0" smtClean="0"/>
              <a:t>Perception</a:t>
            </a:r>
          </a:p>
          <a:p>
            <a:pPr marL="1612900" indent="-273050">
              <a:buNone/>
            </a:pPr>
            <a:endParaRPr lang="hu-HU" dirty="0" smtClean="0"/>
          </a:p>
          <a:p>
            <a:pPr marL="1887220" lvl="2" indent="-273050"/>
            <a:r>
              <a:rPr lang="hu-HU" dirty="0" err="1" smtClean="0"/>
              <a:t>Tactile-kinesthetic</a:t>
            </a:r>
            <a:endParaRPr lang="hu-HU" dirty="0" smtClean="0"/>
          </a:p>
          <a:p>
            <a:pPr marL="1887220" lvl="2" indent="-273050"/>
            <a:r>
              <a:rPr lang="hu-HU" dirty="0" err="1" smtClean="0"/>
              <a:t>Auditory</a:t>
            </a:r>
            <a:endParaRPr lang="hu-HU" dirty="0" smtClean="0"/>
          </a:p>
          <a:p>
            <a:pPr marL="1887220" lvl="2" indent="-273050"/>
            <a:r>
              <a:rPr lang="hu-HU" dirty="0" smtClean="0"/>
              <a:t>Visual</a:t>
            </a:r>
          </a:p>
          <a:p>
            <a:pPr marL="1612900" lvl="1" indent="-273050">
              <a:buNone/>
            </a:pPr>
            <a:endParaRPr lang="hu-HU" dirty="0"/>
          </a:p>
          <a:p>
            <a:pPr marL="1612900" indent="-273050"/>
            <a:r>
              <a:rPr lang="hu-HU" dirty="0" smtClean="0"/>
              <a:t>Memory functions</a:t>
            </a:r>
            <a:endParaRPr lang="hu-HU" dirty="0"/>
          </a:p>
          <a:p>
            <a:pPr marL="1612900" indent="-273050"/>
            <a:endParaRPr lang="hu-HU" dirty="0"/>
          </a:p>
          <a:p>
            <a:pPr marL="1612900" indent="-273050"/>
            <a:r>
              <a:rPr lang="hu-HU" dirty="0" smtClean="0"/>
              <a:t>Thinking</a:t>
            </a:r>
            <a:endParaRPr lang="hu-HU" dirty="0"/>
          </a:p>
          <a:p>
            <a:pPr marL="1612900" indent="-273050"/>
            <a:endParaRPr lang="hu-HU" dirty="0"/>
          </a:p>
          <a:p>
            <a:pPr marL="1612900" indent="-273050"/>
            <a:r>
              <a:rPr lang="hu-HU" dirty="0" smtClean="0"/>
              <a:t>Motor symptoms </a:t>
            </a:r>
            <a:endParaRPr lang="hu-HU" dirty="0"/>
          </a:p>
          <a:p>
            <a:pPr algn="ctr"/>
            <a:endParaRPr lang="hu-HU" dirty="0"/>
          </a:p>
        </p:txBody>
      </p:sp>
      <p:sp>
        <p:nvSpPr>
          <p:cNvPr id="5" name="Cím 5"/>
          <p:cNvSpPr>
            <a:spLocks noGrp="1"/>
          </p:cNvSpPr>
          <p:nvPr>
            <p:ph type="title"/>
          </p:nvPr>
        </p:nvSpPr>
        <p:spPr>
          <a:xfrm>
            <a:off x="1043608" y="188640"/>
            <a:ext cx="8229600" cy="990600"/>
          </a:xfrm>
        </p:spPr>
        <p:txBody>
          <a:bodyPr>
            <a:normAutofit/>
          </a:bodyPr>
          <a:lstStyle/>
          <a:p>
            <a:pPr marL="5649913" indent="-5649913"/>
            <a:r>
              <a:rPr lang="hu-HU" sz="2400" dirty="0" smtClean="0"/>
              <a:t> </a:t>
            </a:r>
            <a:r>
              <a:rPr lang="hu-HU" sz="2900" dirty="0" smtClean="0"/>
              <a:t>Key areas for development</a:t>
            </a:r>
            <a:br>
              <a:rPr lang="hu-HU" sz="2400" dirty="0" smtClean="0"/>
            </a:br>
            <a:endParaRPr lang="hu-HU" sz="2400" dirty="0"/>
          </a:p>
        </p:txBody>
      </p:sp>
      <p:sp>
        <p:nvSpPr>
          <p:cNvPr id="4" name="Dia számának helye 3"/>
          <p:cNvSpPr>
            <a:spLocks noGrp="1"/>
          </p:cNvSpPr>
          <p:nvPr>
            <p:ph type="sldNum" sz="quarter" idx="12"/>
          </p:nvPr>
        </p:nvSpPr>
        <p:spPr/>
        <p:txBody>
          <a:bodyPr/>
          <a:lstStyle/>
          <a:p>
            <a:fld id="{22D59DB6-5F7D-499C-A599-3478E63C2738}" type="slidenum">
              <a:rPr lang="hu-HU" smtClean="0"/>
              <a:t>5</a:t>
            </a:fld>
            <a:endParaRPr lang="hu-HU"/>
          </a:p>
        </p:txBody>
      </p:sp>
      <p:sp>
        <p:nvSpPr>
          <p:cNvPr id="6" name="Élőláb helye 5"/>
          <p:cNvSpPr>
            <a:spLocks noGrp="1"/>
          </p:cNvSpPr>
          <p:nvPr>
            <p:ph type="ftr" sz="quarter" idx="11"/>
          </p:nvPr>
        </p:nvSpPr>
        <p:spPr/>
        <p:txBody>
          <a:bodyPr/>
          <a:lstStyle/>
          <a:p>
            <a:r>
              <a:rPr lang="hu-HU" smtClean="0"/>
              <a:t>“The Liveable City and Countryside” Symposium – Békéscsaba, 22 November 2012</a:t>
            </a:r>
            <a:endParaRPr lang="hu-HU"/>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r>
              <a:rPr lang="hu-HU" dirty="0" smtClean="0"/>
              <a:t>Basic mathematical skills</a:t>
            </a:r>
            <a:br>
              <a:rPr lang="hu-HU" dirty="0" smtClean="0"/>
            </a:br>
            <a:endParaRPr lang="hu-HU" dirty="0"/>
          </a:p>
        </p:txBody>
      </p:sp>
      <p:sp>
        <p:nvSpPr>
          <p:cNvPr id="4" name="Dia számának helye 3"/>
          <p:cNvSpPr>
            <a:spLocks noGrp="1"/>
          </p:cNvSpPr>
          <p:nvPr>
            <p:ph type="sldNum" sz="quarter" idx="12"/>
          </p:nvPr>
        </p:nvSpPr>
        <p:spPr/>
        <p:txBody>
          <a:bodyPr/>
          <a:lstStyle/>
          <a:p>
            <a:fld id="{22D59DB6-5F7D-499C-A599-3478E63C2738}" type="slidenum">
              <a:rPr lang="hu-HU" smtClean="0"/>
              <a:t>6</a:t>
            </a:fld>
            <a:endParaRPr lang="hu-HU"/>
          </a:p>
        </p:txBody>
      </p:sp>
      <p:sp>
        <p:nvSpPr>
          <p:cNvPr id="5" name="Tartalom helye 4"/>
          <p:cNvSpPr>
            <a:spLocks noGrp="1"/>
          </p:cNvSpPr>
          <p:nvPr>
            <p:ph sz="quarter" idx="1"/>
          </p:nvPr>
        </p:nvSpPr>
        <p:spPr>
          <a:xfrm>
            <a:off x="755576" y="1196752"/>
            <a:ext cx="8388424" cy="5472608"/>
          </a:xfrm>
        </p:spPr>
        <p:txBody>
          <a:bodyPr>
            <a:normAutofit lnSpcReduction="10000"/>
          </a:bodyPr>
          <a:lstStyle/>
          <a:p>
            <a:pPr marL="571500" indent="-571500">
              <a:spcAft>
                <a:spcPts val="600"/>
              </a:spcAft>
              <a:buFont typeface="+mj-lt"/>
              <a:buAutoNum type="romanUcPeriod"/>
            </a:pPr>
            <a:r>
              <a:rPr lang="hu-HU" dirty="0" smtClean="0">
                <a:solidFill>
                  <a:srgbClr val="FF0000"/>
                </a:solidFill>
              </a:rPr>
              <a:t>Recognition</a:t>
            </a:r>
            <a:r>
              <a:rPr lang="hu-HU" dirty="0" smtClean="0"/>
              <a:t>: identifying immediate and previous experiences</a:t>
            </a:r>
          </a:p>
          <a:p>
            <a:pPr marL="571500" indent="-571500">
              <a:spcAft>
                <a:spcPts val="600"/>
              </a:spcAft>
              <a:buFont typeface="+mj-lt"/>
              <a:buAutoNum type="romanUcPeriod"/>
            </a:pPr>
            <a:r>
              <a:rPr lang="hu-HU" dirty="0" smtClean="0">
                <a:solidFill>
                  <a:srgbClr val="FF0000"/>
                </a:solidFill>
              </a:rPr>
              <a:t>Selection</a:t>
            </a:r>
            <a:r>
              <a:rPr lang="hu-HU" dirty="0" smtClean="0"/>
              <a:t>: separating a subset from an existing set based on a given or chosen criterion</a:t>
            </a:r>
          </a:p>
          <a:p>
            <a:pPr marL="571500" indent="-571500">
              <a:spcAft>
                <a:spcPts val="600"/>
              </a:spcAft>
              <a:buFont typeface="+mj-lt"/>
              <a:buAutoNum type="romanUcPeriod"/>
            </a:pPr>
            <a:r>
              <a:rPr lang="hu-HU" dirty="0" smtClean="0">
                <a:solidFill>
                  <a:srgbClr val="FF0000"/>
                </a:solidFill>
              </a:rPr>
              <a:t>Grouping</a:t>
            </a:r>
            <a:r>
              <a:rPr lang="hu-HU" dirty="0" smtClean="0"/>
              <a:t>: grouping according to a single criterion</a:t>
            </a:r>
          </a:p>
          <a:p>
            <a:pPr marL="571500" indent="-571500">
              <a:spcAft>
                <a:spcPts val="600"/>
              </a:spcAft>
              <a:buFont typeface="+mj-lt"/>
              <a:buAutoNum type="romanUcPeriod"/>
            </a:pPr>
            <a:r>
              <a:rPr lang="hu-HU" dirty="0" smtClean="0">
                <a:solidFill>
                  <a:srgbClr val="FF0000"/>
                </a:solidFill>
                <a:latin typeface="+mj-lt"/>
              </a:rPr>
              <a:t>Sequencing</a:t>
            </a:r>
            <a:r>
              <a:rPr lang="hu-HU" dirty="0" smtClean="0">
                <a:latin typeface="+mj-lt"/>
              </a:rPr>
              <a:t>: </a:t>
            </a:r>
            <a:r>
              <a:rPr lang="hu-HU" dirty="0" smtClean="0"/>
              <a:t>arranging objects in a sequence according to a specific rule</a:t>
            </a:r>
          </a:p>
          <a:p>
            <a:pPr marL="571500" indent="-571500">
              <a:spcAft>
                <a:spcPts val="600"/>
              </a:spcAft>
              <a:buFont typeface="+mj-lt"/>
              <a:buAutoNum type="romanUcPeriod"/>
            </a:pPr>
            <a:r>
              <a:rPr lang="hu-HU" dirty="0" smtClean="0">
                <a:solidFill>
                  <a:srgbClr val="FF0000"/>
                </a:solidFill>
                <a:latin typeface="+mj-lt"/>
              </a:rPr>
              <a:t>Comparison</a:t>
            </a:r>
            <a:r>
              <a:rPr lang="hu-HU" dirty="0" smtClean="0">
                <a:latin typeface="+mj-lt"/>
              </a:rPr>
              <a:t>: </a:t>
            </a:r>
            <a:r>
              <a:rPr lang="hu-HU" dirty="0" smtClean="0"/>
              <a:t>identifying the different and common characteristics of the things being compared</a:t>
            </a:r>
          </a:p>
          <a:p>
            <a:pPr marL="571500" indent="-571500">
              <a:spcAft>
                <a:spcPts val="600"/>
              </a:spcAft>
              <a:buFont typeface="+mj-lt"/>
              <a:buAutoNum type="romanUcPeriod"/>
            </a:pPr>
            <a:r>
              <a:rPr lang="hu-HU" dirty="0" smtClean="0">
                <a:solidFill>
                  <a:srgbClr val="FF0000"/>
                </a:solidFill>
                <a:latin typeface="+mj-lt"/>
              </a:rPr>
              <a:t>Rule-making</a:t>
            </a:r>
            <a:r>
              <a:rPr lang="hu-HU" dirty="0" smtClean="0">
                <a:latin typeface="+mj-lt"/>
              </a:rPr>
              <a:t>: </a:t>
            </a:r>
            <a:r>
              <a:rPr lang="hu-HU" dirty="0" smtClean="0"/>
              <a:t>verbal formulation </a:t>
            </a:r>
            <a:r>
              <a:rPr lang="hu-HU" dirty="0" smtClean="0">
                <a:latin typeface="+mj-lt"/>
              </a:rPr>
              <a:t>of the </a:t>
            </a:r>
            <a:r>
              <a:rPr lang="hu-HU" dirty="0" smtClean="0"/>
              <a:t>insight</a:t>
            </a:r>
          </a:p>
          <a:p>
            <a:pPr lvl="1"/>
            <a:endParaRPr lang="hu-HU" dirty="0" smtClean="0"/>
          </a:p>
          <a:p>
            <a:pPr lvl="1"/>
            <a:endParaRPr lang="hu-H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683568" y="2780928"/>
            <a:ext cx="8280920" cy="1487016"/>
          </a:xfrm>
          <a:prstGeom prst="roundRect">
            <a:avLst/>
          </a:prstGeom>
          <a:solidFill>
            <a:schemeClr val="tx2">
              <a:lumMod val="20000"/>
              <a:lumOff val="80000"/>
            </a:schemeClr>
          </a:solidFill>
          <a:scene3d>
            <a:camera prst="orthographicFront"/>
            <a:lightRig rig="threePt" dir="t"/>
          </a:scene3d>
          <a:sp3d>
            <a:bevelT/>
          </a:sp3d>
        </p:spPr>
        <p:txBody>
          <a:bodyPr anchor="ctr">
            <a:normAutofit/>
          </a:bodyPr>
          <a:lstStyle/>
          <a:p>
            <a:pPr marL="571500" indent="-571500" algn="ctr">
              <a:spcAft>
                <a:spcPts val="2400"/>
              </a:spcAft>
              <a:buFont typeface="+mj-lt"/>
              <a:buAutoNum type="romanUcPeriod" startAt="2"/>
            </a:pPr>
            <a:r>
              <a:rPr lang="hu-HU" dirty="0" smtClean="0"/>
              <a:t>Perception based on the integration of multiple senses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sz="quarter" idx="1"/>
          </p:nvPr>
        </p:nvSpPr>
        <p:spPr>
          <a:xfrm>
            <a:off x="683568" y="1628800"/>
            <a:ext cx="7634932" cy="4536504"/>
          </a:xfrm>
        </p:spPr>
        <p:txBody>
          <a:bodyPr>
            <a:normAutofit/>
          </a:bodyPr>
          <a:lstStyle/>
          <a:p>
            <a:pPr marL="609600" lvl="0" indent="-609600">
              <a:buNone/>
            </a:pPr>
            <a:r>
              <a:rPr lang="hu-HU" sz="2800" dirty="0" smtClean="0"/>
              <a:t> </a:t>
            </a:r>
            <a:r>
              <a:rPr lang="hu-HU" sz="2400" dirty="0" smtClean="0"/>
              <a:t>It is advisable to present conceptual structures in a variety of perceptual forms:</a:t>
            </a:r>
          </a:p>
          <a:p>
            <a:pPr marL="609600" lvl="0" indent="-609600">
              <a:buNone/>
            </a:pPr>
            <a:endParaRPr lang="hu-HU" sz="2000" dirty="0" smtClean="0"/>
          </a:p>
          <a:p>
            <a:pPr marL="609600" indent="-609600">
              <a:spcAft>
                <a:spcPts val="2400"/>
              </a:spcAft>
              <a:buSzPct val="120000"/>
              <a:buBlip>
                <a:blip r:embed="rId3"/>
              </a:buBlip>
            </a:pPr>
            <a:r>
              <a:rPr lang="hu-HU" sz="2400" dirty="0" smtClean="0"/>
              <a:t>Faster recognition of individual differences</a:t>
            </a:r>
          </a:p>
          <a:p>
            <a:pPr marL="609600" indent="-609600">
              <a:spcAft>
                <a:spcPts val="2400"/>
              </a:spcAft>
              <a:buSzPct val="120000"/>
              <a:buBlip>
                <a:blip r:embed="rId3"/>
              </a:buBlip>
            </a:pPr>
            <a:r>
              <a:rPr lang="hu-HU" sz="2400" dirty="0" smtClean="0"/>
              <a:t>Gaining a wealth of experience </a:t>
            </a:r>
          </a:p>
          <a:p>
            <a:pPr marL="609600" lvl="0" indent="-609600">
              <a:spcAft>
                <a:spcPts val="2400"/>
              </a:spcAft>
              <a:buSzPct val="120000"/>
              <a:buBlip>
                <a:blip r:embed="rId3"/>
              </a:buBlip>
            </a:pPr>
            <a:r>
              <a:rPr lang="hu-HU" sz="2400" dirty="0" smtClean="0"/>
              <a:t>Each model highlights different aspects of the concept</a:t>
            </a:r>
          </a:p>
          <a:p>
            <a:pPr marL="609600" indent="-609600">
              <a:spcAft>
                <a:spcPts val="2400"/>
              </a:spcAft>
              <a:buSzPct val="120000"/>
              <a:buBlip>
                <a:blip r:embed="rId3"/>
              </a:buBlip>
            </a:pPr>
            <a:endParaRPr lang="hu-HU" sz="2400" dirty="0" smtClean="0"/>
          </a:p>
          <a:p>
            <a:pPr marL="609600" indent="-609600" eaLnBrk="1" hangingPunct="1">
              <a:buFontTx/>
              <a:buAutoNum type="arabicPeriod"/>
            </a:pPr>
            <a:endParaRPr lang="hu-HU" dirty="0" smtClean="0"/>
          </a:p>
          <a:p>
            <a:pPr marL="609600" indent="-609600" algn="ctr" eaLnBrk="1" hangingPunct="1">
              <a:buFontTx/>
              <a:buNone/>
            </a:pPr>
            <a:endParaRPr lang="hu-HU" dirty="0" smtClean="0"/>
          </a:p>
          <a:p>
            <a:pPr marL="609600" indent="-609600" algn="ctr" eaLnBrk="1" hangingPunct="1">
              <a:buFontTx/>
              <a:buNone/>
            </a:pPr>
            <a:endParaRPr lang="hu-HU" dirty="0" smtClean="0"/>
          </a:p>
        </p:txBody>
      </p:sp>
      <p:sp>
        <p:nvSpPr>
          <p:cNvPr id="5" name="Dia számának helye 4"/>
          <p:cNvSpPr>
            <a:spLocks noGrp="1"/>
          </p:cNvSpPr>
          <p:nvPr>
            <p:ph type="sldNum" sz="quarter" idx="12"/>
          </p:nvPr>
        </p:nvSpPr>
        <p:spPr/>
        <p:txBody>
          <a:bodyPr/>
          <a:lstStyle/>
          <a:p>
            <a:fld id="{22D59DB6-5F7D-499C-A599-3478E63C2738}" type="slidenum">
              <a:rPr lang="hu-HU" smtClean="0"/>
              <a:t>8</a:t>
            </a:fld>
            <a:endParaRPr lang="hu-HU"/>
          </a:p>
        </p:txBody>
      </p:sp>
      <p:sp>
        <p:nvSpPr>
          <p:cNvPr id="6" name="Élőláb helye 5"/>
          <p:cNvSpPr>
            <a:spLocks noGrp="1"/>
          </p:cNvSpPr>
          <p:nvPr>
            <p:ph type="ftr" sz="quarter" idx="11"/>
          </p:nvPr>
        </p:nvSpPr>
        <p:spPr>
          <a:xfrm>
            <a:off x="467544" y="6165304"/>
            <a:ext cx="3505200" cy="365760"/>
          </a:xfrm>
        </p:spPr>
        <p:txBody>
          <a:bodyPr/>
          <a:lstStyle/>
          <a:p>
            <a:r>
              <a:rPr lang="hu-HU" dirty="0" smtClean="0"/>
              <a:t>“The Liveable City and its Countryside” Symposium – Békéscsaba, 22 November 2012</a:t>
            </a:r>
            <a:endParaRPr lang="hu-HU" dirty="0"/>
          </a:p>
        </p:txBody>
      </p:sp>
      <p:sp>
        <p:nvSpPr>
          <p:cNvPr id="7" name="Cím 3"/>
          <p:cNvSpPr>
            <a:spLocks noGrp="1"/>
          </p:cNvSpPr>
          <p:nvPr>
            <p:ph type="title"/>
          </p:nvPr>
        </p:nvSpPr>
        <p:spPr>
          <a:xfrm>
            <a:off x="1115616" y="188640"/>
            <a:ext cx="8244408" cy="1728192"/>
          </a:xfrm>
        </p:spPr>
        <p:txBody>
          <a:bodyPr>
            <a:normAutofit fontScale="90000"/>
          </a:bodyPr>
          <a:lstStyle/>
          <a:p>
            <a:r>
              <a:rPr lang="hu-HU" dirty="0" smtClean="0"/>
              <a:t>The principle of </a:t>
            </a:r>
            <a:r>
              <a:rPr lang="hu-HU" dirty="0" err="1" smtClean="0"/>
              <a:t>perceptual </a:t>
            </a:r>
            <a:r>
              <a:rPr lang="hu-HU" dirty="0" smtClean="0"/>
              <a:t>(sensory) diversity </a:t>
            </a:r>
            <a:br>
              <a:rPr lang="hu-HU" dirty="0" smtClean="0"/>
            </a:br>
            <a:r>
              <a:rPr lang="hu-HU" dirty="0" smtClean="0"/>
              <a:t>or the principle of multiple concretisation</a:t>
            </a:r>
            <a:br>
              <a:rPr lang="hu-HU" dirty="0" smtClean="0"/>
            </a:br>
            <a:br>
              <a:rPr lang="hu-HU" dirty="0" smtClean="0"/>
            </a:br>
            <a:r>
              <a:rPr lang="hu-HU" sz="2700" dirty="0" smtClean="0"/>
              <a:t> </a:t>
            </a:r>
            <a:endParaRPr lang="hu-HU" sz="2700" dirty="0"/>
          </a:p>
        </p:txBody>
      </p:sp>
      <p:sp>
        <p:nvSpPr>
          <p:cNvPr id="8" name="Szövegdoboz 7"/>
          <p:cNvSpPr txBox="1"/>
          <p:nvPr/>
        </p:nvSpPr>
        <p:spPr>
          <a:xfrm>
            <a:off x="1259632" y="1196752"/>
            <a:ext cx="7272808" cy="430887"/>
          </a:xfrm>
          <a:prstGeom prst="rect">
            <a:avLst/>
          </a:prstGeom>
          <a:noFill/>
        </p:spPr>
        <p:txBody>
          <a:bodyPr wrap="square" rtlCol="0">
            <a:spAutoFit/>
          </a:bodyPr>
          <a:lstStyle/>
          <a:p>
            <a:pPr algn="r"/>
            <a:r>
              <a:rPr lang="hu-HU" sz="2200" dirty="0" smtClean="0">
                <a:latin typeface="+mj-lt"/>
              </a:rPr>
              <a:t>(Dienes 1973)</a:t>
            </a:r>
            <a:endParaRPr lang="hu-HU" sz="2200" dirty="0">
              <a:latin typeface="+mj-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Cím 1"/>
          <p:cNvSpPr>
            <a:spLocks noGrp="1"/>
          </p:cNvSpPr>
          <p:nvPr>
            <p:ph type="title"/>
          </p:nvPr>
        </p:nvSpPr>
        <p:spPr/>
        <p:txBody>
          <a:bodyPr>
            <a:normAutofit fontScale="90000"/>
          </a:bodyPr>
          <a:lstStyle/>
          <a:p>
            <a:pPr eaLnBrk="1" hangingPunct="1"/>
            <a:r>
              <a:rPr lang="hu-HU" smtClean="0"/>
              <a:t>The types of spontaneous image formation are as follows:</a:t>
            </a:r>
          </a:p>
        </p:txBody>
      </p:sp>
      <p:sp>
        <p:nvSpPr>
          <p:cNvPr id="15363" name="Tartalom helye 2"/>
          <p:cNvSpPr>
            <a:spLocks noGrp="1"/>
          </p:cNvSpPr>
          <p:nvPr>
            <p:ph idx="1"/>
          </p:nvPr>
        </p:nvSpPr>
        <p:spPr/>
        <p:txBody>
          <a:bodyPr>
            <a:normAutofit fontScale="62500" lnSpcReduction="20000"/>
          </a:bodyPr>
          <a:lstStyle/>
          <a:p>
            <a:pPr eaLnBrk="1" hangingPunct="1"/>
            <a:r>
              <a:rPr lang="hu-HU" dirty="0" smtClean="0"/>
              <a:t> Proximity</a:t>
            </a:r>
          </a:p>
          <a:p>
            <a:pPr eaLnBrk="1" hangingPunct="1"/>
            <a:r>
              <a:rPr lang="hu-HU" dirty="0" smtClean="0"/>
              <a:t>We perceive shapes that are close to one another in space or time as a single unit. (In the figure, we do not see six vertical lines, but three pairs of lines.)</a:t>
            </a:r>
          </a:p>
          <a:p>
            <a:pPr eaLnBrk="1" hangingPunct="1"/>
            <a:r>
              <a:rPr lang="hu-HU" dirty="0" smtClean="0"/>
              <a:t> Similarity</a:t>
            </a:r>
          </a:p>
          <a:p>
            <a:pPr eaLnBrk="1" hangingPunct="1"/>
            <a:r>
              <a:rPr lang="hu-HU" dirty="0" smtClean="0"/>
              <a:t>We organise similar elements within a pattern into groups. (Instead of eight dots, we see two pairs of black dots and two pairs of white dots.)</a:t>
            </a:r>
          </a:p>
          <a:p>
            <a:pPr eaLnBrk="1" hangingPunct="1"/>
            <a:r>
              <a:rPr lang="hu-HU" dirty="0" smtClean="0"/>
              <a:t> Direction</a:t>
            </a:r>
          </a:p>
          <a:p>
            <a:pPr eaLnBrk="1" hangingPunct="1"/>
            <a:r>
              <a:rPr lang="hu-HU" dirty="0" smtClean="0"/>
              <a:t>We perceive elements that are arranged along a line as belonging together.</a:t>
            </a:r>
          </a:p>
          <a:p>
            <a:pPr eaLnBrk="1" hangingPunct="1"/>
            <a:r>
              <a:rPr lang="hu-HU" dirty="0" smtClean="0"/>
              <a:t> Pattern formation</a:t>
            </a:r>
          </a:p>
          <a:p>
            <a:pPr eaLnBrk="1" hangingPunct="1"/>
            <a:r>
              <a:rPr lang="hu-HU" dirty="0" smtClean="0"/>
              <a:t>We tend to transfer the organisation we perceive in one pattern to the next, similar instance. Moving from left to right in the figure, we perceive the dots in the figure on the right as being arranged in pairs too, even though their distances are equal.</a:t>
            </a:r>
          </a:p>
          <a:p>
            <a:pPr eaLnBrk="1" hangingPunct="1"/>
            <a:r>
              <a:rPr lang="hu-HU" dirty="0" smtClean="0"/>
              <a:t> “Background”</a:t>
            </a:r>
          </a:p>
          <a:p>
            <a:pPr eaLnBrk="1" hangingPunct="1"/>
            <a:r>
              <a:rPr lang="hu-HU" dirty="0" smtClean="0"/>
              <a:t>When presented with two similar figures, we feel that the second has emerged from the first; we perceive elements that change their positions in the same way as belonging together.</a:t>
            </a:r>
          </a:p>
          <a:p>
            <a:pPr eaLnBrk="1" hangingPunct="1"/>
            <a:r>
              <a:rPr lang="hu-HU" dirty="0" smtClean="0"/>
              <a:t> Flawlessness</a:t>
            </a:r>
          </a:p>
          <a:p>
            <a:pPr eaLnBrk="1" hangingPunct="1"/>
            <a:r>
              <a:rPr lang="hu-HU" dirty="0" smtClean="0"/>
              <a:t>If a shape resembles a regular form, we often do not even notice that it is not perfect, for example, that its outline is not continuous.</a:t>
            </a:r>
          </a:p>
          <a:p>
            <a:pPr eaLnBrk="1" hangingPunct="1"/>
            <a:endParaRPr lang="hu-HU" dirty="0" smtClean="0"/>
          </a:p>
        </p:txBody>
      </p:sp>
      <p:sp>
        <p:nvSpPr>
          <p:cNvPr id="5" name="Élőláb helye 5"/>
          <p:cNvSpPr>
            <a:spLocks noGrp="1"/>
          </p:cNvSpPr>
          <p:nvPr>
            <p:ph type="ftr" sz="quarter" idx="11"/>
          </p:nvPr>
        </p:nvSpPr>
        <p:spPr>
          <a:xfrm>
            <a:off x="467544" y="6165304"/>
            <a:ext cx="3505200" cy="365760"/>
          </a:xfrm>
        </p:spPr>
        <p:txBody>
          <a:bodyPr/>
          <a:lstStyle/>
          <a:p>
            <a:r>
              <a:rPr lang="hu-HU" dirty="0" smtClean="0"/>
              <a:t>“The Liveable City and its Countryside” Symposium – Békéscsaba, 22 November 2012</a:t>
            </a:r>
            <a:endParaRPr lang="hu-HU"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Élőláb helye 1"/>
          <p:cNvSpPr>
            <a:spLocks noGrp="1"/>
          </p:cNvSpPr>
          <p:nvPr>
            <p:ph type="ftr" sz="quarter" idx="11"/>
          </p:nvPr>
        </p:nvSpPr>
        <p:spPr/>
        <p:txBody>
          <a:bodyPr/>
          <a:lstStyle/>
          <a:p>
            <a:pPr algn="ctr"/>
            <a:r>
              <a:rPr lang="hu-HU" smtClean="0"/>
              <a:t>“The Liveable City and its Surroundings” Symposium – Békéscsaba, 22 November 2012</a:t>
            </a:r>
            <a:endParaRPr lang="hu-HU" dirty="0"/>
          </a:p>
        </p:txBody>
      </p:sp>
      <p:sp>
        <p:nvSpPr>
          <p:cNvPr id="3" name="Dia számának helye 2"/>
          <p:cNvSpPr>
            <a:spLocks noGrp="1"/>
          </p:cNvSpPr>
          <p:nvPr>
            <p:ph type="sldNum" sz="quarter" idx="12"/>
          </p:nvPr>
        </p:nvSpPr>
        <p:spPr/>
        <p:txBody>
          <a:bodyPr/>
          <a:lstStyle/>
          <a:p>
            <a:fld id="{CE7567DC-5FD5-45FD-89E4-4C2DD10BAC25}" type="slidenum">
              <a:rPr lang="hu-HU" smtClean="0"/>
              <a:t>10</a:t>
            </a:fld>
            <a:endParaRPr lang="hu-HU" dirty="0"/>
          </a:p>
        </p:txBody>
      </p:sp>
      <p:sp>
        <p:nvSpPr>
          <p:cNvPr id="4" name="Cím 3"/>
          <p:cNvSpPr>
            <a:spLocks noGrp="1"/>
          </p:cNvSpPr>
          <p:nvPr>
            <p:ph type="title"/>
          </p:nvPr>
        </p:nvSpPr>
        <p:spPr/>
        <p:txBody>
          <a:bodyPr/>
          <a:lstStyle/>
          <a:p>
            <a:r>
              <a:rPr lang="hu-HU" dirty="0" smtClean="0"/>
              <a:t>Perceptual grouping</a:t>
            </a:r>
            <a:endParaRPr lang="hu-HU" dirty="0"/>
          </a:p>
        </p:txBody>
      </p:sp>
      <p:pic>
        <p:nvPicPr>
          <p:cNvPr id="1026" name="Picture 2" descr="http://upload.wikimedia.org/wikipedia/commons/thumb/f/f2/Gestaltalapelvek.JPG/350px-Gestaltalapelvek.JPG"/>
          <p:cNvPicPr>
            <a:picLocks noChangeAspect="1" noChangeArrowheads="1"/>
          </p:cNvPicPr>
          <p:nvPr/>
        </p:nvPicPr>
        <p:blipFill>
          <a:blip r:embed="rId2" cstate="print"/>
          <a:srcRect/>
          <a:stretch>
            <a:fillRect/>
          </a:stretch>
        </p:blipFill>
        <p:spPr bwMode="auto">
          <a:xfrm>
            <a:off x="1043608" y="1268760"/>
            <a:ext cx="7200800" cy="5122857"/>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Élőláb helye 4"/>
          <p:cNvSpPr>
            <a:spLocks noGrp="1"/>
          </p:cNvSpPr>
          <p:nvPr>
            <p:ph type="ftr" sz="quarter" idx="11"/>
          </p:nvPr>
        </p:nvSpPr>
        <p:spPr>
          <a:noFill/>
        </p:spPr>
        <p:txBody>
          <a:bodyPr/>
          <a:lstStyle/>
          <a:p>
            <a:r>
              <a:rPr lang="hu-HU" smtClean="0"/>
              <a:t>“The Liveable City and its Surroundings” Symposium – Békéscsaba, 22 November 2012</a:t>
            </a:r>
            <a:endParaRPr lang="hu-HU"/>
          </a:p>
        </p:txBody>
      </p:sp>
      <p:sp>
        <p:nvSpPr>
          <p:cNvPr id="9220" name="Rectangle 3"/>
          <p:cNvSpPr>
            <a:spLocks noGrp="1" noChangeArrowheads="1"/>
          </p:cNvSpPr>
          <p:nvPr>
            <p:ph sz="quarter" idx="1"/>
          </p:nvPr>
        </p:nvSpPr>
        <p:spPr>
          <a:xfrm>
            <a:off x="838200" y="1196752"/>
            <a:ext cx="8126413" cy="5040560"/>
          </a:xfrm>
        </p:spPr>
        <p:txBody>
          <a:bodyPr>
            <a:normAutofit/>
          </a:bodyPr>
          <a:lstStyle/>
          <a:p>
            <a:pPr eaLnBrk="1" hangingPunct="1">
              <a:lnSpc>
                <a:spcPct val="120000"/>
              </a:lnSpc>
              <a:spcBef>
                <a:spcPts val="2400"/>
              </a:spcBef>
              <a:buSzPct val="120000"/>
              <a:buBlip>
                <a:blip r:embed="rId2"/>
              </a:buBlip>
            </a:pPr>
            <a:r>
              <a:rPr lang="hu-HU" dirty="0" smtClean="0"/>
              <a:t>The functioning of the auditory system is a necessary but not sufficient condition for the auditory experience</a:t>
            </a:r>
          </a:p>
          <a:p>
            <a:pPr eaLnBrk="1" hangingPunct="1">
              <a:lnSpc>
                <a:spcPct val="120000"/>
              </a:lnSpc>
              <a:spcBef>
                <a:spcPts val="2400"/>
              </a:spcBef>
              <a:spcAft>
                <a:spcPts val="2400"/>
              </a:spcAft>
              <a:buSzPct val="120000"/>
              <a:buBlip>
                <a:blip r:embed="rId2"/>
              </a:buBlip>
            </a:pPr>
            <a:r>
              <a:rPr lang="hu-HU" dirty="0" smtClean="0"/>
              <a:t>The basic unit of auditory perception: the auditory chain</a:t>
            </a:r>
          </a:p>
          <a:p>
            <a:pPr eaLnBrk="1" hangingPunct="1">
              <a:lnSpc>
                <a:spcPct val="120000"/>
              </a:lnSpc>
              <a:buSzPct val="120000"/>
              <a:buBlip>
                <a:blip r:embed="rId2"/>
              </a:buBlip>
            </a:pPr>
            <a:r>
              <a:rPr lang="hu-HU" dirty="0" smtClean="0"/>
              <a:t>Organisations of auditory information:</a:t>
            </a:r>
          </a:p>
          <a:p>
            <a:pPr lvl="1">
              <a:lnSpc>
                <a:spcPct val="120000"/>
              </a:lnSpc>
              <a:spcBef>
                <a:spcPts val="600"/>
              </a:spcBef>
              <a:buSzPct val="120000"/>
              <a:buFont typeface="Wingdings" pitchFamily="2" charset="2"/>
              <a:buChar char="Ø"/>
            </a:pPr>
            <a:r>
              <a:rPr lang="hu-HU" dirty="0" smtClean="0"/>
              <a:t>Sequential (in close succession)</a:t>
            </a:r>
          </a:p>
          <a:p>
            <a:pPr lvl="1">
              <a:lnSpc>
                <a:spcPct val="120000"/>
              </a:lnSpc>
              <a:spcBef>
                <a:spcPts val="600"/>
              </a:spcBef>
              <a:buSzPct val="120000"/>
              <a:buFont typeface="Wingdings" pitchFamily="2" charset="2"/>
              <a:buChar char="Ø"/>
            </a:pPr>
            <a:r>
              <a:rPr lang="hu-HU" dirty="0" smtClean="0"/>
              <a:t>Spectral (multiple auditory chains </a:t>
            </a:r>
            <a:r>
              <a:rPr lang="hu-HU" dirty="0" err="1" smtClean="0"/>
              <a:t>simultaneously</a:t>
            </a:r>
            <a:r>
              <a:rPr lang="hu-HU" dirty="0" smtClean="0"/>
              <a:t>)</a:t>
            </a:r>
          </a:p>
          <a:p>
            <a:pPr>
              <a:lnSpc>
                <a:spcPct val="120000"/>
              </a:lnSpc>
              <a:spcBef>
                <a:spcPts val="2400"/>
              </a:spcBef>
              <a:buSzPct val="120000"/>
              <a:buBlip>
                <a:blip r:embed="rId2"/>
              </a:buBlip>
            </a:pPr>
            <a:r>
              <a:rPr lang="hu-HU" dirty="0" err="1" smtClean="0"/>
              <a:t>Gestalt principles</a:t>
            </a:r>
            <a:r>
              <a:rPr lang="hu-HU" dirty="0" smtClean="0"/>
              <a:t> also apply to the grouping of auditory information</a:t>
            </a:r>
            <a:endParaRPr lang="hu-HU" dirty="0" smtClean="0"/>
          </a:p>
          <a:p>
            <a:pPr lvl="1">
              <a:lnSpc>
                <a:spcPct val="120000"/>
              </a:lnSpc>
              <a:buSzPct val="120000"/>
              <a:buNone/>
            </a:pPr>
            <a:endParaRPr lang="hu-HU" dirty="0" smtClean="0"/>
          </a:p>
          <a:p>
            <a:pPr lvl="1">
              <a:lnSpc>
                <a:spcPct val="120000"/>
              </a:lnSpc>
              <a:buSzPct val="120000"/>
              <a:buNone/>
            </a:pPr>
            <a:endParaRPr lang="hu-HU" dirty="0" smtClean="0"/>
          </a:p>
        </p:txBody>
      </p:sp>
      <p:sp>
        <p:nvSpPr>
          <p:cNvPr id="5" name="Cím 4"/>
          <p:cNvSpPr>
            <a:spLocks noGrp="1"/>
          </p:cNvSpPr>
          <p:nvPr>
            <p:ph type="title"/>
          </p:nvPr>
        </p:nvSpPr>
        <p:spPr/>
        <p:txBody>
          <a:bodyPr>
            <a:normAutofit fontScale="90000"/>
          </a:bodyPr>
          <a:lstStyle/>
          <a:p>
            <a:r>
              <a:rPr lang="hu-HU" dirty="0" smtClean="0"/>
              <a:t>Auditory chain – mathematical structures (1)</a:t>
            </a:r>
            <a:br>
              <a:rPr lang="hu-HU" dirty="0" smtClean="0"/>
            </a:br>
            <a:r>
              <a:rPr lang="hu-HU" dirty="0" smtClean="0"/>
              <a:t> </a:t>
            </a:r>
            <a:endParaRPr lang="hu-HU" dirty="0"/>
          </a:p>
        </p:txBody>
      </p:sp>
      <p:sp>
        <p:nvSpPr>
          <p:cNvPr id="6" name="Dia számának helye 5"/>
          <p:cNvSpPr>
            <a:spLocks noGrp="1"/>
          </p:cNvSpPr>
          <p:nvPr>
            <p:ph type="sldNum" sz="quarter" idx="12"/>
          </p:nvPr>
        </p:nvSpPr>
        <p:spPr/>
        <p:txBody>
          <a:bodyPr/>
          <a:lstStyle/>
          <a:p>
            <a:fld id="{22D59DB6-5F7D-499C-A599-3478E63C2738}" type="slidenum">
              <a:rPr lang="hu-HU" smtClean="0"/>
              <a:t>11</a:t>
            </a:fld>
            <a:endParaRPr lang="hu-HU"/>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Élőláb helye 4"/>
          <p:cNvSpPr>
            <a:spLocks noGrp="1"/>
          </p:cNvSpPr>
          <p:nvPr>
            <p:ph type="ftr" sz="quarter" idx="11"/>
          </p:nvPr>
        </p:nvSpPr>
        <p:spPr>
          <a:noFill/>
        </p:spPr>
        <p:txBody>
          <a:bodyPr/>
          <a:lstStyle/>
          <a:p>
            <a:r>
              <a:rPr lang="hu-HU" smtClean="0"/>
              <a:t>“The Liveable City and its Surroundings” Symposium – Békéscsaba, 22 November 2012</a:t>
            </a:r>
            <a:endParaRPr lang="hu-HU"/>
          </a:p>
        </p:txBody>
      </p:sp>
      <p:sp>
        <p:nvSpPr>
          <p:cNvPr id="9220" name="Rectangle 3"/>
          <p:cNvSpPr>
            <a:spLocks noGrp="1" noChangeArrowheads="1"/>
          </p:cNvSpPr>
          <p:nvPr>
            <p:ph sz="quarter" idx="1"/>
          </p:nvPr>
        </p:nvSpPr>
        <p:spPr>
          <a:xfrm>
            <a:off x="838200" y="1556792"/>
            <a:ext cx="8126413" cy="4464596"/>
          </a:xfrm>
        </p:spPr>
        <p:txBody>
          <a:bodyPr>
            <a:normAutofit/>
          </a:bodyPr>
          <a:lstStyle/>
          <a:p>
            <a:pPr eaLnBrk="1" hangingPunct="1">
              <a:lnSpc>
                <a:spcPct val="120000"/>
              </a:lnSpc>
              <a:spcBef>
                <a:spcPts val="2400"/>
              </a:spcBef>
              <a:buSzPct val="120000"/>
              <a:buBlip>
                <a:blip r:embed="rId2"/>
              </a:buBlip>
            </a:pPr>
            <a:r>
              <a:rPr lang="hu-HU" dirty="0" smtClean="0"/>
              <a:t>The musical pitch scale allows musical notes to be arranged in order (approx. 20–4000 Hz)</a:t>
            </a:r>
          </a:p>
          <a:p>
            <a:pPr>
              <a:lnSpc>
                <a:spcPct val="120000"/>
              </a:lnSpc>
              <a:spcBef>
                <a:spcPts val="2400"/>
              </a:spcBef>
              <a:buSzPct val="120000"/>
              <a:buBlip>
                <a:blip r:embed="rId2"/>
              </a:buBlip>
            </a:pPr>
            <a:r>
              <a:rPr lang="hu-HU" dirty="0" smtClean="0"/>
              <a:t>In music, intervals form a regular system based on the octave (8 intervals)</a:t>
            </a:r>
          </a:p>
          <a:p>
            <a:pPr eaLnBrk="1" hangingPunct="1">
              <a:lnSpc>
                <a:spcPct val="120000"/>
              </a:lnSpc>
              <a:spcBef>
                <a:spcPts val="2400"/>
              </a:spcBef>
              <a:buSzPct val="120000"/>
              <a:buBlip>
                <a:blip r:embed="rId2"/>
              </a:buBlip>
            </a:pPr>
            <a:r>
              <a:rPr lang="hu-HU" dirty="0" smtClean="0"/>
              <a:t>In the perception of musical pitch, it is not the exact pitch of the notes but the intervals between them that are important</a:t>
            </a:r>
          </a:p>
          <a:p>
            <a:pPr eaLnBrk="1" hangingPunct="1">
              <a:lnSpc>
                <a:spcPct val="120000"/>
              </a:lnSpc>
              <a:buBlip>
                <a:blip r:embed="rId2"/>
              </a:buBlip>
            </a:pPr>
            <a:endParaRPr lang="hu-HU" dirty="0" smtClean="0"/>
          </a:p>
        </p:txBody>
      </p:sp>
      <p:sp>
        <p:nvSpPr>
          <p:cNvPr id="5" name="Cím 4"/>
          <p:cNvSpPr>
            <a:spLocks noGrp="1"/>
          </p:cNvSpPr>
          <p:nvPr>
            <p:ph type="title"/>
          </p:nvPr>
        </p:nvSpPr>
        <p:spPr/>
        <p:txBody>
          <a:bodyPr>
            <a:normAutofit fontScale="90000"/>
          </a:bodyPr>
          <a:lstStyle/>
          <a:p>
            <a:r>
              <a:rPr lang="hu-HU" dirty="0" smtClean="0"/>
              <a:t>Auditory chain – mathematical structures (2)</a:t>
            </a:r>
            <a:br>
              <a:rPr lang="hu-HU" dirty="0" smtClean="0"/>
            </a:br>
            <a:r>
              <a:rPr lang="hu-HU" dirty="0" smtClean="0"/>
              <a:t> </a:t>
            </a:r>
            <a:endParaRPr lang="hu-HU" dirty="0"/>
          </a:p>
        </p:txBody>
      </p:sp>
      <p:sp>
        <p:nvSpPr>
          <p:cNvPr id="6" name="Dia számának helye 5"/>
          <p:cNvSpPr>
            <a:spLocks noGrp="1"/>
          </p:cNvSpPr>
          <p:nvPr>
            <p:ph type="sldNum" sz="quarter" idx="12"/>
          </p:nvPr>
        </p:nvSpPr>
        <p:spPr/>
        <p:txBody>
          <a:bodyPr/>
          <a:lstStyle/>
          <a:p>
            <a:fld id="{22D59DB6-5F7D-499C-A599-3478E63C2738}" type="slidenum">
              <a:rPr lang="hu-HU" smtClean="0"/>
              <a:t>12</a:t>
            </a:fld>
            <a:endParaRPr lang="hu-HU"/>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sz="quarter" idx="1"/>
          </p:nvPr>
        </p:nvSpPr>
        <p:spPr>
          <a:xfrm>
            <a:off x="914400" y="1412776"/>
            <a:ext cx="8229600" cy="4937760"/>
          </a:xfrm>
        </p:spPr>
        <p:txBody>
          <a:bodyPr>
            <a:normAutofit/>
          </a:bodyPr>
          <a:lstStyle/>
          <a:p>
            <a:pPr eaLnBrk="1" hangingPunct="1">
              <a:buSzPct val="120000"/>
              <a:buBlip>
                <a:blip r:embed="rId2"/>
              </a:buBlip>
            </a:pPr>
            <a:r>
              <a:rPr lang="hu-HU" dirty="0" smtClean="0"/>
              <a:t>Rhythm is the regular temporal organisation of certain events</a:t>
            </a:r>
          </a:p>
          <a:p>
            <a:pPr eaLnBrk="1" hangingPunct="1">
              <a:buSzPct val="120000"/>
              <a:buBlip>
                <a:blip r:embed="rId2"/>
              </a:buBlip>
            </a:pPr>
            <a:endParaRPr lang="hu-HU" dirty="0" smtClean="0"/>
          </a:p>
          <a:p>
            <a:pPr eaLnBrk="1" hangingPunct="1">
              <a:buSzPct val="120000"/>
              <a:buBlip>
                <a:blip r:embed="rId2"/>
              </a:buBlip>
            </a:pPr>
            <a:r>
              <a:rPr lang="hu-HU" dirty="0" smtClean="0"/>
              <a:t>The perception of rhythm is based on the processing of time intervals between events and their periodic repetition</a:t>
            </a:r>
          </a:p>
          <a:p>
            <a:pPr eaLnBrk="1" hangingPunct="1">
              <a:buSzPct val="120000"/>
              <a:buBlip>
                <a:blip r:embed="rId2"/>
              </a:buBlip>
            </a:pPr>
            <a:endParaRPr lang="hu-HU" dirty="0" smtClean="0"/>
          </a:p>
          <a:p>
            <a:pPr eaLnBrk="1" hangingPunct="1">
              <a:buSzPct val="120000"/>
              <a:buBlip>
                <a:blip r:embed="rId2"/>
              </a:buBlip>
            </a:pPr>
            <a:r>
              <a:rPr lang="hu-HU" dirty="0" smtClean="0"/>
              <a:t>We are easily able to synchronise our movements with a sequence of sounds that has a regular rhythm (we try to plan the exact timing of the movement in advance)</a:t>
            </a:r>
          </a:p>
          <a:p>
            <a:pPr eaLnBrk="1" hangingPunct="1"/>
            <a:endParaRPr lang="hu-HU" dirty="0" smtClean="0"/>
          </a:p>
          <a:p>
            <a:pPr eaLnBrk="1" hangingPunct="1"/>
            <a:endParaRPr lang="hu-HU" sz="2400" dirty="0" smtClean="0"/>
          </a:p>
        </p:txBody>
      </p:sp>
      <p:sp>
        <p:nvSpPr>
          <p:cNvPr id="4" name="Dia számának helye 3"/>
          <p:cNvSpPr>
            <a:spLocks noGrp="1"/>
          </p:cNvSpPr>
          <p:nvPr>
            <p:ph type="sldNum" sz="quarter" idx="12"/>
          </p:nvPr>
        </p:nvSpPr>
        <p:spPr/>
        <p:txBody>
          <a:bodyPr/>
          <a:lstStyle/>
          <a:p>
            <a:fld id="{22D59DB6-5F7D-499C-A599-3478E63C2738}" type="slidenum">
              <a:rPr lang="hu-HU" smtClean="0"/>
              <a:t>13</a:t>
            </a:fld>
            <a:endParaRPr lang="hu-HU"/>
          </a:p>
        </p:txBody>
      </p:sp>
      <p:sp>
        <p:nvSpPr>
          <p:cNvPr id="5" name="Élőláb helye 4"/>
          <p:cNvSpPr>
            <a:spLocks noGrp="1"/>
          </p:cNvSpPr>
          <p:nvPr>
            <p:ph type="ftr" sz="quarter" idx="11"/>
          </p:nvPr>
        </p:nvSpPr>
        <p:spPr/>
        <p:txBody>
          <a:bodyPr/>
          <a:lstStyle/>
          <a:p>
            <a:r>
              <a:rPr lang="hu-HU" smtClean="0"/>
              <a:t>“The Liveable City and its Countryside” Symposium – Békéscsaba, 22 November 2012</a:t>
            </a:r>
            <a:endParaRPr lang="hu-HU"/>
          </a:p>
        </p:txBody>
      </p:sp>
      <p:sp>
        <p:nvSpPr>
          <p:cNvPr id="6" name="Cím 5"/>
          <p:cNvSpPr>
            <a:spLocks noGrp="1"/>
          </p:cNvSpPr>
          <p:nvPr>
            <p:ph type="title"/>
          </p:nvPr>
        </p:nvSpPr>
        <p:spPr/>
        <p:txBody>
          <a:bodyPr>
            <a:normAutofit fontScale="90000"/>
          </a:bodyPr>
          <a:lstStyle/>
          <a:p>
            <a:r>
              <a:rPr lang="hu-HU" dirty="0" smtClean="0"/>
              <a:t>Auditory chain – mathematical structures (3)</a:t>
            </a:r>
            <a:br>
              <a:rPr lang="hu-HU" dirty="0" smtClean="0"/>
            </a:br>
            <a:r>
              <a:rPr lang="hu-HU" dirty="0" smtClean="0"/>
              <a:t> </a:t>
            </a:r>
            <a:endParaRPr lang="hu-HU"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683568" y="2780928"/>
            <a:ext cx="8280920" cy="1487016"/>
          </a:xfrm>
          <a:prstGeom prst="roundRect">
            <a:avLst/>
          </a:prstGeom>
          <a:solidFill>
            <a:schemeClr val="tx2">
              <a:lumMod val="20000"/>
              <a:lumOff val="80000"/>
            </a:schemeClr>
          </a:solidFill>
          <a:scene3d>
            <a:camera prst="orthographicFront"/>
            <a:lightRig rig="threePt" dir="t"/>
          </a:scene3d>
          <a:sp3d>
            <a:bevelT/>
          </a:sp3d>
        </p:spPr>
        <p:txBody>
          <a:bodyPr anchor="ctr">
            <a:normAutofit/>
          </a:bodyPr>
          <a:lstStyle/>
          <a:p>
            <a:pPr marL="571500" indent="-571500" algn="ctr">
              <a:buFont typeface="+mj-lt"/>
              <a:buAutoNum type="romanUcPeriod" startAt="3"/>
            </a:pPr>
            <a:r>
              <a:rPr lang="hu-HU" dirty="0" smtClean="0"/>
              <a:t>Presentation of teaching aids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115616" y="260648"/>
            <a:ext cx="7632848" cy="914400"/>
          </a:xfrm>
        </p:spPr>
        <p:txBody>
          <a:bodyPr>
            <a:normAutofit fontScale="90000"/>
          </a:bodyPr>
          <a:lstStyle/>
          <a:p>
            <a:pPr eaLnBrk="1" hangingPunct="1"/>
            <a:r>
              <a:rPr lang="hu-HU" dirty="0" smtClean="0"/>
              <a:t>Applications of </a:t>
            </a:r>
            <a:r>
              <a:rPr lang="hu-HU" dirty="0" smtClean="0"/>
              <a:t>the ‘Audible Maths’ </a:t>
            </a:r>
            <a:r>
              <a:rPr lang="hu-HU" dirty="0" smtClean="0"/>
              <a:t>software package</a:t>
            </a:r>
          </a:p>
        </p:txBody>
      </p:sp>
      <p:sp>
        <p:nvSpPr>
          <p:cNvPr id="12290" name="Dia számának helye 6"/>
          <p:cNvSpPr>
            <a:spLocks noGrp="1"/>
          </p:cNvSpPr>
          <p:nvPr>
            <p:ph type="sldNum" sz="quarter" idx="12"/>
          </p:nvPr>
        </p:nvSpPr>
        <p:spPr>
          <a:noFill/>
        </p:spPr>
        <p:txBody>
          <a:bodyPr/>
          <a:lstStyle/>
          <a:p>
            <a:fld id="{405DC138-5479-46F6-8168-3D7DE6403C74}" type="slidenum">
              <a:rPr lang="hu-HU" smtClean="0"/>
              <a:t>15</a:t>
            </a:fld>
            <a:endParaRPr lang="hu-HU" smtClean="0"/>
          </a:p>
        </p:txBody>
      </p:sp>
      <p:sp>
        <p:nvSpPr>
          <p:cNvPr id="12292" name="Rectangle 3"/>
          <p:cNvSpPr>
            <a:spLocks noGrp="1" noChangeArrowheads="1"/>
          </p:cNvSpPr>
          <p:nvPr>
            <p:ph sz="quarter" idx="1"/>
          </p:nvPr>
        </p:nvSpPr>
        <p:spPr>
          <a:xfrm>
            <a:off x="827584" y="1214422"/>
            <a:ext cx="8135938" cy="5143536"/>
          </a:xfrm>
        </p:spPr>
        <p:txBody>
          <a:bodyPr>
            <a:normAutofit/>
          </a:bodyPr>
          <a:lstStyle/>
          <a:p>
            <a:pPr marL="457200" indent="-457200" eaLnBrk="1" hangingPunct="1">
              <a:lnSpc>
                <a:spcPct val="90000"/>
              </a:lnSpc>
              <a:spcBef>
                <a:spcPts val="1200"/>
              </a:spcBef>
              <a:buFont typeface="+mj-lt"/>
              <a:buAutoNum type="arabicPeriod"/>
            </a:pPr>
            <a:endParaRPr lang="hu-HU" sz="2400" dirty="0" smtClean="0">
              <a:hlinkClick r:id="" action="ppaction://noaction"/>
            </a:endParaRPr>
          </a:p>
          <a:p>
            <a:pPr marL="457200" indent="-457200" eaLnBrk="1" hangingPunct="1">
              <a:lnSpc>
                <a:spcPct val="90000"/>
              </a:lnSpc>
              <a:spcBef>
                <a:spcPts val="1200"/>
              </a:spcBef>
              <a:buFont typeface="+mj-lt"/>
              <a:buAutoNum type="arabicPeriod"/>
            </a:pPr>
            <a:r>
              <a:rPr lang="hu-HU" sz="2400" dirty="0" smtClean="0">
                <a:hlinkClick r:id="rId3" action="ppaction://hlinksldjump"/>
              </a:rPr>
              <a:t>Preparing</a:t>
            </a:r>
            <a:r>
              <a:rPr lang="hu-HU" sz="2400" dirty="0" smtClean="0">
                <a:hlinkClick r:id="rId3" action="ppaction://hlinksldjump"/>
              </a:rPr>
              <a:t> a number line</a:t>
            </a:r>
            <a:endParaRPr lang="hu-HU" sz="2400" dirty="0" smtClean="0"/>
          </a:p>
          <a:p>
            <a:pPr marL="457200" indent="-457200">
              <a:lnSpc>
                <a:spcPct val="90000"/>
              </a:lnSpc>
              <a:spcBef>
                <a:spcPts val="1200"/>
              </a:spcBef>
              <a:buFont typeface="+mj-lt"/>
              <a:buAutoNum type="arabicPeriod"/>
            </a:pPr>
            <a:endParaRPr lang="hu-HU" sz="2400" dirty="0" smtClean="0">
              <a:hlinkClick r:id="rId4" action="ppaction://hlinksldjump"/>
            </a:endParaRPr>
          </a:p>
          <a:p>
            <a:pPr marL="457200" indent="-457200">
              <a:lnSpc>
                <a:spcPct val="90000"/>
              </a:lnSpc>
              <a:spcBef>
                <a:spcPts val="1200"/>
              </a:spcBef>
              <a:buFont typeface="+mj-lt"/>
              <a:buAutoNum type="arabicPeriod"/>
            </a:pPr>
            <a:r>
              <a:rPr lang="hu-HU" sz="2400" dirty="0" smtClean="0">
                <a:hlinkClick r:id="rId5" action="ppaction://hlinksldjump"/>
              </a:rPr>
              <a:t>Forming </a:t>
            </a:r>
            <a:r>
              <a:rPr lang="hu-HU" sz="2400" dirty="0" smtClean="0">
                <a:hlinkClick r:id="rId5" action="ppaction://hlinksldjump"/>
              </a:rPr>
              <a:t>a </a:t>
            </a:r>
            <a:r>
              <a:rPr lang="hu-HU" sz="2400" dirty="0" smtClean="0">
                <a:hlinkClick r:id="rId5" action="ppaction://hlinksldjump"/>
              </a:rPr>
              <a:t>sequence</a:t>
            </a:r>
            <a:endParaRPr lang="hu-HU" sz="2400" dirty="0" smtClean="0"/>
          </a:p>
          <a:p>
            <a:pPr marL="457200" indent="-457200" eaLnBrk="1" hangingPunct="1">
              <a:lnSpc>
                <a:spcPct val="90000"/>
              </a:lnSpc>
              <a:spcBef>
                <a:spcPts val="1200"/>
              </a:spcBef>
              <a:buFont typeface="+mj-lt"/>
              <a:buAutoNum type="arabicPeriod"/>
            </a:pPr>
            <a:endParaRPr lang="hu-HU" sz="2400" dirty="0" smtClean="0">
              <a:hlinkClick r:id="rId4" action="ppaction://hlinksldjump"/>
            </a:endParaRPr>
          </a:p>
          <a:p>
            <a:pPr marL="457200" indent="-457200" eaLnBrk="1" hangingPunct="1">
              <a:lnSpc>
                <a:spcPct val="90000"/>
              </a:lnSpc>
              <a:spcBef>
                <a:spcPts val="1200"/>
              </a:spcBef>
              <a:buFont typeface="+mj-lt"/>
              <a:buAutoNum type="arabicPeriod"/>
            </a:pPr>
            <a:r>
              <a:rPr lang="hu-HU" sz="2400" dirty="0" smtClean="0">
                <a:hlinkClick r:id="rId6" action="ppaction://hlinkfile"/>
              </a:rPr>
              <a:t>The </a:t>
            </a:r>
            <a:r>
              <a:rPr lang="hu-HU" sz="2400" dirty="0" smtClean="0">
                <a:hlinkClick r:id="rId6" action="ppaction://hlinkfile"/>
              </a:rPr>
              <a:t>number as a quantity</a:t>
            </a:r>
            <a:endParaRPr lang="hu-HU" sz="2400" dirty="0" smtClean="0"/>
          </a:p>
          <a:p>
            <a:pPr marL="457200" indent="-457200" eaLnBrk="1" hangingPunct="1">
              <a:lnSpc>
                <a:spcPct val="90000"/>
              </a:lnSpc>
              <a:spcBef>
                <a:spcPts val="1200"/>
              </a:spcBef>
              <a:buFont typeface="+mj-lt"/>
              <a:buAutoNum type="arabicPeriod"/>
            </a:pPr>
            <a:endParaRPr lang="hu-HU" sz="2400" dirty="0" smtClean="0">
              <a:hlinkClick r:id="rId5" action="ppaction://hlinksldjump"/>
            </a:endParaRPr>
          </a:p>
          <a:p>
            <a:pPr marL="457200" indent="-457200" eaLnBrk="1" hangingPunct="1">
              <a:lnSpc>
                <a:spcPct val="90000"/>
              </a:lnSpc>
              <a:spcBef>
                <a:spcPts val="1200"/>
              </a:spcBef>
              <a:buFont typeface="+mj-lt"/>
              <a:buAutoNum type="arabicPeriod"/>
            </a:pPr>
            <a:r>
              <a:rPr lang="hu-HU" sz="2400" dirty="0" smtClean="0">
                <a:hlinkClick r:id="rId7" action="ppaction://hlinksldjump"/>
              </a:rPr>
              <a:t>Numbers as units of measurement</a:t>
            </a:r>
            <a:endParaRPr lang="hu-HU" sz="2400" dirty="0" smtClean="0"/>
          </a:p>
          <a:p>
            <a:pPr marL="457200" indent="-457200" eaLnBrk="1" hangingPunct="1">
              <a:lnSpc>
                <a:spcPct val="90000"/>
              </a:lnSpc>
              <a:spcBef>
                <a:spcPts val="1200"/>
              </a:spcBef>
              <a:buFont typeface="+mj-lt"/>
              <a:buAutoNum type="arabicPeriod"/>
            </a:pPr>
            <a:endParaRPr lang="hu-HU" sz="2400" dirty="0" smtClean="0">
              <a:hlinkClick r:id="rId7" action="ppaction://hlinksldjump"/>
            </a:endParaRPr>
          </a:p>
          <a:p>
            <a:pPr marL="457200" indent="-457200" eaLnBrk="1" hangingPunct="1">
              <a:lnSpc>
                <a:spcPct val="90000"/>
              </a:lnSpc>
              <a:spcBef>
                <a:spcPts val="1200"/>
              </a:spcBef>
              <a:buFont typeface="+mj-lt"/>
              <a:buAutoNum type="arabicPeriod"/>
            </a:pPr>
            <a:r>
              <a:rPr lang="hu-HU" sz="2400" dirty="0" smtClean="0">
                <a:hlinkClick r:id="rId8" action="ppaction://hlinksldjump"/>
              </a:rPr>
              <a:t>Introduction to negative numbers</a:t>
            </a:r>
            <a:endParaRPr lang="hu-HU" sz="2400" dirty="0" smtClean="0">
              <a:hlinkClick r:id="rId7" action="ppaction://hlinksldjump"/>
            </a:endParaRPr>
          </a:p>
          <a:p>
            <a:pPr marL="457200" indent="-457200" eaLnBrk="1" hangingPunct="1">
              <a:lnSpc>
                <a:spcPct val="90000"/>
              </a:lnSpc>
              <a:spcBef>
                <a:spcPts val="1200"/>
              </a:spcBef>
              <a:buFont typeface="+mj-lt"/>
              <a:buAutoNum type="arabicPeriod"/>
            </a:pPr>
            <a:endParaRPr lang="hu-HU" sz="2400" dirty="0" smtClean="0"/>
          </a:p>
        </p:txBody>
      </p:sp>
      <p:sp>
        <p:nvSpPr>
          <p:cNvPr id="7" name="Szövegdoboz 6"/>
          <p:cNvSpPr txBox="1"/>
          <p:nvPr/>
        </p:nvSpPr>
        <p:spPr>
          <a:xfrm>
            <a:off x="6072198" y="6000768"/>
            <a:ext cx="2714644" cy="369332"/>
          </a:xfrm>
          <a:prstGeom prst="rect">
            <a:avLst/>
          </a:prstGeom>
          <a:noFill/>
        </p:spPr>
        <p:txBody>
          <a:bodyPr wrap="square" rtlCol="0">
            <a:spAutoFit/>
          </a:bodyPr>
          <a:lstStyle/>
          <a:p>
            <a:r>
              <a:rPr lang="hu-HU" dirty="0" smtClean="0">
                <a:hlinkClick r:id="rId9" action="ppaction://hlinksldjump"/>
              </a:rPr>
              <a:t>Software availability</a:t>
            </a:r>
            <a:endParaRPr lang="hu-HU"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normAutofit/>
          </a:bodyPr>
          <a:lstStyle/>
          <a:p>
            <a:pPr marL="457200" indent="-457200">
              <a:lnSpc>
                <a:spcPct val="90000"/>
              </a:lnSpc>
              <a:spcBef>
                <a:spcPts val="1200"/>
              </a:spcBef>
            </a:pPr>
            <a:r>
              <a:rPr lang="hu-HU" dirty="0" smtClean="0">
                <a:hlinkClick r:id="" action="ppaction://noaction"/>
              </a:rPr>
              <a:t>Preparation of a number line</a:t>
            </a:r>
            <a:endParaRPr lang="hu-HU" dirty="0" smtClean="0"/>
          </a:p>
        </p:txBody>
      </p:sp>
      <p:sp>
        <p:nvSpPr>
          <p:cNvPr id="13314" name="Élőláb helye 4"/>
          <p:cNvSpPr>
            <a:spLocks noGrp="1"/>
          </p:cNvSpPr>
          <p:nvPr>
            <p:ph type="ftr" sz="quarter" idx="11"/>
          </p:nvPr>
        </p:nvSpPr>
        <p:spPr>
          <a:noFill/>
        </p:spPr>
        <p:txBody>
          <a:bodyPr/>
          <a:lstStyle/>
          <a:p>
            <a:r>
              <a:rPr lang="hu-HU" smtClean="0"/>
              <a:t>“The Liveable City and its Surroundings” Symposium – Békéscsaba, 22 November 2012</a:t>
            </a:r>
          </a:p>
        </p:txBody>
      </p:sp>
      <p:sp>
        <p:nvSpPr>
          <p:cNvPr id="13315" name="Dia számának helye 5"/>
          <p:cNvSpPr>
            <a:spLocks noGrp="1"/>
          </p:cNvSpPr>
          <p:nvPr>
            <p:ph type="sldNum" sz="quarter" idx="12"/>
          </p:nvPr>
        </p:nvSpPr>
        <p:spPr>
          <a:noFill/>
        </p:spPr>
        <p:txBody>
          <a:bodyPr/>
          <a:lstStyle/>
          <a:p>
            <a:fld id="{51967EA0-D28B-455F-8BC5-2CDDBE34CAEC}" type="slidenum">
              <a:rPr lang="hu-HU" smtClean="0"/>
              <a:t>16</a:t>
            </a:fld>
            <a:endParaRPr lang="hu-HU" smtClean="0"/>
          </a:p>
        </p:txBody>
      </p:sp>
      <p:sp>
        <p:nvSpPr>
          <p:cNvPr id="13317" name="Rectangle 3"/>
          <p:cNvSpPr>
            <a:spLocks noGrp="1" noChangeArrowheads="1"/>
          </p:cNvSpPr>
          <p:nvPr>
            <p:ph sz="quarter" idx="1"/>
          </p:nvPr>
        </p:nvSpPr>
        <p:spPr>
          <a:xfrm>
            <a:off x="827584" y="1340768"/>
            <a:ext cx="8208912" cy="4937760"/>
          </a:xfrm>
        </p:spPr>
        <p:txBody>
          <a:bodyPr/>
          <a:lstStyle/>
          <a:p>
            <a:pPr algn="ctr" eaLnBrk="1" hangingPunct="1">
              <a:buFont typeface="Wingdings" pitchFamily="2" charset="2"/>
              <a:buNone/>
            </a:pPr>
            <a:r>
              <a:rPr lang="hu-HU" dirty="0" smtClean="0">
                <a:sym typeface="Webdings" pitchFamily="18" charset="2"/>
              </a:rPr>
              <a:t> </a:t>
            </a:r>
          </a:p>
        </p:txBody>
      </p:sp>
      <p:sp>
        <p:nvSpPr>
          <p:cNvPr id="7" name="Akciógomb: Visszatérés 6">
            <a:hlinkClick r:id="rId2" action="ppaction://hlinksldjump" highlightClick="1"/>
          </p:cNvPr>
          <p:cNvSpPr/>
          <p:nvPr/>
        </p:nvSpPr>
        <p:spPr>
          <a:xfrm>
            <a:off x="7884368" y="6093296"/>
            <a:ext cx="504056" cy="360040"/>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25604" name="Picture 4" descr="http://192.168.0.75/hallhato-matematika/images/stories/food/ket_smiley_100.jpg">
            <a:hlinkClick r:id="rId3" action="ppaction://hlinkfile"/>
          </p:cNvPr>
          <p:cNvPicPr>
            <a:picLocks noChangeAspect="1" noChangeArrowheads="1"/>
          </p:cNvPicPr>
          <p:nvPr/>
        </p:nvPicPr>
        <p:blipFill>
          <a:blip r:embed="rId4" cstate="print"/>
          <a:srcRect/>
          <a:stretch>
            <a:fillRect/>
          </a:stretch>
        </p:blipFill>
        <p:spPr bwMode="auto">
          <a:xfrm>
            <a:off x="539552" y="2420888"/>
            <a:ext cx="8439150" cy="21431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Élőláb helye 5"/>
          <p:cNvSpPr>
            <a:spLocks noGrp="1"/>
          </p:cNvSpPr>
          <p:nvPr>
            <p:ph type="ftr" sz="quarter" idx="11"/>
          </p:nvPr>
        </p:nvSpPr>
        <p:spPr>
          <a:noFill/>
        </p:spPr>
        <p:txBody>
          <a:bodyPr/>
          <a:lstStyle/>
          <a:p>
            <a:r>
              <a:rPr lang="hu-HU" smtClean="0"/>
              <a:t>“The Liveable City and its Surroundings” Symposium – Békéscsaba, 22 November 2012</a:t>
            </a:r>
          </a:p>
        </p:txBody>
      </p:sp>
      <p:sp>
        <p:nvSpPr>
          <p:cNvPr id="14339" name="Dia számának helye 6"/>
          <p:cNvSpPr>
            <a:spLocks noGrp="1"/>
          </p:cNvSpPr>
          <p:nvPr>
            <p:ph type="sldNum" sz="quarter" idx="12"/>
          </p:nvPr>
        </p:nvSpPr>
        <p:spPr>
          <a:noFill/>
        </p:spPr>
        <p:txBody>
          <a:bodyPr/>
          <a:lstStyle/>
          <a:p>
            <a:fld id="{D21DE43A-3D0B-4269-9979-CBD8D988E619}" type="slidenum">
              <a:rPr lang="hu-HU" smtClean="0"/>
              <a:t>17</a:t>
            </a:fld>
            <a:endParaRPr lang="hu-HU" smtClean="0"/>
          </a:p>
        </p:txBody>
      </p:sp>
      <p:sp>
        <p:nvSpPr>
          <p:cNvPr id="12" name="Rectangle 2"/>
          <p:cNvSpPr>
            <a:spLocks noGrp="1" noChangeArrowheads="1"/>
          </p:cNvSpPr>
          <p:nvPr>
            <p:ph type="title"/>
          </p:nvPr>
        </p:nvSpPr>
        <p:spPr/>
        <p:txBody>
          <a:bodyPr>
            <a:normAutofit/>
          </a:bodyPr>
          <a:lstStyle/>
          <a:p>
            <a:r>
              <a:rPr lang="hu-HU" dirty="0" smtClean="0"/>
              <a:t>The number as a quantity</a:t>
            </a:r>
            <a:endParaRPr lang="hu-HU" dirty="0" smtClean="0">
              <a:sym typeface="Webdings" pitchFamily="18" charset="2"/>
            </a:endParaRPr>
          </a:p>
        </p:txBody>
      </p:sp>
      <p:sp>
        <p:nvSpPr>
          <p:cNvPr id="9" name="Akciógomb: Visszatérés 8">
            <a:hlinkClick r:id="rId3" action="ppaction://hlinksldjump" highlightClick="1"/>
          </p:cNvPr>
          <p:cNvSpPr/>
          <p:nvPr/>
        </p:nvSpPr>
        <p:spPr>
          <a:xfrm>
            <a:off x="7956376" y="6165304"/>
            <a:ext cx="504056" cy="360040"/>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24579" name="Picture 3">
            <a:hlinkClick r:id="rId4" action="ppaction://hlinkfile"/>
          </p:cNvPr>
          <p:cNvPicPr>
            <a:picLocks noChangeAspect="1" noChangeArrowheads="1"/>
          </p:cNvPicPr>
          <p:nvPr/>
        </p:nvPicPr>
        <p:blipFill>
          <a:blip r:embed="rId5" cstate="print"/>
          <a:srcRect l="10040" t="9598" r="9636" b="12884"/>
          <a:stretch>
            <a:fillRect/>
          </a:stretch>
        </p:blipFill>
        <p:spPr bwMode="auto">
          <a:xfrm>
            <a:off x="1547664" y="1412776"/>
            <a:ext cx="6192688" cy="478112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Élőláb helye 5"/>
          <p:cNvSpPr>
            <a:spLocks noGrp="1"/>
          </p:cNvSpPr>
          <p:nvPr>
            <p:ph type="ftr" sz="quarter" idx="11"/>
          </p:nvPr>
        </p:nvSpPr>
        <p:spPr>
          <a:noFill/>
        </p:spPr>
        <p:txBody>
          <a:bodyPr/>
          <a:lstStyle/>
          <a:p>
            <a:r>
              <a:rPr lang="hu-HU" smtClean="0"/>
              <a:t>“The Liveable City and its Surroundings” Symposium – Békéscsaba, 22 November 2012</a:t>
            </a:r>
          </a:p>
        </p:txBody>
      </p:sp>
      <p:sp>
        <p:nvSpPr>
          <p:cNvPr id="14339" name="Dia számának helye 6"/>
          <p:cNvSpPr>
            <a:spLocks noGrp="1"/>
          </p:cNvSpPr>
          <p:nvPr>
            <p:ph type="sldNum" sz="quarter" idx="12"/>
          </p:nvPr>
        </p:nvSpPr>
        <p:spPr>
          <a:noFill/>
        </p:spPr>
        <p:txBody>
          <a:bodyPr/>
          <a:lstStyle/>
          <a:p>
            <a:fld id="{D21DE43A-3D0B-4269-9979-CBD8D988E619}" type="slidenum">
              <a:rPr lang="hu-HU" smtClean="0"/>
              <a:t>18</a:t>
            </a:fld>
            <a:endParaRPr lang="hu-HU" smtClean="0"/>
          </a:p>
        </p:txBody>
      </p:sp>
      <p:sp>
        <p:nvSpPr>
          <p:cNvPr id="12" name="Rectangle 2"/>
          <p:cNvSpPr>
            <a:spLocks noGrp="1" noChangeArrowheads="1"/>
          </p:cNvSpPr>
          <p:nvPr>
            <p:ph type="title"/>
          </p:nvPr>
        </p:nvSpPr>
        <p:spPr/>
        <p:txBody>
          <a:bodyPr>
            <a:normAutofit/>
          </a:bodyPr>
          <a:lstStyle/>
          <a:p>
            <a:r>
              <a:rPr lang="hu-HU" dirty="0" smtClean="0"/>
              <a:t>The </a:t>
            </a:r>
            <a:r>
              <a:rPr lang="hu-HU" dirty="0" smtClean="0"/>
              <a:t>sequence</a:t>
            </a:r>
            <a:endParaRPr lang="hu-HU" dirty="0" smtClean="0">
              <a:sym typeface="Webdings" pitchFamily="18" charset="2"/>
            </a:endParaRPr>
          </a:p>
        </p:txBody>
      </p:sp>
      <p:sp>
        <p:nvSpPr>
          <p:cNvPr id="9" name="Akciógomb: Visszatérés 8">
            <a:hlinkClick r:id="rId3" action="ppaction://hlinksldjump" highlightClick="1"/>
          </p:cNvPr>
          <p:cNvSpPr/>
          <p:nvPr/>
        </p:nvSpPr>
        <p:spPr>
          <a:xfrm>
            <a:off x="7956376" y="6165304"/>
            <a:ext cx="504056" cy="360040"/>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026" name="Picture 2">
            <a:hlinkClick r:id="rId4" action="ppaction://hlinkfile"/>
          </p:cNvPr>
          <p:cNvPicPr>
            <a:picLocks noChangeAspect="1" noChangeArrowheads="1"/>
          </p:cNvPicPr>
          <p:nvPr/>
        </p:nvPicPr>
        <p:blipFill>
          <a:blip r:embed="rId5"/>
          <a:srcRect l="6592" t="14649" r="6249" b="16992"/>
          <a:stretch>
            <a:fillRect/>
          </a:stretch>
        </p:blipFill>
        <p:spPr bwMode="auto">
          <a:xfrm>
            <a:off x="785786" y="1500174"/>
            <a:ext cx="3857652" cy="226920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028" name="Picture 4">
            <a:hlinkClick r:id="rId6" action="ppaction://hlinkfile"/>
          </p:cNvPr>
          <p:cNvPicPr>
            <a:picLocks noChangeAspect="1" noChangeArrowheads="1"/>
          </p:cNvPicPr>
          <p:nvPr/>
        </p:nvPicPr>
        <p:blipFill>
          <a:blip r:embed="rId7"/>
          <a:srcRect l="7324" t="14648" r="7714" b="16992"/>
          <a:stretch>
            <a:fillRect/>
          </a:stretch>
        </p:blipFill>
        <p:spPr bwMode="auto">
          <a:xfrm>
            <a:off x="4929190" y="2500306"/>
            <a:ext cx="3957663" cy="228601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Élőláb helye 5"/>
          <p:cNvSpPr>
            <a:spLocks noGrp="1"/>
          </p:cNvSpPr>
          <p:nvPr>
            <p:ph type="ftr" sz="quarter" idx="11"/>
          </p:nvPr>
        </p:nvSpPr>
        <p:spPr>
          <a:noFill/>
        </p:spPr>
        <p:txBody>
          <a:bodyPr/>
          <a:lstStyle/>
          <a:p>
            <a:r>
              <a:rPr lang="hu-HU" smtClean="0"/>
              <a:t>“The Liveable City and its Surroundings” Symposium – Békéscsaba, 22 November 2012</a:t>
            </a:r>
          </a:p>
        </p:txBody>
      </p:sp>
      <p:sp>
        <p:nvSpPr>
          <p:cNvPr id="14339" name="Dia számának helye 6"/>
          <p:cNvSpPr>
            <a:spLocks noGrp="1"/>
          </p:cNvSpPr>
          <p:nvPr>
            <p:ph type="sldNum" sz="quarter" idx="12"/>
          </p:nvPr>
        </p:nvSpPr>
        <p:spPr>
          <a:noFill/>
        </p:spPr>
        <p:txBody>
          <a:bodyPr/>
          <a:lstStyle/>
          <a:p>
            <a:fld id="{D21DE43A-3D0B-4269-9979-CBD8D988E619}" type="slidenum">
              <a:rPr lang="hu-HU" smtClean="0"/>
              <a:t>19</a:t>
            </a:fld>
            <a:endParaRPr lang="hu-HU" smtClean="0"/>
          </a:p>
        </p:txBody>
      </p:sp>
      <p:sp>
        <p:nvSpPr>
          <p:cNvPr id="12" name="Rectangle 2"/>
          <p:cNvSpPr>
            <a:spLocks noGrp="1" noChangeArrowheads="1"/>
          </p:cNvSpPr>
          <p:nvPr>
            <p:ph type="title"/>
          </p:nvPr>
        </p:nvSpPr>
        <p:spPr/>
        <p:txBody>
          <a:bodyPr>
            <a:normAutofit/>
          </a:bodyPr>
          <a:lstStyle/>
          <a:p>
            <a:r>
              <a:rPr lang="hu-HU" dirty="0" smtClean="0"/>
              <a:t>The </a:t>
            </a:r>
            <a:r>
              <a:rPr lang="hu-HU" dirty="0" smtClean="0"/>
              <a:t>number as a unit of measurement</a:t>
            </a:r>
            <a:endParaRPr lang="hu-HU" dirty="0" smtClean="0">
              <a:sym typeface="Webdings" pitchFamily="18" charset="2"/>
            </a:endParaRPr>
          </a:p>
        </p:txBody>
      </p:sp>
      <p:sp>
        <p:nvSpPr>
          <p:cNvPr id="9" name="Akciógomb: Visszatérés 8">
            <a:hlinkClick r:id="rId3" action="ppaction://hlinksldjump" highlightClick="1"/>
          </p:cNvPr>
          <p:cNvSpPr/>
          <p:nvPr/>
        </p:nvSpPr>
        <p:spPr>
          <a:xfrm>
            <a:off x="7956376" y="6165304"/>
            <a:ext cx="504056" cy="360040"/>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2050" name="Picture 2">
            <a:hlinkClick r:id="rId4" action="ppaction://hlinkfile"/>
          </p:cNvPr>
          <p:cNvPicPr>
            <a:picLocks noChangeAspect="1" noChangeArrowheads="1"/>
          </p:cNvPicPr>
          <p:nvPr/>
        </p:nvPicPr>
        <p:blipFill>
          <a:blip r:embed="rId5"/>
          <a:srcRect l="10986" r="6982" b="13085"/>
          <a:stretch>
            <a:fillRect/>
          </a:stretch>
        </p:blipFill>
        <p:spPr bwMode="auto">
          <a:xfrm>
            <a:off x="2285984" y="1714488"/>
            <a:ext cx="4714876" cy="374665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Élőláb helye 5"/>
          <p:cNvSpPr>
            <a:spLocks noGrp="1"/>
          </p:cNvSpPr>
          <p:nvPr>
            <p:ph type="ftr" sz="quarter" idx="11"/>
          </p:nvPr>
        </p:nvSpPr>
        <p:spPr>
          <a:noFill/>
        </p:spPr>
        <p:txBody>
          <a:bodyPr/>
          <a:lstStyle/>
          <a:p>
            <a:r>
              <a:rPr lang="hu-HU" smtClean="0"/>
              <a:t>“The Liveable City and its Surroundings” Symposium – Békéscsaba, 22 November 2012</a:t>
            </a:r>
          </a:p>
        </p:txBody>
      </p:sp>
      <p:sp>
        <p:nvSpPr>
          <p:cNvPr id="14339" name="Dia számának helye 6"/>
          <p:cNvSpPr>
            <a:spLocks noGrp="1"/>
          </p:cNvSpPr>
          <p:nvPr>
            <p:ph type="sldNum" sz="quarter" idx="12"/>
          </p:nvPr>
        </p:nvSpPr>
        <p:spPr>
          <a:noFill/>
        </p:spPr>
        <p:txBody>
          <a:bodyPr/>
          <a:lstStyle/>
          <a:p>
            <a:fld id="{D21DE43A-3D0B-4269-9979-CBD8D988E619}" type="slidenum">
              <a:rPr lang="hu-HU" smtClean="0"/>
              <a:t>20</a:t>
            </a:fld>
            <a:endParaRPr lang="hu-HU" smtClean="0"/>
          </a:p>
        </p:txBody>
      </p:sp>
      <p:sp>
        <p:nvSpPr>
          <p:cNvPr id="12" name="Rectangle 2"/>
          <p:cNvSpPr>
            <a:spLocks noGrp="1" noChangeArrowheads="1"/>
          </p:cNvSpPr>
          <p:nvPr>
            <p:ph type="title"/>
          </p:nvPr>
        </p:nvSpPr>
        <p:spPr/>
        <p:txBody>
          <a:bodyPr>
            <a:normAutofit/>
          </a:bodyPr>
          <a:lstStyle/>
          <a:p>
            <a:r>
              <a:rPr lang="hu-HU" dirty="0" smtClean="0">
                <a:sym typeface="Webdings" pitchFamily="18" charset="2"/>
              </a:rPr>
              <a:t>Preparing negative numbers</a:t>
            </a:r>
            <a:endParaRPr lang="hu-HU" dirty="0" smtClean="0">
              <a:sym typeface="Webdings" pitchFamily="18" charset="2"/>
            </a:endParaRPr>
          </a:p>
        </p:txBody>
      </p:sp>
      <p:sp>
        <p:nvSpPr>
          <p:cNvPr id="9" name="Akciógomb: Visszatérés 8">
            <a:hlinkClick r:id="rId3" action="ppaction://hlinksldjump" highlightClick="1"/>
          </p:cNvPr>
          <p:cNvSpPr/>
          <p:nvPr/>
        </p:nvSpPr>
        <p:spPr>
          <a:xfrm>
            <a:off x="7956376" y="6165304"/>
            <a:ext cx="504056" cy="360040"/>
          </a:xfrm>
          <a:prstGeom prst="actionButtonRetur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7" name="Picture 2">
            <a:hlinkClick r:id="rId4" action="ppaction://hlinkfile"/>
          </p:cNvPr>
          <p:cNvPicPr>
            <a:picLocks noChangeAspect="1" noChangeArrowheads="1"/>
          </p:cNvPicPr>
          <p:nvPr/>
        </p:nvPicPr>
        <p:blipFill>
          <a:blip r:embed="rId5"/>
          <a:srcRect l="17045"/>
          <a:stretch>
            <a:fillRect/>
          </a:stretch>
        </p:blipFill>
        <p:spPr bwMode="auto">
          <a:xfrm>
            <a:off x="2428860" y="1785926"/>
            <a:ext cx="4286280" cy="38752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ím 4"/>
          <p:cNvSpPr>
            <a:spLocks noGrp="1"/>
          </p:cNvSpPr>
          <p:nvPr>
            <p:ph type="title"/>
          </p:nvPr>
        </p:nvSpPr>
        <p:spPr/>
        <p:txBody>
          <a:bodyPr>
            <a:normAutofit fontScale="90000"/>
          </a:bodyPr>
          <a:lstStyle/>
          <a:p>
            <a:r>
              <a:rPr lang="hu-HU" dirty="0" err="1" smtClean="0"/>
              <a:t>Audio-visual </a:t>
            </a:r>
            <a:r>
              <a:rPr lang="hu-HU" dirty="0" smtClean="0"/>
              <a:t>aids in mathematics teaching </a:t>
            </a:r>
            <a:endParaRPr lang="hu-HU" dirty="0"/>
          </a:p>
        </p:txBody>
      </p:sp>
      <p:sp>
        <p:nvSpPr>
          <p:cNvPr id="3" name="Dia számának helye 2"/>
          <p:cNvSpPr>
            <a:spLocks noGrp="1"/>
          </p:cNvSpPr>
          <p:nvPr>
            <p:ph type="sldNum" sz="quarter" idx="12"/>
          </p:nvPr>
        </p:nvSpPr>
        <p:spPr/>
        <p:txBody>
          <a:bodyPr/>
          <a:lstStyle/>
          <a:p>
            <a:fld id="{CE7567DC-5FD5-45FD-89E4-4C2DD10BAC25}" type="slidenum">
              <a:rPr lang="hu-HU" smtClean="0"/>
              <a:t>21</a:t>
            </a:fld>
            <a:endParaRPr lang="hu-HU"/>
          </a:p>
        </p:txBody>
      </p:sp>
      <p:sp>
        <p:nvSpPr>
          <p:cNvPr id="6" name="Tartalom helye 5"/>
          <p:cNvSpPr>
            <a:spLocks noGrp="1"/>
          </p:cNvSpPr>
          <p:nvPr>
            <p:ph sz="quarter" idx="1"/>
          </p:nvPr>
        </p:nvSpPr>
        <p:spPr/>
        <p:txBody>
          <a:bodyPr/>
          <a:lstStyle/>
          <a:p>
            <a:endParaRPr lang="hu-HU" dirty="0" smtClean="0"/>
          </a:p>
          <a:p>
            <a:endParaRPr lang="hu-HU" dirty="0" smtClean="0"/>
          </a:p>
          <a:p>
            <a:pPr algn="ctr">
              <a:buNone/>
            </a:pPr>
            <a:r>
              <a:rPr lang="hu-HU" dirty="0" smtClean="0"/>
              <a:t>“Audible Maths” </a:t>
            </a:r>
            <a:r>
              <a:rPr lang="hu-HU" dirty="0" smtClean="0"/>
              <a:t>website</a:t>
            </a:r>
            <a:r>
              <a:rPr lang="hu-HU" dirty="0" smtClean="0">
                <a:hlinkClick r:id="rId3"/>
              </a:rPr>
              <a:t> http://gfk.tsf.hu/hallhato-matematika/</a:t>
            </a:r>
            <a:r>
              <a:rPr lang="hu-HU" dirty="0" smtClean="0"/>
              <a:t> </a:t>
            </a:r>
            <a:endParaRPr lang="hu-HU" dirty="0" smtClean="0"/>
          </a:p>
          <a:p>
            <a:pPr algn="ctr">
              <a:buNone/>
            </a:pPr>
            <a:endParaRPr lang="hu-HU" dirty="0" smtClean="0"/>
          </a:p>
          <a:p>
            <a:pPr algn="ctr">
              <a:buNone/>
            </a:pPr>
            <a:endParaRPr lang="hu-HU" dirty="0" smtClean="0"/>
          </a:p>
          <a:p>
            <a:pPr algn="ctr">
              <a:buNone/>
            </a:pPr>
            <a:r>
              <a:rPr lang="hu-HU" dirty="0" smtClean="0"/>
              <a:t>Contact details:</a:t>
            </a:r>
          </a:p>
          <a:p>
            <a:pPr algn="ctr">
              <a:buNone/>
            </a:pPr>
            <a:r>
              <a:rPr lang="hu-HU" dirty="0" err="1" smtClean="0">
                <a:hlinkClick r:id="rId4"/>
              </a:rPr>
              <a:t>szakacsne.nagy.szilvia@gk.szie.hu</a:t>
            </a:r>
            <a:endParaRPr lang="hu-HU" dirty="0" smtClean="0"/>
          </a:p>
          <a:p>
            <a:pPr algn="ctr">
              <a:buNone/>
            </a:pPr>
            <a:endParaRPr lang="hu-HU" dirty="0" smtClean="0"/>
          </a:p>
          <a:p>
            <a:endParaRPr lang="hu-HU"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fontScale="90000"/>
          </a:bodyPr>
          <a:lstStyle/>
          <a:p>
            <a:r>
              <a:rPr lang="hu-HU" dirty="0" smtClean="0"/>
              <a:t>References</a:t>
            </a:r>
            <a:br>
              <a:rPr lang="hu-HU" dirty="0" smtClean="0"/>
            </a:br>
            <a:endParaRPr lang="hu-HU" dirty="0"/>
          </a:p>
        </p:txBody>
      </p:sp>
      <p:sp>
        <p:nvSpPr>
          <p:cNvPr id="3" name="Élőláb helye 2"/>
          <p:cNvSpPr>
            <a:spLocks noGrp="1"/>
          </p:cNvSpPr>
          <p:nvPr>
            <p:ph type="ftr" sz="quarter" idx="11"/>
          </p:nvPr>
        </p:nvSpPr>
        <p:spPr/>
        <p:txBody>
          <a:bodyPr/>
          <a:lstStyle/>
          <a:p>
            <a:pPr algn="ctr"/>
            <a:r>
              <a:rPr lang="hu-HU" smtClean="0"/>
              <a:t>“The Liveable City and its Surroundings” Symposium – Békéscsaba, 22 November 2012</a:t>
            </a:r>
            <a:endParaRPr lang="hu-HU" dirty="0"/>
          </a:p>
        </p:txBody>
      </p:sp>
      <p:sp>
        <p:nvSpPr>
          <p:cNvPr id="4" name="Dia számának helye 3"/>
          <p:cNvSpPr>
            <a:spLocks noGrp="1"/>
          </p:cNvSpPr>
          <p:nvPr>
            <p:ph type="sldNum" sz="quarter" idx="12"/>
          </p:nvPr>
        </p:nvSpPr>
        <p:spPr/>
        <p:txBody>
          <a:bodyPr/>
          <a:lstStyle/>
          <a:p>
            <a:fld id="{22D59DB6-5F7D-499C-A599-3478E63C2738}" type="slidenum">
              <a:rPr lang="hu-HU" smtClean="0"/>
              <a:t>22</a:t>
            </a:fld>
            <a:endParaRPr lang="hu-HU" dirty="0"/>
          </a:p>
        </p:txBody>
      </p:sp>
      <p:sp>
        <p:nvSpPr>
          <p:cNvPr id="5" name="Tartalom helye 4"/>
          <p:cNvSpPr>
            <a:spLocks noGrp="1"/>
          </p:cNvSpPr>
          <p:nvPr>
            <p:ph sz="quarter" idx="1"/>
          </p:nvPr>
        </p:nvSpPr>
        <p:spPr>
          <a:xfrm>
            <a:off x="914400" y="1268760"/>
            <a:ext cx="8229600" cy="5328592"/>
          </a:xfrm>
        </p:spPr>
        <p:txBody>
          <a:bodyPr>
            <a:normAutofit fontScale="92500" lnSpcReduction="10000"/>
          </a:bodyPr>
          <a:lstStyle/>
          <a:p>
            <a:r>
              <a:rPr lang="hu-HU" sz="1800" dirty="0" smtClean="0"/>
              <a:t>Csaba Pléh (1998). An Introduction </a:t>
            </a:r>
            <a:r>
              <a:rPr lang="hu-HU" sz="1800" dirty="0" err="1" smtClean="0"/>
              <a:t>to</a:t>
            </a:r>
            <a:r>
              <a:rPr lang="hu-HU" sz="1800" dirty="0" smtClean="0"/>
              <a:t> the </a:t>
            </a:r>
            <a:r>
              <a:rPr lang="hu-HU" sz="1800" dirty="0" err="1" smtClean="0"/>
              <a:t>Philosophy of Mind</a:t>
            </a:r>
            <a:r>
              <a:rPr lang="hu-HU" sz="1800" dirty="0" smtClean="0"/>
              <a:t>. </a:t>
            </a:r>
            <a:r>
              <a:rPr lang="hu-HU" sz="1800" dirty="0" err="1" smtClean="0"/>
              <a:t>Typotex </a:t>
            </a:r>
            <a:r>
              <a:rPr lang="hu-HU" sz="1800" dirty="0" smtClean="0"/>
              <a:t>Publishing, Budapest.</a:t>
            </a:r>
          </a:p>
          <a:p>
            <a:r>
              <a:rPr lang="hu-HU" sz="1800" dirty="0" err="1" smtClean="0"/>
              <a:t>Ulric </a:t>
            </a:r>
            <a:r>
              <a:rPr lang="hu-HU" sz="1800" dirty="0" err="1" smtClean="0"/>
              <a:t>Neisser </a:t>
            </a:r>
            <a:r>
              <a:rPr lang="hu-HU" sz="1800" dirty="0" smtClean="0"/>
              <a:t>(1984). Cognition and Reality. Gondolat Publishing House, Budapest.</a:t>
            </a:r>
          </a:p>
          <a:p>
            <a:r>
              <a:rPr lang="hu-HU" sz="1800" dirty="0" smtClean="0"/>
              <a:t>Gabriella Dohány (2010). Possibilities for Interpreting Musical Literacy. </a:t>
            </a:r>
            <a:r>
              <a:rPr lang="hu-HU" sz="1800" dirty="0" smtClean="0">
                <a:hlinkClick r:id="rId2"/>
              </a:rPr>
              <a:t>Magyar Pedagógia, Vol. 110, No. 3, pp. 185–210.</a:t>
            </a:r>
            <a:endParaRPr lang="hu-HU" sz="1800" dirty="0" smtClean="0"/>
          </a:p>
          <a:p>
            <a:r>
              <a:rPr lang="hu-HU" sz="1800" dirty="0" smtClean="0"/>
              <a:t>Edited by Valéria Csépe, Miklós Győri and Anett Ragó (2007). General Psychology 1 – Perception and Attention. Osiris Publishing, Budapest.</a:t>
            </a:r>
          </a:p>
          <a:p>
            <a:r>
              <a:rPr lang="hu-HU" sz="1800" dirty="0" smtClean="0"/>
              <a:t>András Ambrus (2003). Classification of tasks based on their function in the educational process.</a:t>
            </a:r>
            <a:br>
              <a:rPr lang="hu-HU" sz="1800" dirty="0" smtClean="0"/>
            </a:br>
            <a:r>
              <a:rPr lang="hu-HU" sz="1800" dirty="0" smtClean="0">
                <a:hlinkClick r:id="rId3"/>
              </a:rPr>
              <a:t>http://xml.inf.elte.hu/~mathdid/</a:t>
            </a:r>
            <a:endParaRPr lang="hu-HU" sz="1800" dirty="0" smtClean="0"/>
          </a:p>
          <a:p>
            <a:r>
              <a:rPr lang="hu-HU" sz="1800" dirty="0" smtClean="0"/>
              <a:t>József Peller (2003). On the process of acquiring mathematical knowledge. Eötvös Publishing House – Budapest. </a:t>
            </a:r>
          </a:p>
          <a:p>
            <a:r>
              <a:rPr lang="hu-HU" sz="1800" dirty="0" smtClean="0"/>
              <a:t>Edited by Ferenc </a:t>
            </a:r>
            <a:r>
              <a:rPr lang="hu-HU" sz="1800" dirty="0" err="1" smtClean="0"/>
              <a:t>Pálhegyi </a:t>
            </a:r>
            <a:r>
              <a:rPr lang="hu-HU" sz="1800" dirty="0" smtClean="0"/>
              <a:t>(1980). Cognitive functions of the visually impaired. Tankönyv Publishing House, Budapest.</a:t>
            </a:r>
          </a:p>
          <a:p>
            <a:r>
              <a:rPr lang="hu-HU" sz="1800" dirty="0" err="1" smtClean="0"/>
              <a:t>R. Skemp</a:t>
            </a:r>
            <a:r>
              <a:rPr lang="hu-HU" sz="1800" dirty="0" smtClean="0"/>
              <a:t>: The Psychology of Mathematical Learning, Budapest, 1975. </a:t>
            </a:r>
          </a:p>
          <a:p>
            <a:r>
              <a:rPr lang="hu-HU" sz="1800" dirty="0" smtClean="0">
                <a:hlinkClick r:id="rId4"/>
              </a:rPr>
              <a:t>http://www.viewplus.eu</a:t>
            </a:r>
            <a:endParaRPr lang="hu-HU" sz="1800" dirty="0" smtClean="0"/>
          </a:p>
          <a:p>
            <a:r>
              <a:rPr lang="hu-HU" sz="1800" dirty="0" smtClean="0"/>
              <a:t>Éva Vásárhelyi (2003). Concept Formation and Representations.</a:t>
            </a:r>
            <a:r>
              <a:rPr lang="hu-HU" sz="1800" dirty="0" smtClean="0">
                <a:hlinkClick r:id="rId3"/>
              </a:rPr>
              <a:t> http://xml.inf.elte.hu/~mathdid/</a:t>
            </a:r>
            <a:endParaRPr lang="hu-HU" sz="1800" dirty="0" smtClean="0"/>
          </a:p>
        </p:txBody>
      </p:sp>
    </p:spTree>
  </p:cSld>
  <p:clrMapOvr>
    <a:masterClrMapping/>
  </p:clrMapOvr>
  <p:timing>
    <p:tnLst>
      <p:par>
        <p:cTn id="1" dur="indefinite" restart="never" nodeType="tmRoot"/>
      </p:par>
    </p:tnLst>
  </p:timing>
</p:sld>
</file>

<file path=ppt/slides/slide23.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Pr>
        <a:solidFill>
          <a:srgbClr val="F4F9F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F3296CD-A63C-4D4F-AAD6-347B6E792551}"/>
              </a:ext>
            </a:extLst>
          </p:cNvPr>
          <p:cNvSpPr txBox="1"/>
          <p:nvPr/>
        </p:nvSpPr>
        <p:spPr>
          <a:xfrm>
            <a:off x="289301" y="2779889"/>
            <a:ext cx="6222794" cy="461665"/>
          </a:xfrm>
          <a:prstGeom prst="rect">
            <a:avLst/>
          </a:prstGeom>
          <a:noFill/>
        </p:spPr>
        <p:txBody>
          <a:bodyPr wrap="none" rtlCol="0">
            <a:spAutoFit/>
          </a:bodyPr>
          <a:lstStyle/>
          <a:p>
            <a:r>
              <a:rPr lang="de-DE" sz="2400" noProof="1">
                <a:solidFill>
                  <a:srgbClr val="0F2B46"/>
                </a:solidFill>
                <a:latin typeface="Helvetica" pitchFamily="2" charset="0"/>
              </a:rPr>
              <a:t>Subscribe to DeepL Pro to edit this document.</a:t>
            </a:r>
          </a:p>
        </p:txBody>
      </p:sp>
      <p:sp>
        <p:nvSpPr>
          <p:cNvPr id="8" name="TextBox 7">
            <a:extLst>
              <a:ext uri="{FF2B5EF4-FFF2-40B4-BE49-F238E27FC236}">
                <a16:creationId xmlns:a16="http://schemas.microsoft.com/office/drawing/2014/main" id="{1DDA699B-AA79-2E42-83E3-ACBDD53F87D8}"/>
              </a:ext>
            </a:extLst>
          </p:cNvPr>
          <p:cNvSpPr txBox="1"/>
          <p:nvPr/>
        </p:nvSpPr>
        <p:spPr>
          <a:xfrm>
            <a:off x="289301" y="3241554"/>
            <a:ext cx="4887235" cy="369332"/>
          </a:xfrm>
          <a:prstGeom prst="rect">
            <a:avLst/>
          </a:prstGeom>
          <a:noFill/>
        </p:spPr>
        <p:txBody>
          <a:bodyPr wrap="none" rtlCol="0">
            <a:spAutoFit/>
          </a:bodyPr>
          <a:lstStyle/>
          <a:p>
            <a:r>
              <a:rPr lang="de-DE" noProof="1">
                <a:solidFill>
                  <a:srgbClr val="0F2B46"/>
                </a:solidFill>
                <a:latin typeface="Helvetica" pitchFamily="2" charset="0"/>
              </a:rPr>
              <a:t>Visit </a:t>
            </a:r>
            <a:r>
              <a:rPr lang="de-DE" noProof="1">
                <a:solidFill>
                  <a:srgbClr val="006494"/>
                </a:solidFill>
                <a:latin typeface="Helvetica" pitchFamily="2" charset="0"/>
                <a:hlinkClick r:id="R85fbcd7eed644901"/>
              </a:rPr>
              <a:t>www.DeepL.com/pro</a:t>
            </a:r>
            <a:r>
              <a:rPr lang="de-DE" noProof="1">
                <a:solidFill>
                  <a:srgbClr val="0F2B46"/>
                </a:solidFill>
                <a:latin typeface="Helvetica" pitchFamily="2" charset="0"/>
              </a:rPr>
              <a:t> for more information.</a:t>
            </a:r>
          </a:p>
        </p:txBody>
      </p:sp>
      <p:pic>
        <p:nvPicPr>
          <p:cNvPr id="3" name="Picture 2">
            <a:extLst>
              <a:ext uri="{FF2B5EF4-FFF2-40B4-BE49-F238E27FC236}">
                <a16:creationId xmlns:a16="http://schemas.microsoft.com/office/drawing/2014/main" id="{91465485-E747-EF46-84F2-5C5CB0F90C9B}"/>
              </a:ext>
            </a:extLst>
          </p:cNvPr>
          <p:cNvPicPr>
            <a:picLocks noChangeAspect="1"/>
          </p:cNvPicPr>
          <p:nvPr/>
        </p:nvPicPr>
        <p:blipFill>
          <a:blip r:embed="Rbf6ed1317f1d4154"/>
          <a:stretch>
            <a:fillRect/>
          </a:stretch>
        </p:blipFill>
        <p:spPr>
          <a:xfrm>
            <a:off x="400512" y="1215557"/>
            <a:ext cx="2616200" cy="889000"/>
          </a:xfrm>
          <a:prstGeom prst="rect">
            <a:avLst/>
          </a:prstGeom>
        </p:spPr>
      </p:pic>
    </p:spTree>
    <p:extLst>
      <p:ext uri="{BB962C8B-B14F-4D97-AF65-F5344CB8AC3E}">
        <p14:creationId xmlns:p14="http://schemas.microsoft.com/office/powerpoint/2010/main" val="14123645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ó">
  <a:themeElements>
    <a:clrScheme name="Egyéni 4.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352145"/>
      </a:hlink>
      <a:folHlink>
        <a:srgbClr val="8959AF"/>
      </a:folHlink>
    </a:clrScheme>
    <a:fontScheme name="Origó">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ó">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ó">
  <a:themeElements>
    <a:clrScheme name="Egyéni 5. séma">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5B3875"/>
      </a:hlink>
      <a:folHlink>
        <a:srgbClr val="7D8524"/>
      </a:folHlink>
    </a:clrScheme>
    <a:fontScheme name="Origó">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ó">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1659</TotalTime>
  <Words>852</Words>
  <Application>Microsoft Office PowerPoint</Application>
  <PresentationFormat>Diavetítés a képernyőre (4:3 oldalarány)</PresentationFormat>
  <Paragraphs>164</Paragraphs>
  <Slides>22</Slides>
  <Notes>7</Notes>
  <HiddenSlides>1</HiddenSlides>
  <MMClips>0</MMClips>
  <ScaleCrop>false</ScaleCrop>
  <HeadingPairs>
    <vt:vector size="4" baseType="variant">
      <vt:variant>
        <vt:lpstr>Téma</vt:lpstr>
      </vt:variant>
      <vt:variant>
        <vt:i4>2</vt:i4>
      </vt:variant>
      <vt:variant>
        <vt:lpstr>Diacímek</vt:lpstr>
      </vt:variant>
      <vt:variant>
        <vt:i4>22</vt:i4>
      </vt:variant>
    </vt:vector>
  </HeadingPairs>
  <TitlesOfParts>
    <vt:vector size="24" baseType="lpstr">
      <vt:lpstr>Origó</vt:lpstr>
      <vt:lpstr>1_Origó</vt:lpstr>
      <vt:lpstr>Hallható matematika szoftvercsomag bemutatása</vt:lpstr>
      <vt:lpstr>Röviden a tartalomból </vt:lpstr>
      <vt:lpstr>Fejlesztendő matematikai alapkompetenciák</vt:lpstr>
      <vt:lpstr>Hallható matematika, mint taneszköz</vt:lpstr>
      <vt:lpstr> Főbb fejlesztendő területek </vt:lpstr>
      <vt:lpstr>Matematikai alapkompetenciák </vt:lpstr>
      <vt:lpstr>Észlelés több érzékszerv integrációja alapján</vt:lpstr>
      <vt:lpstr>A perceptív (észlelési) változatosság  vagy többszörös konkretizálás elve   </vt:lpstr>
      <vt:lpstr>A spontán képszerveződés típusai a következők:</vt:lpstr>
      <vt:lpstr>A perceptuális csoportosítás</vt:lpstr>
      <vt:lpstr>Hallási lánc – matematikai struktúrák (1)  </vt:lpstr>
      <vt:lpstr>Hallási lánc – matematikai struktúrák (2)  </vt:lpstr>
      <vt:lpstr>Hallási lánc – matematikai struktúrák (3)  </vt:lpstr>
      <vt:lpstr>Taneszköz bemutatása</vt:lpstr>
      <vt:lpstr>A „Hallható matematika” szoftver csomag alkalmazási lehetőségei</vt:lpstr>
      <vt:lpstr>Számegyenes előkészítése</vt:lpstr>
      <vt:lpstr>A szám, mint darabszám</vt:lpstr>
      <vt:lpstr>A soralkotás</vt:lpstr>
      <vt:lpstr>A szám mint mértékegység</vt:lpstr>
      <vt:lpstr>Negatív számok előkészítése</vt:lpstr>
      <vt:lpstr>Audio-vizuális eszközök a matematika oktatásban </vt:lpstr>
      <vt:lpstr>Felhasznált irodalom </vt:lpstr>
    </vt:vector>
  </TitlesOfParts>
  <LinksUpToDate>false</LinksUpToDate>
  <SharedDoc>false</SharedDoc>
  <HyperlinksChanged>false</HyperlinksChanged>
  <AppVersion>12.0000</AppVersion>
</Properties>
</file>

<file path=docProps/core.xml><?xml version="1.0" encoding="utf-8"?>
<coreProperties xmlns:dc="http://purl.org/dc/elements/1.1/" xmlns:dcterms="http://purl.org/dc/terms/" xmlns:xsi="http://www.w3.org/2001/XMLSchema-instance" xmlns="http://schemas.openxmlformats.org/package/2006/metadata/core-properties">
  <dc:title>Hallható matematika – a XXI. sz.-i Descartes koordinátarendszere</dc:title>
  <dc:subject>Matematika oktatás jelene és jövője</dc:subject>
  <dc:creator>Szakácsné Nagy Szilvia</dc:creator>
  <keywords>függvény "hallható matematika", docId:FD21174733AC6197EA577F4F8E4514DA</keywords>
  <dc:description>Közzététel Közgé és a saját weboldalamon is</dc:description>
  <lastModifiedBy>TSF GFK</lastModifiedBy>
  <revision>353</revision>
  <dcterms:created xsi:type="dcterms:W3CDTF">2012-10-07T07:10:29.0000000Z</dcterms:created>
  <dcterms:modified xsi:type="dcterms:W3CDTF">2012-11-22T12:52:22.0000000Z</dcterms:modified>
  <category>előadás anyaga</category>
  <contentStatus>interneten közzétett végleges</contentStatus>
</coreProperties>
</file>